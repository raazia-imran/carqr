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8a94e7f9be34459" /><Relationship Type="http://schemas.openxmlformats.org/officeDocument/2006/relationships/extended-properties" Target="/docProps/app.xml" Id="R21373f9275b54909" /><Relationship Type="http://schemas.openxmlformats.org/officeDocument/2006/relationships/officeDocument" Target="/ppt/presentation.xml" Id="R3c9845169f97469e" /></Relationships>
</file>

<file path=ppt/presentation.xml><?xml version="1.0" encoding="utf-8"?>
<p:presentation xmlns:p="http://schemas.openxmlformats.org/presentationml/2006/main">
  <p:sldMasterIdLst>
    <p:sldMasterId xmlns:r="http://schemas.openxmlformats.org/officeDocument/2006/relationships" id="2147483648" r:id="R5b688386e2764d33"/>
  </p:sldMasterIdLst>
  <p:notesMasterIdLst>
    <p:notesMasterId xmlns:r="http://schemas.openxmlformats.org/officeDocument/2006/relationships" r:id="Ref649207f9e24350"/>
  </p:notesMasterIdLst>
  <p:sldIdLst>
    <p:sldId xmlns:r="http://schemas.openxmlformats.org/officeDocument/2006/relationships" id="256" r:id="R2b32fedf341f44e1"/>
    <p:sldId xmlns:r="http://schemas.openxmlformats.org/officeDocument/2006/relationships" id="257" r:id="R92f63047fb5f4a78"/>
    <p:sldId xmlns:r="http://schemas.openxmlformats.org/officeDocument/2006/relationships" id="258" r:id="Ra85e4f3068ea4d28"/>
    <p:sldId xmlns:r="http://schemas.openxmlformats.org/officeDocument/2006/relationships" id="259" r:id="Rcce9f352b8994592"/>
    <p:sldId xmlns:r="http://schemas.openxmlformats.org/officeDocument/2006/relationships" id="260" r:id="R39b630b6804644a5"/>
    <p:sldId xmlns:r="http://schemas.openxmlformats.org/officeDocument/2006/relationships" id="261" r:id="Rf39b126e59ee42ba"/>
    <p:sldId xmlns:r="http://schemas.openxmlformats.org/officeDocument/2006/relationships" id="262" r:id="R9e3a6560b75d45ec"/>
    <p:sldId xmlns:r="http://schemas.openxmlformats.org/officeDocument/2006/relationships" id="263" r:id="Rdb2b0ca7d51a4646"/>
    <p:sldId xmlns:r="http://schemas.openxmlformats.org/officeDocument/2006/relationships" id="264" r:id="R9fe4f65408e04c9a"/>
    <p:sldId xmlns:r="http://schemas.openxmlformats.org/officeDocument/2006/relationships" id="265" r:id="R19a74dda2d67489e"/>
    <p:sldId xmlns:r="http://schemas.openxmlformats.org/officeDocument/2006/relationships" id="266" r:id="R15862e9a8fb34f96"/>
    <p:sldId xmlns:r="http://schemas.openxmlformats.org/officeDocument/2006/relationships" id="267" r:id="R00a8351bda614979"/>
    <p:sldId xmlns:r="http://schemas.openxmlformats.org/officeDocument/2006/relationships" id="268" r:id="R52e9afe418824d2f"/>
    <p:sldId xmlns:r="http://schemas.openxmlformats.org/officeDocument/2006/relationships" id="269" r:id="R99072c5213084fd6"/>
    <p:sldId xmlns:r="http://schemas.openxmlformats.org/officeDocument/2006/relationships" id="270" r:id="R9e193ecf983143a9"/>
    <p:sldId xmlns:r="http://schemas.openxmlformats.org/officeDocument/2006/relationships" id="271" r:id="R358c4572f8714ae1"/>
    <p:sldId xmlns:r="http://schemas.openxmlformats.org/officeDocument/2006/relationships" id="272" r:id="R5d21b2d197284c84"/>
    <p:sldId xmlns:r="http://schemas.openxmlformats.org/officeDocument/2006/relationships" id="273" r:id="R7f570e4868d24dd9"/>
    <p:sldId xmlns:r="http://schemas.openxmlformats.org/officeDocument/2006/relationships" id="274" r:id="R805c9c8ebb74477e"/>
    <p:sldId xmlns:r="http://schemas.openxmlformats.org/officeDocument/2006/relationships" id="275" r:id="Rcc5d5853a64c4b8c"/>
    <p:sldId xmlns:r="http://schemas.openxmlformats.org/officeDocument/2006/relationships" id="276" r:id="R0a5f699f6222459b"/>
    <p:sldId xmlns:r="http://schemas.openxmlformats.org/officeDocument/2006/relationships" id="277" r:id="R8b3d7eec48dd4752"/>
    <p:sldId xmlns:r="http://schemas.openxmlformats.org/officeDocument/2006/relationships" id="278" r:id="R12e94c42151047ca"/>
    <p:sldId xmlns:r="http://schemas.openxmlformats.org/officeDocument/2006/relationships" id="279" r:id="R31e6bc30160e455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b563004390246ba" /><Relationship Type="http://schemas.openxmlformats.org/officeDocument/2006/relationships/slideMaster" Target="/ppt/slideMasters/slideMaster1.xml" Id="R5b688386e2764d33" /><Relationship Type="http://schemas.openxmlformats.org/officeDocument/2006/relationships/notesMaster" Target="/ppt/notesMasters/notesMaster1.xml" Id="Ref649207f9e24350" /><Relationship Type="http://schemas.openxmlformats.org/officeDocument/2006/relationships/presProps" Target="/ppt/presProps.xml" Id="R5a9e212c60894e2e" /><Relationship Type="http://schemas.openxmlformats.org/officeDocument/2006/relationships/tableStyles" Target="/ppt/tableStyles.xml" Id="Re9cd8d54b367451c" /><Relationship Type="http://schemas.openxmlformats.org/officeDocument/2006/relationships/slide" Target="/ppt/slides/slide1.xml" Id="R2b32fedf341f44e1" /><Relationship Type="http://schemas.openxmlformats.org/officeDocument/2006/relationships/slide" Target="/ppt/slides/slide2.xml" Id="R92f63047fb5f4a78" /><Relationship Type="http://schemas.openxmlformats.org/officeDocument/2006/relationships/slide" Target="/ppt/slides/slide3.xml" Id="Ra85e4f3068ea4d28" /><Relationship Type="http://schemas.openxmlformats.org/officeDocument/2006/relationships/slide" Target="/ppt/slides/slide4.xml" Id="Rcce9f352b8994592" /><Relationship Type="http://schemas.openxmlformats.org/officeDocument/2006/relationships/slide" Target="/ppt/slides/slide5.xml" Id="R39b630b6804644a5" /><Relationship Type="http://schemas.openxmlformats.org/officeDocument/2006/relationships/slide" Target="/ppt/slides/slide6.xml" Id="Rf39b126e59ee42ba" /><Relationship Type="http://schemas.openxmlformats.org/officeDocument/2006/relationships/slide" Target="/ppt/slides/slide7.xml" Id="R9e3a6560b75d45ec" /><Relationship Type="http://schemas.openxmlformats.org/officeDocument/2006/relationships/slide" Target="/ppt/slides/slide8.xml" Id="Rdb2b0ca7d51a4646" /><Relationship Type="http://schemas.openxmlformats.org/officeDocument/2006/relationships/slide" Target="/ppt/slides/slide9.xml" Id="R9fe4f65408e04c9a" /><Relationship Type="http://schemas.openxmlformats.org/officeDocument/2006/relationships/slide" Target="/ppt/slides/slide10.xml" Id="R19a74dda2d67489e" /><Relationship Type="http://schemas.openxmlformats.org/officeDocument/2006/relationships/slide" Target="/ppt/slides/slide11.xml" Id="R15862e9a8fb34f96" /><Relationship Type="http://schemas.openxmlformats.org/officeDocument/2006/relationships/slide" Target="/ppt/slides/slide12.xml" Id="R00a8351bda614979" /><Relationship Type="http://schemas.openxmlformats.org/officeDocument/2006/relationships/slide" Target="/ppt/slides/slide13.xml" Id="R52e9afe418824d2f" /><Relationship Type="http://schemas.openxmlformats.org/officeDocument/2006/relationships/slide" Target="/ppt/slides/slide14.xml" Id="R99072c5213084fd6" /><Relationship Type="http://schemas.openxmlformats.org/officeDocument/2006/relationships/slide" Target="/ppt/slides/slide15.xml" Id="R9e193ecf983143a9" /><Relationship Type="http://schemas.openxmlformats.org/officeDocument/2006/relationships/slide" Target="/ppt/slides/slide16.xml" Id="R358c4572f8714ae1" /><Relationship Type="http://schemas.openxmlformats.org/officeDocument/2006/relationships/slide" Target="/ppt/slides/slide17.xml" Id="R5d21b2d197284c84" /><Relationship Type="http://schemas.openxmlformats.org/officeDocument/2006/relationships/slide" Target="/ppt/slides/slide18.xml" Id="R7f570e4868d24dd9" /><Relationship Type="http://schemas.openxmlformats.org/officeDocument/2006/relationships/slide" Target="/ppt/slides/slide19.xml" Id="R805c9c8ebb74477e" /><Relationship Type="http://schemas.openxmlformats.org/officeDocument/2006/relationships/slide" Target="/ppt/slides/slide20.xml" Id="Rcc5d5853a64c4b8c" /><Relationship Type="http://schemas.openxmlformats.org/officeDocument/2006/relationships/slide" Target="/ppt/slides/slide21.xml" Id="R0a5f699f6222459b" /><Relationship Type="http://schemas.openxmlformats.org/officeDocument/2006/relationships/slide" Target="/ppt/slides/slide22.xml" Id="R8b3d7eec48dd4752" /><Relationship Type="http://schemas.openxmlformats.org/officeDocument/2006/relationships/slide" Target="/ppt/slides/slide23.xml" Id="R12e94c42151047ca" /><Relationship Type="http://schemas.openxmlformats.org/officeDocument/2006/relationships/slide" Target="/ppt/slides/slide24.xml" Id="R31e6bc30160e455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4735d6794414ac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b6d72fe3ce94d08" /><Relationship Type="http://schemas.openxmlformats.org/officeDocument/2006/relationships/notesMaster" Target="/ppt/notesMasters/notesMaster1.xml" Id="R8d324a82a7904f34" /></Relationships>
</file>

<file path=ppt/notesSlides/_rels/notesSlide2.xml.rels>&#65279;<?xml version="1.0" encoding="utf-8"?><Relationships xmlns="http://schemas.openxmlformats.org/package/2006/relationships"><Relationship Type="http://schemas.openxmlformats.org/officeDocument/2006/relationships/slide" Target="/ppt/slides/slide2.xml" Id="R307a0485384e40ae" /><Relationship Type="http://schemas.openxmlformats.org/officeDocument/2006/relationships/notesMaster" Target="/ppt/notesMasters/notesMaster1.xml" Id="R21d338b6d03c4f3c" /></Relationships>
</file>

<file path=ppt/notesSlides/_rels/notesSlide3.xml.rels>&#65279;<?xml version="1.0" encoding="utf-8"?><Relationships xmlns="http://schemas.openxmlformats.org/package/2006/relationships"><Relationship Type="http://schemas.openxmlformats.org/officeDocument/2006/relationships/slide" Target="/ppt/slides/slide3.xml" Id="R26f7d5e9aeb74821" /><Relationship Type="http://schemas.openxmlformats.org/officeDocument/2006/relationships/notesMaster" Target="/ppt/notesMasters/notesMaster1.xml" Id="R717917c772674618" /></Relationships>
</file>

<file path=ppt/notesSlides/_rels/notesSlide4.xml.rels>&#65279;<?xml version="1.0" encoding="utf-8"?><Relationships xmlns="http://schemas.openxmlformats.org/package/2006/relationships"><Relationship Type="http://schemas.openxmlformats.org/officeDocument/2006/relationships/slide" Target="/ppt/slides/slide4.xml" Id="Rf81c9c7b2dd943ab" /><Relationship Type="http://schemas.openxmlformats.org/officeDocument/2006/relationships/notesMaster" Target="/ppt/notesMasters/notesMaster1.xml" Id="Re54ce0247d9d4124" /></Relationships>
</file>

<file path=ppt/notesSlides/_rels/notesSlide5.xml.rels>&#65279;<?xml version="1.0" encoding="utf-8"?><Relationships xmlns="http://schemas.openxmlformats.org/package/2006/relationships"><Relationship Type="http://schemas.openxmlformats.org/officeDocument/2006/relationships/slide" Target="/ppt/slides/slide5.xml" Id="R27cc5e6a2cac4235" /><Relationship Type="http://schemas.openxmlformats.org/officeDocument/2006/relationships/notesMaster" Target="/ppt/notesMasters/notesMaster1.xml" Id="R2b1eda4b4dd64eb9" /></Relationships>
</file>

<file path=ppt/notesSlides/_rels/notesSlide6.xml.rels>&#65279;<?xml version="1.0" encoding="utf-8"?><Relationships xmlns="http://schemas.openxmlformats.org/package/2006/relationships"><Relationship Type="http://schemas.openxmlformats.org/officeDocument/2006/relationships/slide" Target="/ppt/slides/slide6.xml" Id="R3a15c9eebaa4489c" /><Relationship Type="http://schemas.openxmlformats.org/officeDocument/2006/relationships/notesMaster" Target="/ppt/notesMasters/notesMaster1.xml" Id="R7dd9f91c8cbc4d41" /></Relationships>
</file>

<file path=ppt/notesSlides/_rels/notesSlide7.xml.rels>&#65279;<?xml version="1.0" encoding="utf-8"?><Relationships xmlns="http://schemas.openxmlformats.org/package/2006/relationships"><Relationship Type="http://schemas.openxmlformats.org/officeDocument/2006/relationships/slide" Target="/ppt/slides/slide7.xml" Id="Rd931519ed8ed4b5f" /><Relationship Type="http://schemas.openxmlformats.org/officeDocument/2006/relationships/notesMaster" Target="/ppt/notesMasters/notesMaster1.xml" Id="Re5cea00b929b4b9f" /></Relationships>
</file>

<file path=ppt/notesSlides/_rels/notesSlide8.xml.rels>&#65279;<?xml version="1.0" encoding="utf-8"?><Relationships xmlns="http://schemas.openxmlformats.org/package/2006/relationships"><Relationship Type="http://schemas.openxmlformats.org/officeDocument/2006/relationships/slide" Target="/ppt/slides/slide8.xml" Id="R4e7a3897b8de418e" /><Relationship Type="http://schemas.openxmlformats.org/officeDocument/2006/relationships/notesMaster" Target="/ppt/notesMasters/notesMaster1.xml" Id="Redd8004f20014eb9" /></Relationships>
</file>

<file path=ppt/notesSlides/_rels/notesSlide9.xml.rels>&#65279;<?xml version="1.0" encoding="utf-8"?><Relationships xmlns="http://schemas.openxmlformats.org/package/2006/relationships"><Relationship Type="http://schemas.openxmlformats.org/officeDocument/2006/relationships/slide" Target="/ppt/slides/slide9.xml" Id="R0c81ad72ca884096" /><Relationship Type="http://schemas.openxmlformats.org/officeDocument/2006/relationships/notesMaster" Target="/ppt/notesMasters/notesMaster1.xml" Id="Re2dabed863d5409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69cd90e760648c9" /><Relationship Type="http://schemas.openxmlformats.org/officeDocument/2006/relationships/notesMaster" Target="/ppt/notesMasters/notesMaster1.xml" Id="R4596bef3be1c4e6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f1d56b64ee0475b" /><Relationship Type="http://schemas.openxmlformats.org/officeDocument/2006/relationships/notesMaster" Target="/ppt/notesMasters/notesMaster1.xml" Id="R7e2b47c12c79430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ab09cc249074f3f" /><Relationship Type="http://schemas.openxmlformats.org/officeDocument/2006/relationships/notesMaster" Target="/ppt/notesMasters/notesMaster1.xml" Id="Rae8150ad29b846c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4bc728bb2b4404f" /><Relationship Type="http://schemas.openxmlformats.org/officeDocument/2006/relationships/notesMaster" Target="/ppt/notesMasters/notesMaster1.xml" Id="Rde87443492be49b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c0df759022544a3" /><Relationship Type="http://schemas.openxmlformats.org/officeDocument/2006/relationships/notesMaster" Target="/ppt/notesMasters/notesMaster1.xml" Id="R2950a155b41440d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595516890b24262" /><Relationship Type="http://schemas.openxmlformats.org/officeDocument/2006/relationships/notesMaster" Target="/ppt/notesMasters/notesMaster1.xml" Id="Rf898d7ce70e649d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b54571173d04dca" /><Relationship Type="http://schemas.openxmlformats.org/officeDocument/2006/relationships/notesMaster" Target="/ppt/notesMasters/notesMaster1.xml" Id="R2406fa686f274c7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a70bed5d74a434d" /><Relationship Type="http://schemas.openxmlformats.org/officeDocument/2006/relationships/notesMaster" Target="/ppt/notesMasters/notesMaster1.xml" Id="Rebc586ade4da41a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daee0c8f9014098" /><Relationship Type="http://schemas.openxmlformats.org/officeDocument/2006/relationships/notesMaster" Target="/ppt/notesMasters/notesMaster1.xml" Id="Rddb5a733a5864af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52fe0661bc9471d" /><Relationship Type="http://schemas.openxmlformats.org/officeDocument/2006/relationships/notesMaster" Target="/ppt/notesMasters/notesMaster1.xml" Id="R39645a0a2bea434d"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b74e4f9bf574de4" /><Relationship Type="http://schemas.openxmlformats.org/officeDocument/2006/relationships/notesMaster" Target="/ppt/notesMasters/notesMaster1.xml" Id="R7d1e6c5855114f8b"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c3b4862bb2b445b" /><Relationship Type="http://schemas.openxmlformats.org/officeDocument/2006/relationships/notesMaster" Target="/ppt/notesMasters/notesMaster1.xml" Id="Rf279fafa455448f5"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688eaafadf0a47ef" /><Relationship Type="http://schemas.openxmlformats.org/officeDocument/2006/relationships/notesMaster" Target="/ppt/notesMasters/notesMaster1.xml" Id="R7cea5b51d4374d86"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b060a55bf575435f" /><Relationship Type="http://schemas.openxmlformats.org/officeDocument/2006/relationships/notesMaster" Target="/ppt/notesMasters/notesMaster1.xml" Id="R7f89c4fe2a124e72"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943a4d829e6f435e" /><Relationship Type="http://schemas.openxmlformats.org/officeDocument/2006/relationships/notesMaster" Target="/ppt/notesMasters/notesMaster1.xml" Id="R7bdace754f1f444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Working name only. CarQR is already a Pakistani competitor, so commercial brand clearance is an explicit launch task. This is a pre-development proposal with no claimed customers or live integrations.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a recognizable situation: a vehicle blocks an exit and the driver is away. A paper number helps contact but exposes the number to every passerby. Guard-mediated contact can take staff time. These are problem hypotheses to validate at the first site, not quantified national prevalence.</a:t>
            </a:r>
          </a:p>
          <a:p xmlns:a="http://schemas.openxmlformats.org/drawingml/2006/main">
            <a:r>
              <a:t/>
            </a:r>
          </a:p>
          <a:p xmlns:a="http://schemas.openxmlformats.org/drawingml/2006/main">
            <a:r>
              <a:t>Sources checked 15 October 2026:</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public QR carries a random URL token. Scanner sees minimal vehicle information and fixed contact reasons. The server holds verified destinations and calls providers. The platform and providers process numbers, even though peers do not see them. No notification occurs on scan alone.</a:t>
            </a:r>
          </a:p>
          <a:p xmlns:a="http://schemas.openxmlformats.org/drawingml/2006/main">
            <a:r>
              <a:t/>
            </a:r>
          </a:p>
          <a:p xmlns:a="http://schemas.openxmlformats.org/drawingml/2006/main">
            <a:r>
              <a:t>Sources checked 15 October 2026:</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a campus, office or residential building with an accessible decision-maker. Owners opt in, site management may pay, and scanners are occasional users. One site concentrates distribution and measurement. This is a proposed entry strategy, not exclusive positioning or a signed partnership.</a:t>
            </a:r>
          </a:p>
          <a:p xmlns:a="http://schemas.openxmlformats.org/drawingml/2006/main">
            <a:r>
              <a:t/>
            </a:r>
          </a:p>
          <a:p xmlns:a="http://schemas.openxmlformats.org/drawingml/2006/main">
            <a:r>
              <a:t>Sources checked 15 October 2026:</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self-published public offers, not audited products. Amanat lists PKR499 for one sticker and PKR99 delivery. TrackMate catalog lists PKR1499 car sticker. Qonnect indexed official content shows PKR1780, but SKU and live price require checking. CarQR and Nishaaan are relevant local offerings; price not verified. Do not infer market share, installations or reliable fulfilment. Detailed limitations in docs/01-market-and-competitors.md.</a:t>
            </a:r>
          </a:p>
          <a:p xmlns:a="http://schemas.openxmlformats.org/drawingml/2006/main">
            <a:r>
              <a:t/>
            </a:r>
          </a:p>
          <a:p xmlns:a="http://schemas.openxmlformats.org/drawingml/2006/main">
            <a:r>
              <a:t>Sources checked 15 October 2026:</a:t>
            </a:r>
          </a:p>
          <a:p xmlns:a="http://schemas.openxmlformats.org/drawingml/2006/main">
            <a:r>
              <a:t>https://www.amanat.app/parking-stickers</a:t>
            </a:r>
          </a:p>
          <a:p xmlns:a="http://schemas.openxmlformats.org/drawingml/2006/main">
            <a:r>
              <a:t>https://www.trackmate.pk/products</a:t>
            </a:r>
          </a:p>
          <a:p xmlns:a="http://schemas.openxmlformats.org/drawingml/2006/main">
            <a:r>
              <a:t>https://qonnect.pk/</a:t>
            </a:r>
          </a:p>
          <a:p xmlns:a="http://schemas.openxmlformats.org/drawingml/2006/main">
            <a:r>
              <a:t>https://carqr.pk/</a:t>
            </a:r>
          </a:p>
          <a:p xmlns:a="http://schemas.openxmlformats.org/drawingml/2006/main">
            <a:r>
              <a:t>https://nishaaan.com/vehicle-qr-tag-pakistan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QrMyCar describes private contact and society workflows. CarQRCode/Abtara advertises multi-channel contact and reminders. Neither public page establishes Pakistan availability. We do not repeat customer-count or durability claims. The business should validate service performance, not claim global novelty.</a:t>
            </a:r>
          </a:p>
          <a:p xmlns:a="http://schemas.openxmlformats.org/drawingml/2006/main">
            <a:r>
              <a:t/>
            </a:r>
          </a:p>
          <a:p xmlns:a="http://schemas.openxmlformats.org/drawingml/2006/main">
            <a:r>
              <a:t>Sources checked 15 October 2026:</a:t>
            </a:r>
          </a:p>
          <a:p xmlns:a="http://schemas.openxmlformats.org/drawingml/2006/main">
            <a:r>
              <a:t>https://www.qrmycar.in/how-it-works</a:t>
            </a:r>
          </a:p>
          <a:p xmlns:a="http://schemas.openxmlformats.org/drawingml/2006/main">
            <a:r>
              <a:t>https://www.carqrcode.com/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hypothesis, not a claim that competitors cannot do these things. The proposed package combines intentional contact, acknowledgement-based SMS escalation, restricted staff access, assisted installation and reporting. Competitor trials and pilot data must show whether this package creates value.</a:t>
            </a:r>
          </a:p>
          <a:p xmlns:a="http://schemas.openxmlformats.org/drawingml/2006/main">
            <a:r>
              <a:t/>
            </a:r>
          </a:p>
          <a:p xmlns:a="http://schemas.openxmlformats.org/drawingml/2006/main">
            <a:r>
              <a:t>Sources checked 15 October 2026:</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pilot timings are design defaults. At zero send WhatsApp after consent and validation. At90seconds without explicit acknowledgement send one permitted SMS stage. At180seconds notify one opted-in backup if configured. Missing WhatsApp receipts do not prove offline status. SMS needs cellular reachability. Phone off or no coverage defeats immediate contact. Late provider acceptance can race cancellation.</a:t>
            </a:r>
          </a:p>
          <a:p xmlns:a="http://schemas.openxmlformats.org/drawingml/2006/main">
            <a:r>
              <a:t/>
            </a:r>
          </a:p>
          <a:p xmlns:a="http://schemas.openxmlformats.org/drawingml/2006/main">
            <a:r>
              <a:t>Sources checked 15 October 2026:</a:t>
            </a:r>
          </a:p>
          <a:p xmlns:a="http://schemas.openxmlformats.org/drawingml/2006/main">
            <a:r>
              <a:t>https://jazz.com.pk/business/solutions/messaging-solutions/bulk-messages-and-notifications</a:t>
            </a:r>
          </a:p>
          <a:p xmlns:a="http://schemas.openxmlformats.org/drawingml/2006/main">
            <a:r>
              <a:t>https://developers.facebook.com/documentation/business-messaging/whatsapp/webhooks/overview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PhaseA commits to private messaging and SMS fallback. PhaseB local PSTN callbacks use approved business caller ID and two bridged legs. WhatsApp voice remains separate: it needs internet, eligibility and an approved topology. Twilio explicitly rejects connections between WhatsApp and PSTN endpoints. Do not promise an arbitrary personal-account relay.</a:t>
            </a:r>
          </a:p>
          <a:p xmlns:a="http://schemas.openxmlformats.org/drawingml/2006/main">
            <a:r>
              <a:t/>
            </a:r>
          </a:p>
          <a:p xmlns:a="http://schemas.openxmlformats.org/drawingml/2006/main">
            <a:r>
              <a:t>Sources checked 15 October 2026:</a:t>
            </a:r>
          </a:p>
          <a:p xmlns:a="http://schemas.openxmlformats.org/drawingml/2006/main">
            <a:r>
              <a:t>https://www.twilio.com/docs/voice/whatsapp-business-calling</a:t>
            </a:r>
          </a:p>
          <a:p xmlns:a="http://schemas.openxmlformats.org/drawingml/2006/main">
            <a:r>
              <a:t>https://nayatel.com/business/sip-trunk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Scanners need a short mobile web flow with no install. Owners get an installable web dashboard, staff/admin use the same codebase under distinct authorization. Native app comes later only if evidence justifies push, retention or fleet work. An installed PWA cannot send a new request without connectivity.</a:t>
            </a:r>
          </a:p>
          <a:p xmlns:a="http://schemas.openxmlformats.org/drawingml/2006/main">
            <a:r>
              <a:t/>
            </a:r>
          </a:p>
          <a:p xmlns:a="http://schemas.openxmlformats.org/drawingml/2006/main">
            <a:r>
              <a:t>Sources checked 15 October 2026:</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commercial models, not validated prices. Test annual owner plan, optional capped voice allowance and site-sponsored active-vehicle subscription. Keep sticker, service term and usage clear. Do not sell lifetime unlimited calling. Pilot billing can be manually reconciled; gateway integration is later.</a:t>
            </a:r>
          </a:p>
          <a:p xmlns:a="http://schemas.openxmlformats.org/drawingml/2006/main">
            <a:r>
              <a:t/>
            </a:r>
          </a:p>
          <a:p xmlns:a="http://schemas.openxmlformats.org/drawingml/2006/main">
            <a:r>
              <a:t>Sources checked 15 October 2026:</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selling price999, printing120, delivery180, payment30, acquisition150, support80 and communications42. Communications assumes12 alerts at WhatsApp3 plus25% SMS fallback at2. Variable cost602, contribution397 before fixed costs, tax and labor. This does not establish recurring break-even. See tools/economics.py. No voice allowance included.</a:t>
            </a:r>
          </a:p>
          <a:p xmlns:a="http://schemas.openxmlformats.org/drawingml/2006/main">
            <a:r>
              <a:t/>
            </a:r>
          </a:p>
          <a:p xmlns:a="http://schemas.openxmlformats.org/drawingml/2006/main">
            <a:r>
              <a:t>Sources checked 15 October 2026:</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Scenario only:10accessible sites times200vehicles times50%activation equals1000active tags. At hypothetical80PKR per active tag per month, gross recurring revenue would be80000PKR before costs. There are no signed sites. Validate site size, conversion, buyer budget, retention and channel economics.</a:t>
            </a:r>
          </a:p>
          <a:p xmlns:a="http://schemas.openxmlformats.org/drawingml/2006/main">
            <a:r>
              <a:t/>
            </a:r>
          </a:p>
          <a:p xmlns:a="http://schemas.openxmlformats.org/drawingml/2006/main">
            <a:r>
              <a:t>Sources checked 15 October 2026:</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Two weeks produces a demo with clearly marked mocks if provider access is delayed. Four weeks targets an approved PhaseA controlled pilot. Eight weeks targets hardening and conditional local voice. Dates assume start16October2026: demo29October, PhaseA12November, week8 10December. Product/QA adds5to8hours weekly. Provider approval can move dates.</a:t>
            </a:r>
          </a:p>
          <a:p xmlns:a="http://schemas.openxmlformats.org/drawingml/2006/main">
            <a:r>
              <a:t/>
            </a:r>
          </a:p>
          <a:p xmlns:a="http://schemas.openxmlformats.org/drawingml/2006/main">
            <a:r>
              <a:t>Sources checked 15 October 2026:</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target50to100owners at1to2sites. Target activation70% and80% eligible controlled incidents acknowledged within3minutes. Need zero public phone leaks in defined tests, feasible per-incident cost and paid-continuation discussion with2site decision-makers. Use at least30evaluable incidents as an operational learning aim, not statistical proof. Separate drills from live incidents.</a:t>
            </a:r>
          </a:p>
          <a:p xmlns:a="http://schemas.openxmlformats.org/drawingml/2006/main">
            <a:r>
              <a:t/>
            </a:r>
          </a:p>
          <a:p xmlns:a="http://schemas.openxmlformats.org/drawingml/2006/main">
            <a:r>
              <a:t>Sources checked 15 October 2026:</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Provider approval and cost, privacy/harassment, low willingness to pay and founder availability are the largest uncertainties. Use consented trials, budgets, kill switches and a small pilot. Do not remove gates to claim a launch date. Distinct brand needed because CarQR already operates locally.</a:t>
            </a:r>
          </a:p>
          <a:p xmlns:a="http://schemas.openxmlformats.org/drawingml/2006/main">
            <a:r>
              <a:t/>
            </a:r>
          </a:p>
          <a:p xmlns:a="http://schemas.openxmlformats.org/drawingml/2006/main">
            <a:r>
              <a:t>Sources checked 15 October 2026:</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a campus, office or building for a sponsor and50to100consenting owners. Ask the team to commit two developer roles and product/QA time. Proposed PhaseA two-month cash envelope42000to114000PKR includes20%contingency and excludes salaries, legal/tax fees and B deposits. These are assumptions, not a funding valuation or vendor quote. First milestone is a real private alert and SMS fallback on team-owned phones.</a:t>
            </a:r>
          </a:p>
          <a:p xmlns:a="http://schemas.openxmlformats.org/drawingml/2006/main">
            <a:r>
              <a:t/>
            </a:r>
          </a:p>
          <a:p xmlns:a="http://schemas.openxmlformats.org/drawingml/2006/main">
            <a:r>
              <a:t>Sources checked 15 October 2026:</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contact needs separate consent. Site staff are tenant-scoped and cannot browse private numbers. Platform support uses masked fields and audited sensitive access. Scanner gets an incident-bound session, not owner access. This role model supports the30screen inventory in PRD.</a:t>
            </a:r>
          </a:p>
          <a:p xmlns:a="http://schemas.openxmlformats.org/drawingml/2006/main">
            <a:r>
              <a:t/>
            </a:r>
          </a:p>
          <a:p xmlns:a="http://schemas.openxmlformats.org/drawingml/2006/main">
            <a:r>
              <a:t>Sources checked 15 October 2026:</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Editable diagram of proposed architecture. Public scanners and authenticated portals enter separate API boundaries. Domain services transact to PostgreSQL and outbox. Worker dispatches through adapters; authenticated provider webhooks return receipts. Redis queue is scheduling infrastructure, database remains source of truth. No production infrastructure exists yet.</a:t>
            </a:r>
          </a:p>
          <a:p xmlns:a="http://schemas.openxmlformats.org/drawingml/2006/main">
            <a:r>
              <a:t/>
            </a:r>
          </a:p>
          <a:p xmlns:a="http://schemas.openxmlformats.org/drawingml/2006/main">
            <a:r>
              <a:t>Sources checked 15 October 2026:</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choices, current versions to pin at kickoff. Next.js for one responsive codebase and server endpoints, TypeScript domain, PostgreSQL/Prisma, Redis/BullMQ worker, official Meta/BSP and contracted SMS. Managed carrier API preferred for B if approved. No Kubernetes or native app needed for first pilot.</a:t>
            </a:r>
          </a:p>
          <a:p xmlns:a="http://schemas.openxmlformats.org/drawingml/2006/main">
            <a:r>
              <a:t/>
            </a:r>
          </a:p>
          <a:p xmlns:a="http://schemas.openxmlformats.org/drawingml/2006/main">
            <a:r>
              <a:t>Sources checked 15 October 2026:</a:t>
            </a:r>
          </a:p>
          <a:p xmlns:a="http://schemas.openxmlformats.org/drawingml/2006/main">
            <a:r>
              <a:t>https://nextjs.org/docs/app/guides/self-hosting</a:t>
            </a:r>
          </a:p>
          <a:p xmlns:a="http://schemas.openxmlformats.org/drawingml/2006/main">
            <a:r>
              <a:t>https://docs.bullmq.io/patterns/idempotent-jobs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Scanner web needs internet to create request. Owner WhatsApp needs internet; cellular SMS and local calls can work without mobile data but need cellular service and an available handset. Browser/WhatsApp audio cannot solve total disconnection. Future printed business helpline plus tag code requires an actual approved service, not just printing digits.</a:t>
            </a:r>
          </a:p>
          <a:p xmlns:a="http://schemas.openxmlformats.org/drawingml/2006/main">
            <a:r>
              <a:t/>
            </a:r>
          </a:p>
          <a:p xmlns:a="http://schemas.openxmlformats.org/drawingml/2006/main">
            <a:r>
              <a:t>Sources checked 15 October 2026:</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Public token is at least128random bits with private lookup. Claim secret is distinct and sealed. Contacts encrypted, public DTO allowlist, tenant checks, signed webhook, rate/cost caps and admin MFA. The service and providers necessarily process numbers. No third-party production privacy audit has yet happened.</a:t>
            </a:r>
          </a:p>
          <a:p xmlns:a="http://schemas.openxmlformats.org/drawingml/2006/main">
            <a:r>
              <a:t/>
            </a:r>
          </a:p>
          <a:p xmlns:a="http://schemas.openxmlformats.org/drawingml/2006/main">
            <a:r>
              <a:t>Sources checked 15 October 2026:</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Print samples after final brand/domain. Use independent hidden activation secret and random public token. Test material, quiet zone, contrast, glass, glare and older cameras before bulk order. Proposed70x50mm sticker and30to35mm QR are prototype dimensions, not validated specifications. Optional scanner location needs permission and can be inaccurate/spoofed. OSM public tiles have usage rules.</a:t>
            </a:r>
          </a:p>
          <a:p xmlns:a="http://schemas.openxmlformats.org/drawingml/2006/main">
            <a:r>
              <a:t/>
            </a:r>
          </a:p>
          <a:p xmlns:a="http://schemas.openxmlformats.org/drawingml/2006/main">
            <a:r>
              <a:t>Sources checked 15 October 2026:</a:t>
            </a:r>
          </a:p>
          <a:p xmlns:a="http://schemas.openxmlformats.org/drawingml/2006/main">
            <a:r>
              <a:t>https://operations.osmfoundation.org/policies/tiles/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Full planned36scenario acceptance catalog is in docs/08-acceptance-and-launch.md. PhaseA gates cover real provider permissions, zero public PII leaks in defined tests, auth/tenant controls, escalation/restarts, print QA, backup restore, support and cost cap. PhaseB additionally requires written carrier use/CLI approval and multi-network masking/toll-fraud tests. All implementation tasks remain TODO.</a:t>
            </a:r>
          </a:p>
          <a:p xmlns:a="http://schemas.openxmlformats.org/drawingml/2006/main">
            <a:r>
              <a:t/>
            </a:r>
          </a:p>
          <a:p xmlns:a="http://schemas.openxmlformats.org/drawingml/2006/main">
            <a:r>
              <a:t>Sources checked 15 October 2026:</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49a8e9cd936488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a8b38312cea447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60e5de2d6ca47c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78694e1ba11465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e88eb55f24549f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cec6e2f03e24f3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FE62E4C-AB51-4B97-AB3A-DF78E063530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17B3BDD-E010-4CD4-92DE-ECDE4264C94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78CD541-DBEE-474E-8D2F-6D757417651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5CD6813-0BD2-4AF0-8A91-1F34C4F6CD1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8211180-C232-4392-BE05-6BB8A58BA74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47D568A-D128-41D4-93A4-BA1FC55A225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E2C4986-AA4A-462D-A889-1184EB1F088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A71835D-9C74-45D4-9B10-5AFA57E68EE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23055FE-8AB7-4FF7-8496-F3D5A86E7F8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6A11AB1-04BF-40F1-AD1A-BE60F07565E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be6b1a8aef64161" /><Relationship Type="http://schemas.openxmlformats.org/officeDocument/2006/relationships/slideLayout" Target="/ppt/slideLayouts/slideLayout1.xml" Id="Rc49675184558496f" /><Relationship Type="http://schemas.openxmlformats.org/officeDocument/2006/relationships/slideLayout" Target="/ppt/slideLayouts/slideLayout2.xml" Id="Rc715932194ae42d5" /><Relationship Type="http://schemas.openxmlformats.org/officeDocument/2006/relationships/slideLayout" Target="/ppt/slideLayouts/slideLayout3.xml" Id="R9171a0a1dae2440e" /><Relationship Type="http://schemas.openxmlformats.org/officeDocument/2006/relationships/slideLayout" Target="/ppt/slideLayouts/slideLayout4.xml" Id="R4bbf6969c0e94ea2" /><Relationship Type="http://schemas.openxmlformats.org/officeDocument/2006/relationships/slideLayout" Target="/ppt/slideLayouts/slideLayout5.xml" Id="Reaa5ea70488f46f7" /><Relationship Type="http://schemas.openxmlformats.org/officeDocument/2006/relationships/slideLayout" Target="/ppt/slideLayouts/slideLayout6.xml" Id="Rf1b62c84c9b5448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49675184558496f"/>
    <p:sldLayoutId xmlns:r="http://schemas.openxmlformats.org/officeDocument/2006/relationships" id="2147483650" r:id="Rc715932194ae42d5"/>
    <p:sldLayoutId xmlns:r="http://schemas.openxmlformats.org/officeDocument/2006/relationships" id="2147483651" r:id="R9171a0a1dae2440e"/>
    <p:sldLayoutId xmlns:r="http://schemas.openxmlformats.org/officeDocument/2006/relationships" id="2147483652" r:id="R4bbf6969c0e94ea2"/>
    <p:sldLayoutId xmlns:r="http://schemas.openxmlformats.org/officeDocument/2006/relationships" id="2147483653" r:id="Reaa5ea70488f46f7"/>
    <p:sldLayoutId xmlns:r="http://schemas.openxmlformats.org/officeDocument/2006/relationships" id="2147483654" r:id="Rf1b62c84c9b5448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8c3b4aa3de14e7e" /><Relationship Type="http://schemas.openxmlformats.org/officeDocument/2006/relationships/notesSlide" Target="/ppt/notesSlides/notesSlide1.xml" Id="R38e339dc69a442c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b0e4d6d2a904446" /><Relationship Type="http://schemas.openxmlformats.org/officeDocument/2006/relationships/notesSlide" Target="/ppt/notesSlides/notesSlide2.xml" Id="R20fea1f49032496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bf1fe1128184561" /><Relationship Type="http://schemas.openxmlformats.org/officeDocument/2006/relationships/notesSlide" Target="/ppt/notesSlides/notesSlide3.xml" Id="Ra6be8d50b3f64ab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61dd9da40bf4f81" /><Relationship Type="http://schemas.openxmlformats.org/officeDocument/2006/relationships/notesSlide" Target="/ppt/notesSlides/notesSlide4.xml" Id="Re22f244feacb4c4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7def6a07d9e4439" /><Relationship Type="http://schemas.openxmlformats.org/officeDocument/2006/relationships/notesSlide" Target="/ppt/notesSlides/notesSlide5.xml" Id="Rfbf0718a7a4e415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57a2bc62e5f4e1b" /><Relationship Type="http://schemas.openxmlformats.org/officeDocument/2006/relationships/notesSlide" Target="/ppt/notesSlides/notesSlide6.xml" Id="Redac41b625d541a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83f4ca320904d69" /><Relationship Type="http://schemas.openxmlformats.org/officeDocument/2006/relationships/notesSlide" Target="/ppt/notesSlides/notesSlide7.xml" Id="R1920f0f4b06b4b0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e94e54f123b49f3" /><Relationship Type="http://schemas.openxmlformats.org/officeDocument/2006/relationships/notesSlide" Target="/ppt/notesSlides/notesSlide8.xml" Id="R8b4186721c1c44a6"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a2a60d68f57405c" /><Relationship Type="http://schemas.openxmlformats.org/officeDocument/2006/relationships/notesSlide" Target="/ppt/notesSlides/notesSlide9.xml" Id="R608b5ba722524b4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7fdc474a3e943eb" /><Relationship Type="http://schemas.openxmlformats.org/officeDocument/2006/relationships/notesSlide" Target="/ppt/notesSlides/notesSlide10.xml" Id="R808e6ba28a004d3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339fca1cc6644fc" /><Relationship Type="http://schemas.openxmlformats.org/officeDocument/2006/relationships/notesSlide" Target="/ppt/notesSlides/notesSlide11.xml" Id="R27ff59932dec4da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8ef8bbc710c6465d" /><Relationship Type="http://schemas.openxmlformats.org/officeDocument/2006/relationships/notesSlide" Target="/ppt/notesSlides/notesSlide12.xml" Id="R20973f07ad9b4a1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313cab636bae42b7" /><Relationship Type="http://schemas.openxmlformats.org/officeDocument/2006/relationships/notesSlide" Target="/ppt/notesSlides/notesSlide13.xml" Id="R3ef81ca2bdc1440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cb3f949b76434038" /><Relationship Type="http://schemas.openxmlformats.org/officeDocument/2006/relationships/notesSlide" Target="/ppt/notesSlides/notesSlide14.xml" Id="R0d6ab783c1ed4c3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862b6ee44e7d440a" /><Relationship Type="http://schemas.openxmlformats.org/officeDocument/2006/relationships/notesSlide" Target="/ppt/notesSlides/notesSlide15.xml" Id="Rc424aa993cb44dd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f6f2fe2e95014248" /><Relationship Type="http://schemas.openxmlformats.org/officeDocument/2006/relationships/notesSlide" Target="/ppt/notesSlides/notesSlide16.xml" Id="Ra55b77379c2341d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2dd97c18f8a6402d" /><Relationship Type="http://schemas.openxmlformats.org/officeDocument/2006/relationships/notesSlide" Target="/ppt/notesSlides/notesSlide17.xml" Id="Rb42517131a0c44e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eb37761ec1a1460f" /><Relationship Type="http://schemas.openxmlformats.org/officeDocument/2006/relationships/notesSlide" Target="/ppt/notesSlides/notesSlide18.xml" Id="R2a1b9ec161744c6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466fa97c831e46ca" /><Relationship Type="http://schemas.openxmlformats.org/officeDocument/2006/relationships/notesSlide" Target="/ppt/notesSlides/notesSlide19.xml" Id="Rc3b7f33ab005458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9e88852777464110" /><Relationship Type="http://schemas.openxmlformats.org/officeDocument/2006/relationships/notesSlide" Target="/ppt/notesSlides/notesSlide20.xml" Id="R550cdb99f404410b"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771976e8ecee4fac" /><Relationship Type="http://schemas.openxmlformats.org/officeDocument/2006/relationships/notesSlide" Target="/ppt/notesSlides/notesSlide21.xml" Id="R5a4f274b4fda4ae3"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ef9e0e667d3942cc" /><Relationship Type="http://schemas.openxmlformats.org/officeDocument/2006/relationships/notesSlide" Target="/ppt/notesSlides/notesSlide22.xml" Id="R46590c1171ae4b08"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6143e54e94014907" /><Relationship Type="http://schemas.openxmlformats.org/officeDocument/2006/relationships/notesSlide" Target="/ppt/notesSlides/notesSlide23.xml" Id="R2af6fbc207ef4fcf"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72048bfe672e4c46" /><Relationship Type="http://schemas.openxmlformats.org/officeDocument/2006/relationships/notesSlide" Target="/ppt/notesSlides/notesSlide24.xml" Id="Rb1087af1e63f4147" /></Relationships>
</file>

<file path=ppt/slides/slide1.xml><?xml version="1.0" encoding="utf-8"?>
<p:sld xmlns:p="http://schemas.openxmlformats.org/presentationml/2006/main">
  <p:cSld>
    <p:bg>
      <p:bgPr>
        <a:solidFill xmlns:a="http://schemas.openxmlformats.org/drawingml/2006/main">
          <a:srgbClr val="112D32"/>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B95AC8BB-E9C3-4AF8-844E-AE4943EA3D0B}"/>
              </a:ext>
            </a:extLst>
          </p:cNvPr>
          <p:cNvSpPr>
            <a:spLocks xmlns:a="http://schemas.openxmlformats.org/drawingml/2006/main" noGrp="1"/>
          </p:cNvSpPr>
          <p:nvPr/>
        </p:nvSpPr>
        <p:spPr>
          <a:xfrm xmlns:a="http://schemas.openxmlformats.org/drawingml/2006/main">
            <a:off x="685800" y="1095375"/>
            <a:ext cx="10477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8700" b="1">
                <a:solidFill>
                  <a:srgbClr val="F5F2E9"/>
                </a:solidFill>
                <a:latin typeface="DejaVu Sans"/>
                <a:ea typeface="DejaVu Sans"/>
                <a:cs typeface="DejaVu Sans"/>
              </a:defRPr>
            </a:defPPr>
          </a:lstStyle>
          <a:p xmlns:a="http://schemas.openxmlformats.org/drawingml/2006/main">
            <a:pPr>
              <a:defRPr sz="8700" b="1">
                <a:solidFill>
                  <a:srgbClr val="F5F2E9"/>
                </a:solidFill>
                <a:latin typeface="DejaVu Sans"/>
                <a:ea typeface="DejaVu Sans"/>
                <a:cs typeface="DejaVu Sans"/>
              </a:defRPr>
            </a:pPr>
            <a:r>
              <a:rPr sz="8700" b="1">
                <a:solidFill>
                  <a:srgbClr val="F5F2E9"/>
                </a:solidFill>
                <a:latin typeface="DejaVu Sans"/>
                <a:ea typeface="DejaVu Sans"/>
                <a:cs typeface="DejaVu Sans"/>
              </a:rPr>
              <a:t>QR CAR</a:t>
            </a:r>
          </a:p>
        </p:txBody>
      </p:sp>
      <p:sp>
        <p:nvSpPr>
          <p:cNvPr id="2" name="text-1">
            <a:extLst xmlns:a="http://schemas.openxmlformats.org/drawingml/2006/main">
              <a:ext uri="{FF2B5EF4-FFF2-40B4-BE49-F238E27FC236}">
                <a16:creationId xmlns:a16="http://schemas.microsoft.com/office/drawing/2014/main" id="{DDBAE283-D5A2-4751-99AB-04D16CCF0F46}"/>
              </a:ext>
            </a:extLst>
          </p:cNvPr>
          <p:cNvSpPr>
            <a:spLocks xmlns:a="http://schemas.openxmlformats.org/drawingml/2006/main" noGrp="1"/>
          </p:cNvSpPr>
          <p:nvPr/>
        </p:nvSpPr>
        <p:spPr>
          <a:xfrm xmlns:a="http://schemas.openxmlformats.org/drawingml/2006/main">
            <a:off x="742950" y="2952750"/>
            <a:ext cx="10477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225" b="0">
                <a:solidFill>
                  <a:srgbClr val="B9F3D4"/>
                </a:solidFill>
                <a:latin typeface="DejaVu Sans"/>
                <a:ea typeface="DejaVu Sans"/>
                <a:cs typeface="DejaVu Sans"/>
              </a:defRPr>
            </a:defPPr>
          </a:lstStyle>
          <a:p xmlns:a="http://schemas.openxmlformats.org/drawingml/2006/main">
            <a:pPr>
              <a:defRPr sz="3225" b="0">
                <a:solidFill>
                  <a:srgbClr val="B9F3D4"/>
                </a:solidFill>
                <a:latin typeface="DejaVu Sans"/>
                <a:ea typeface="DejaVu Sans"/>
                <a:cs typeface="DejaVu Sans"/>
              </a:defRPr>
            </a:pPr>
            <a:r>
              <a:rPr sz="3225" b="0">
                <a:solidFill>
                  <a:srgbClr val="B9F3D4"/>
                </a:solidFill>
                <a:latin typeface="DejaVu Sans"/>
                <a:ea typeface="DejaVu Sans"/>
                <a:cs typeface="DejaVu Sans"/>
              </a:rPr>
              <a:t>Private contact for parked vehicles</a:t>
            </a:r>
          </a:p>
        </p:txBody>
      </p:sp>
      <p:sp>
        <p:nvSpPr>
          <p:cNvPr id="3" name="text-2">
            <a:extLst xmlns:a="http://schemas.openxmlformats.org/drawingml/2006/main">
              <a:ext uri="{FF2B5EF4-FFF2-40B4-BE49-F238E27FC236}">
                <a16:creationId xmlns:a16="http://schemas.microsoft.com/office/drawing/2014/main" id="{9C286D54-8F33-4773-8324-F0E1A765ADAB}"/>
              </a:ext>
            </a:extLst>
          </p:cNvPr>
          <p:cNvSpPr>
            <a:spLocks xmlns:a="http://schemas.openxmlformats.org/drawingml/2006/main" noGrp="1"/>
          </p:cNvSpPr>
          <p:nvPr/>
        </p:nvSpPr>
        <p:spPr>
          <a:xfrm xmlns:a="http://schemas.openxmlformats.org/drawingml/2006/main">
            <a:off x="762000" y="4362450"/>
            <a:ext cx="9525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0">
                <a:solidFill>
                  <a:srgbClr val="F5F2E9"/>
                </a:solidFill>
                <a:latin typeface="DejaVu Sans"/>
                <a:ea typeface="DejaVu Sans"/>
                <a:cs typeface="DejaVu Sans"/>
              </a:defRPr>
            </a:defPPr>
          </a:lstStyle>
          <a:p xmlns:a="http://schemas.openxmlformats.org/drawingml/2006/main">
            <a:pPr>
              <a:defRPr sz="2175" b="0">
                <a:solidFill>
                  <a:srgbClr val="F5F2E9"/>
                </a:solidFill>
                <a:latin typeface="DejaVu Sans"/>
                <a:ea typeface="DejaVu Sans"/>
                <a:cs typeface="DejaVu Sans"/>
              </a:defRPr>
            </a:pPr>
            <a:r>
              <a:rPr sz="2175" b="0">
                <a:solidFill>
                  <a:srgbClr val="F5F2E9"/>
                </a:solidFill>
                <a:latin typeface="DejaVu Sans"/>
                <a:ea typeface="DejaVu Sans"/>
                <a:cs typeface="DejaVu Sans"/>
              </a:rPr>
              <a:t>Pakistan pilot proposal</a:t>
            </a:r>
          </a:p>
        </p:txBody>
      </p:sp>
      <p:sp>
        <p:nvSpPr>
          <p:cNvPr id="4" name="text-3">
            <a:extLst xmlns:a="http://schemas.openxmlformats.org/drawingml/2006/main">
              <a:ext uri="{FF2B5EF4-FFF2-40B4-BE49-F238E27FC236}">
                <a16:creationId xmlns:a16="http://schemas.microsoft.com/office/drawing/2014/main" id="{C00F59CF-9DAC-4B1B-921A-62BA34559BEB}"/>
              </a:ext>
            </a:extLst>
          </p:cNvPr>
          <p:cNvSpPr>
            <a:spLocks xmlns:a="http://schemas.openxmlformats.org/drawingml/2006/main" noGrp="1"/>
          </p:cNvSpPr>
          <p:nvPr/>
        </p:nvSpPr>
        <p:spPr>
          <a:xfrm xmlns:a="http://schemas.openxmlformats.org/drawingml/2006/main">
            <a:off x="762000" y="5476875"/>
            <a:ext cx="9525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B6C7C0"/>
                </a:solidFill>
                <a:latin typeface="DejaVu Sans"/>
                <a:ea typeface="DejaVu Sans"/>
                <a:cs typeface="DejaVu Sans"/>
              </a:defRPr>
            </a:defPPr>
          </a:lstStyle>
          <a:p xmlns:a="http://schemas.openxmlformats.org/drawingml/2006/main">
            <a:pPr>
              <a:defRPr sz="1650" b="0">
                <a:solidFill>
                  <a:srgbClr val="B6C7C0"/>
                </a:solidFill>
                <a:latin typeface="DejaVu Sans"/>
                <a:ea typeface="DejaVu Sans"/>
                <a:cs typeface="DejaVu Sans"/>
              </a:defRPr>
            </a:pPr>
            <a:r>
              <a:rPr sz="1650" b="0">
                <a:solidFill>
                  <a:srgbClr val="B6C7C0"/>
                </a:solidFill>
                <a:latin typeface="DejaVu Sans"/>
                <a:ea typeface="DejaVu Sans"/>
                <a:cs typeface="DejaVu Sans"/>
              </a:rPr>
              <a:t>Raazia Imran Reshamwala</a:t>
            </a:r>
          </a:p>
          <a:p xmlns:a="http://schemas.openxmlformats.org/drawingml/2006/main">
            <a:pPr>
              <a:defRPr sz="1650" b="0">
                <a:solidFill>
                  <a:srgbClr val="B6C7C0"/>
                </a:solidFill>
                <a:latin typeface="DejaVu Sans"/>
                <a:ea typeface="DejaVu Sans"/>
                <a:cs typeface="DejaVu Sans"/>
              </a:defRPr>
            </a:pPr>
            <a:r>
              <a:rPr sz="1650" b="0">
                <a:solidFill>
                  <a:srgbClr val="B6C7C0"/>
                </a:solidFill>
                <a:latin typeface="DejaVu Sans"/>
                <a:ea typeface="DejaVu Sans"/>
                <a:cs typeface="DejaVu Sans"/>
              </a:rPr>
              <a:t>Pre-development · October 2026</a:t>
            </a:r>
          </a:p>
        </p:txBody>
      </p:sp>
    </p:spTree>
    <p:extLst>
      <p:ext uri="{BB962C8B-B14F-4D97-AF65-F5344CB8AC3E}">
        <p14:creationId xmlns:p14="http://schemas.microsoft.com/office/powerpoint/2010/main" val="358749333"/>
      </p:ext>
    </p:extLst>
  </p:cSld>
</p:sld>
</file>

<file path=ppt/slides/slide2.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ECD98D74-D041-4898-89FF-77D558F54BCD}"/>
              </a:ext>
            </a:extLst>
          </p:cNvPr>
          <p:cNvSpPr>
            <a:spLocks xmlns:a="http://schemas.openxmlformats.org/drawingml/2006/main" noGrp="1"/>
          </p:cNvSpPr>
          <p:nvPr/>
        </p:nvSpPr>
        <p:spPr>
          <a:xfrm xmlns:a="http://schemas.openxmlformats.org/drawingml/2006/main">
            <a:off x="685800" y="581025"/>
            <a:ext cx="108204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600" b="1">
                <a:solidFill>
                  <a:srgbClr val="112D32"/>
                </a:solidFill>
                <a:latin typeface="DejaVu Sans"/>
                <a:ea typeface="DejaVu Sans"/>
                <a:cs typeface="DejaVu Sans"/>
              </a:defRPr>
            </a:defPPr>
          </a:lstStyle>
          <a:p xmlns:a="http://schemas.openxmlformats.org/drawingml/2006/main">
            <a:pPr>
              <a:defRPr sz="3600" b="1">
                <a:solidFill>
                  <a:srgbClr val="112D32"/>
                </a:solidFill>
                <a:latin typeface="DejaVu Sans"/>
                <a:ea typeface="DejaVu Sans"/>
                <a:cs typeface="DejaVu Sans"/>
              </a:defRPr>
            </a:pPr>
            <a:r>
              <a:rPr sz="3600" b="1">
                <a:solidFill>
                  <a:srgbClr val="112D32"/>
                </a:solidFill>
                <a:latin typeface="DejaVu Sans"/>
                <a:ea typeface="DejaVu Sans"/>
                <a:cs typeface="DejaVu Sans"/>
              </a:rPr>
              <a:t>The parking contact problem</a:t>
            </a:r>
          </a:p>
        </p:txBody>
      </p:sp>
      <p:sp>
        <p:nvSpPr>
          <p:cNvPr id="2" name="text-1">
            <a:extLst xmlns:a="http://schemas.openxmlformats.org/drawingml/2006/main">
              <a:ext uri="{FF2B5EF4-FFF2-40B4-BE49-F238E27FC236}">
                <a16:creationId xmlns:a16="http://schemas.microsoft.com/office/drawing/2014/main" id="{4A3A0E69-B088-442C-98C4-52662861D948}"/>
              </a:ext>
            </a:extLst>
          </p:cNvPr>
          <p:cNvSpPr>
            <a:spLocks xmlns:a="http://schemas.openxmlformats.org/drawingml/2006/main" noGrp="1"/>
          </p:cNvSpPr>
          <p:nvPr/>
        </p:nvSpPr>
        <p:spPr>
          <a:xfrm xmlns:a="http://schemas.openxmlformats.org/drawingml/2006/main">
            <a:off x="704850" y="1619250"/>
            <a:ext cx="10668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5C6D6B"/>
                </a:solidFill>
                <a:latin typeface="DejaVu Sans"/>
                <a:ea typeface="DejaVu Sans"/>
                <a:cs typeface="DejaVu Sans"/>
              </a:defRPr>
            </a:defPPr>
          </a:lstStyle>
          <a:p xmlns:a="http://schemas.openxmlformats.org/drawingml/2006/main">
            <a:pPr>
              <a:defRPr sz="1725" b="0">
                <a:solidFill>
                  <a:srgbClr val="5C6D6B"/>
                </a:solidFill>
                <a:latin typeface="DejaVu Sans"/>
                <a:ea typeface="DejaVu Sans"/>
                <a:cs typeface="DejaVu Sans"/>
              </a:defRPr>
            </a:pPr>
            <a:r>
              <a:rPr sz="1725" b="0">
                <a:solidFill>
                  <a:srgbClr val="5C6D6B"/>
                </a:solidFill>
                <a:latin typeface="DejaVu Sans"/>
                <a:ea typeface="DejaVu Sans"/>
                <a:cs typeface="DejaVu Sans"/>
              </a:rPr>
              <a:t>A blocked gate creates a coordination problem.</a:t>
            </a:r>
          </a:p>
        </p:txBody>
      </p:sp>
      <p:sp>
        <p:nvSpPr>
          <p:cNvPr id="3" name="text-2">
            <a:extLst xmlns:a="http://schemas.openxmlformats.org/drawingml/2006/main">
              <a:ext uri="{FF2B5EF4-FFF2-40B4-BE49-F238E27FC236}">
                <a16:creationId xmlns:a16="http://schemas.microsoft.com/office/drawing/2014/main" id="{DF601F6C-5757-4704-B177-A1D138A98FBA}"/>
              </a:ext>
            </a:extLst>
          </p:cNvPr>
          <p:cNvSpPr>
            <a:spLocks xmlns:a="http://schemas.openxmlformats.org/drawingml/2006/main" noGrp="1"/>
          </p:cNvSpPr>
          <p:nvPr/>
        </p:nvSpPr>
        <p:spPr>
          <a:xfrm xmlns:a="http://schemas.openxmlformats.org/drawingml/2006/main">
            <a:off x="10953750" y="6334125"/>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5C6D6B"/>
                </a:solidFill>
                <a:latin typeface="DejaVu Sans"/>
                <a:ea typeface="DejaVu Sans"/>
                <a:cs typeface="DejaVu Sans"/>
              </a:defRPr>
            </a:defPPr>
          </a:lstStyle>
          <a:p xmlns:a="http://schemas.openxmlformats.org/drawingml/2006/main">
            <a:pPr>
              <a:defRPr sz="1275" b="0">
                <a:solidFill>
                  <a:srgbClr val="5C6D6B"/>
                </a:solidFill>
                <a:latin typeface="DejaVu Sans"/>
                <a:ea typeface="DejaVu Sans"/>
                <a:cs typeface="DejaVu Sans"/>
              </a:defRPr>
            </a:pPr>
            <a:r>
              <a:rPr sz="1275" b="0">
                <a:solidFill>
                  <a:srgbClr val="5C6D6B"/>
                </a:solidFill>
                <a:latin typeface="DejaVu Sans"/>
                <a:ea typeface="DejaVu Sans"/>
                <a:cs typeface="DejaVu Sans"/>
              </a:rPr>
              <a:t>02</a:t>
            </a:r>
          </a:p>
        </p:txBody>
      </p:sp>
      <p:sp>
        <p:nvSpPr>
          <p:cNvPr id="4" name="text-3">
            <a:extLst xmlns:a="http://schemas.openxmlformats.org/drawingml/2006/main">
              <a:ext uri="{FF2B5EF4-FFF2-40B4-BE49-F238E27FC236}">
                <a16:creationId xmlns:a16="http://schemas.microsoft.com/office/drawing/2014/main" id="{4A728427-B1F8-4CB6-857B-429A31452FFC}"/>
              </a:ext>
            </a:extLst>
          </p:cNvPr>
          <p:cNvSpPr>
            <a:spLocks xmlns:a="http://schemas.openxmlformats.org/drawingml/2006/main" noGrp="1"/>
          </p:cNvSpPr>
          <p:nvPr/>
        </p:nvSpPr>
        <p:spPr>
          <a:xfrm xmlns:a="http://schemas.openxmlformats.org/drawingml/2006/main">
            <a:off x="714375" y="2476500"/>
            <a:ext cx="10668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4800" b="1">
                <a:solidFill>
                  <a:srgbClr val="00796E"/>
                </a:solidFill>
                <a:latin typeface="DejaVu Sans"/>
                <a:ea typeface="DejaVu Sans"/>
                <a:cs typeface="DejaVu Sans"/>
              </a:defRPr>
            </a:defPPr>
          </a:lstStyle>
          <a:p xmlns:a="http://schemas.openxmlformats.org/drawingml/2006/main">
            <a:pPr>
              <a:defRPr sz="4800" b="1">
                <a:solidFill>
                  <a:srgbClr val="00796E"/>
                </a:solidFill>
                <a:latin typeface="DejaVu Sans"/>
                <a:ea typeface="DejaVu Sans"/>
                <a:cs typeface="DejaVu Sans"/>
              </a:defRPr>
            </a:pPr>
            <a:r>
              <a:rPr sz="4800" b="1">
                <a:solidFill>
                  <a:srgbClr val="00796E"/>
                </a:solidFill>
                <a:latin typeface="DejaVu Sans"/>
                <a:ea typeface="DejaVu Sans"/>
                <a:cs typeface="DejaVu Sans"/>
              </a:rPr>
              <a:t>“Whose car is this?”</a:t>
            </a:r>
          </a:p>
        </p:txBody>
      </p:sp>
      <p:sp>
        <p:nvSpPr>
          <p:cNvPr id="5" name="text-4">
            <a:extLst xmlns:a="http://schemas.openxmlformats.org/drawingml/2006/main">
              <a:ext uri="{FF2B5EF4-FFF2-40B4-BE49-F238E27FC236}">
                <a16:creationId xmlns:a16="http://schemas.microsoft.com/office/drawing/2014/main" id="{A090BB1F-E26C-42A3-95B8-E0118C5FEA33}"/>
              </a:ext>
            </a:extLst>
          </p:cNvPr>
          <p:cNvSpPr>
            <a:spLocks xmlns:a="http://schemas.openxmlformats.org/drawingml/2006/main" noGrp="1"/>
          </p:cNvSpPr>
          <p:nvPr/>
        </p:nvSpPr>
        <p:spPr>
          <a:xfrm xmlns:a="http://schemas.openxmlformats.org/drawingml/2006/main">
            <a:off x="704850" y="3905250"/>
            <a:ext cx="3143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1">
                <a:solidFill>
                  <a:srgbClr val="00796E"/>
                </a:solidFill>
                <a:latin typeface="DejaVu Sans"/>
                <a:ea typeface="DejaVu Sans"/>
                <a:cs typeface="DejaVu Sans"/>
              </a:defRPr>
            </a:defPPr>
          </a:lstStyle>
          <a:p xmlns:a="http://schemas.openxmlformats.org/drawingml/2006/main">
            <a:pPr>
              <a:defRPr sz="2250" b="1">
                <a:solidFill>
                  <a:srgbClr val="00796E"/>
                </a:solidFill>
                <a:latin typeface="DejaVu Sans"/>
                <a:ea typeface="DejaVu Sans"/>
                <a:cs typeface="DejaVu Sans"/>
              </a:defRPr>
            </a:pPr>
            <a:r>
              <a:rPr sz="2250" b="1">
                <a:solidFill>
                  <a:srgbClr val="00796E"/>
                </a:solidFill>
                <a:latin typeface="DejaVu Sans"/>
                <a:ea typeface="DejaVu Sans"/>
                <a:cs typeface="DejaVu Sans"/>
              </a:rPr>
              <a:t>Current workaround</a:t>
            </a:r>
          </a:p>
        </p:txBody>
      </p:sp>
      <p:sp>
        <p:nvSpPr>
          <p:cNvPr id="6" name="text-5">
            <a:extLst xmlns:a="http://schemas.openxmlformats.org/drawingml/2006/main">
              <a:ext uri="{FF2B5EF4-FFF2-40B4-BE49-F238E27FC236}">
                <a16:creationId xmlns:a16="http://schemas.microsoft.com/office/drawing/2014/main" id="{FF68D7D1-F243-408C-AC3D-08A5AB97ABAE}"/>
              </a:ext>
            </a:extLst>
          </p:cNvPr>
          <p:cNvSpPr>
            <a:spLocks xmlns:a="http://schemas.openxmlformats.org/drawingml/2006/main" noGrp="1"/>
          </p:cNvSpPr>
          <p:nvPr/>
        </p:nvSpPr>
        <p:spPr>
          <a:xfrm xmlns:a="http://schemas.openxmlformats.org/drawingml/2006/main">
            <a:off x="4133850" y="3905250"/>
            <a:ext cx="7239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112D32"/>
                </a:solidFill>
                <a:latin typeface="DejaVu Sans"/>
                <a:ea typeface="DejaVu Sans"/>
                <a:cs typeface="DejaVu Sans"/>
              </a:defRPr>
            </a:defPPr>
          </a:lstStyle>
          <a:p xmlns:a="http://schemas.openxmlformats.org/drawingml/2006/main">
            <a:pPr>
              <a:defRPr sz="2025" b="0">
                <a:solidFill>
                  <a:srgbClr val="112D32"/>
                </a:solidFill>
                <a:latin typeface="DejaVu Sans"/>
                <a:ea typeface="DejaVu Sans"/>
                <a:cs typeface="DejaVu Sans"/>
              </a:defRPr>
            </a:pPr>
            <a:r>
              <a:rPr sz="2025" b="0">
                <a:solidFill>
                  <a:srgbClr val="112D32"/>
                </a:solidFill>
                <a:latin typeface="DejaVu Sans"/>
                <a:ea typeface="DejaVu Sans"/>
                <a:cs typeface="DejaVu Sans"/>
              </a:rPr>
              <a:t>A public phone number, a guard calling around, or waiting.</a:t>
            </a:r>
          </a:p>
        </p:txBody>
      </p:sp>
      <p:sp>
        <p:nvSpPr>
          <p:cNvPr id="7" name="text-6">
            <a:extLst xmlns:a="http://schemas.openxmlformats.org/drawingml/2006/main">
              <a:ext uri="{FF2B5EF4-FFF2-40B4-BE49-F238E27FC236}">
                <a16:creationId xmlns:a16="http://schemas.microsoft.com/office/drawing/2014/main" id="{2755A56B-847F-48B2-8395-040BC3F43273}"/>
              </a:ext>
            </a:extLst>
          </p:cNvPr>
          <p:cNvSpPr>
            <a:spLocks xmlns:a="http://schemas.openxmlformats.org/drawingml/2006/main" noGrp="1"/>
          </p:cNvSpPr>
          <p:nvPr/>
        </p:nvSpPr>
        <p:spPr>
          <a:xfrm xmlns:a="http://schemas.openxmlformats.org/drawingml/2006/main">
            <a:off x="704850" y="5095875"/>
            <a:ext cx="3143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1">
                <a:solidFill>
                  <a:srgbClr val="00796E"/>
                </a:solidFill>
                <a:latin typeface="DejaVu Sans"/>
                <a:ea typeface="DejaVu Sans"/>
                <a:cs typeface="DejaVu Sans"/>
              </a:defRPr>
            </a:defPPr>
          </a:lstStyle>
          <a:p xmlns:a="http://schemas.openxmlformats.org/drawingml/2006/main">
            <a:pPr>
              <a:defRPr sz="2250" b="1">
                <a:solidFill>
                  <a:srgbClr val="00796E"/>
                </a:solidFill>
                <a:latin typeface="DejaVu Sans"/>
                <a:ea typeface="DejaVu Sans"/>
                <a:cs typeface="DejaVu Sans"/>
              </a:defRPr>
            </a:pPr>
            <a:r>
              <a:rPr sz="2250" b="1">
                <a:solidFill>
                  <a:srgbClr val="00796E"/>
                </a:solidFill>
                <a:latin typeface="DejaVu Sans"/>
                <a:ea typeface="DejaVu Sans"/>
                <a:cs typeface="DejaVu Sans"/>
              </a:rPr>
              <a:t>Customer need</a:t>
            </a:r>
          </a:p>
        </p:txBody>
      </p:sp>
      <p:sp>
        <p:nvSpPr>
          <p:cNvPr id="8" name="text-7">
            <a:extLst xmlns:a="http://schemas.openxmlformats.org/drawingml/2006/main">
              <a:ext uri="{FF2B5EF4-FFF2-40B4-BE49-F238E27FC236}">
                <a16:creationId xmlns:a16="http://schemas.microsoft.com/office/drawing/2014/main" id="{563E2A70-BB26-4CC7-A894-9427F81C11F0}"/>
              </a:ext>
            </a:extLst>
          </p:cNvPr>
          <p:cNvSpPr>
            <a:spLocks xmlns:a="http://schemas.openxmlformats.org/drawingml/2006/main" noGrp="1"/>
          </p:cNvSpPr>
          <p:nvPr/>
        </p:nvSpPr>
        <p:spPr>
          <a:xfrm xmlns:a="http://schemas.openxmlformats.org/drawingml/2006/main">
            <a:off x="4133850" y="5095875"/>
            <a:ext cx="7239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112D32"/>
                </a:solidFill>
                <a:latin typeface="DejaVu Sans"/>
                <a:ea typeface="DejaVu Sans"/>
                <a:cs typeface="DejaVu Sans"/>
              </a:defRPr>
            </a:defPPr>
          </a:lstStyle>
          <a:p xmlns:a="http://schemas.openxmlformats.org/drawingml/2006/main">
            <a:pPr>
              <a:defRPr sz="2025" b="0">
                <a:solidFill>
                  <a:srgbClr val="112D32"/>
                </a:solidFill>
                <a:latin typeface="DejaVu Sans"/>
                <a:ea typeface="DejaVu Sans"/>
                <a:cs typeface="DejaVu Sans"/>
              </a:defRPr>
            </a:pPr>
            <a:r>
              <a:rPr sz="2025" b="0">
                <a:solidFill>
                  <a:srgbClr val="112D32"/>
                </a:solidFill>
                <a:latin typeface="DejaVu Sans"/>
                <a:ea typeface="DejaVu Sans"/>
                <a:cs typeface="DejaVu Sans"/>
              </a:rPr>
              <a:t>Reach the responsible driver without publishing their number.</a:t>
            </a:r>
          </a:p>
        </p:txBody>
      </p:sp>
    </p:spTree>
    <p:extLst>
      <p:ext uri="{BB962C8B-B14F-4D97-AF65-F5344CB8AC3E}">
        <p14:creationId xmlns:p14="http://schemas.microsoft.com/office/powerpoint/2010/main" val="331507472"/>
      </p:ext>
    </p:extLst>
  </p:cSld>
</p:sld>
</file>

<file path=ppt/slides/slide3.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F612E9A1-00E6-4EDD-881B-4F274F49D236}"/>
              </a:ext>
            </a:extLst>
          </p:cNvPr>
          <p:cNvSpPr>
            <a:spLocks xmlns:a="http://schemas.openxmlformats.org/drawingml/2006/main" noGrp="1"/>
          </p:cNvSpPr>
          <p:nvPr/>
        </p:nvSpPr>
        <p:spPr>
          <a:xfrm xmlns:a="http://schemas.openxmlformats.org/drawingml/2006/main">
            <a:off x="685800" y="581025"/>
            <a:ext cx="108204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600" b="1">
                <a:solidFill>
                  <a:srgbClr val="112D32"/>
                </a:solidFill>
                <a:latin typeface="DejaVu Sans"/>
                <a:ea typeface="DejaVu Sans"/>
                <a:cs typeface="DejaVu Sans"/>
              </a:defRPr>
            </a:defPPr>
          </a:lstStyle>
          <a:p xmlns:a="http://schemas.openxmlformats.org/drawingml/2006/main">
            <a:pPr>
              <a:defRPr sz="3600" b="1">
                <a:solidFill>
                  <a:srgbClr val="112D32"/>
                </a:solidFill>
                <a:latin typeface="DejaVu Sans"/>
                <a:ea typeface="DejaVu Sans"/>
                <a:cs typeface="DejaVu Sans"/>
              </a:defRPr>
            </a:pPr>
            <a:r>
              <a:rPr sz="3600" b="1">
                <a:solidFill>
                  <a:srgbClr val="112D32"/>
                </a:solidFill>
                <a:latin typeface="DejaVu Sans"/>
                <a:ea typeface="DejaVu Sans"/>
                <a:cs typeface="DejaVu Sans"/>
              </a:rPr>
              <a:t>A private route to the driver</a:t>
            </a:r>
          </a:p>
        </p:txBody>
      </p:sp>
      <p:sp>
        <p:nvSpPr>
          <p:cNvPr id="2" name="text-1">
            <a:extLst xmlns:a="http://schemas.openxmlformats.org/drawingml/2006/main">
              <a:ext uri="{FF2B5EF4-FFF2-40B4-BE49-F238E27FC236}">
                <a16:creationId xmlns:a16="http://schemas.microsoft.com/office/drawing/2014/main" id="{80C91DB4-2BF8-4144-919A-027CC7A770BB}"/>
              </a:ext>
            </a:extLst>
          </p:cNvPr>
          <p:cNvSpPr>
            <a:spLocks xmlns:a="http://schemas.openxmlformats.org/drawingml/2006/main" noGrp="1"/>
          </p:cNvSpPr>
          <p:nvPr/>
        </p:nvSpPr>
        <p:spPr>
          <a:xfrm xmlns:a="http://schemas.openxmlformats.org/drawingml/2006/main">
            <a:off x="704850" y="1619250"/>
            <a:ext cx="10668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5C6D6B"/>
                </a:solidFill>
                <a:latin typeface="DejaVu Sans"/>
                <a:ea typeface="DejaVu Sans"/>
                <a:cs typeface="DejaVu Sans"/>
              </a:defRPr>
            </a:defPPr>
          </a:lstStyle>
          <a:p xmlns:a="http://schemas.openxmlformats.org/drawingml/2006/main">
            <a:pPr>
              <a:defRPr sz="1725" b="0">
                <a:solidFill>
                  <a:srgbClr val="5C6D6B"/>
                </a:solidFill>
                <a:latin typeface="DejaVu Sans"/>
                <a:ea typeface="DejaVu Sans"/>
                <a:cs typeface="DejaVu Sans"/>
              </a:defRPr>
            </a:pPr>
            <a:r>
              <a:rPr sz="1725" b="0">
                <a:solidFill>
                  <a:srgbClr val="5C6D6B"/>
                </a:solidFill>
                <a:latin typeface="DejaVu Sans"/>
                <a:ea typeface="DejaVu Sans"/>
                <a:cs typeface="DejaVu Sans"/>
              </a:rPr>
              <a:t>The QR opens a contact page. The service handles the destination.</a:t>
            </a:r>
          </a:p>
        </p:txBody>
      </p:sp>
      <p:sp>
        <p:nvSpPr>
          <p:cNvPr id="3" name="text-2">
            <a:extLst xmlns:a="http://schemas.openxmlformats.org/drawingml/2006/main">
              <a:ext uri="{FF2B5EF4-FFF2-40B4-BE49-F238E27FC236}">
                <a16:creationId xmlns:a16="http://schemas.microsoft.com/office/drawing/2014/main" id="{C4FC7FE6-30BE-495F-9AD2-0DB5CC058453}"/>
              </a:ext>
            </a:extLst>
          </p:cNvPr>
          <p:cNvSpPr>
            <a:spLocks xmlns:a="http://schemas.openxmlformats.org/drawingml/2006/main" noGrp="1"/>
          </p:cNvSpPr>
          <p:nvPr/>
        </p:nvSpPr>
        <p:spPr>
          <a:xfrm xmlns:a="http://schemas.openxmlformats.org/drawingml/2006/main">
            <a:off x="10953750" y="6334125"/>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5C6D6B"/>
                </a:solidFill>
                <a:latin typeface="DejaVu Sans"/>
                <a:ea typeface="DejaVu Sans"/>
                <a:cs typeface="DejaVu Sans"/>
              </a:defRPr>
            </a:defPPr>
          </a:lstStyle>
          <a:p xmlns:a="http://schemas.openxmlformats.org/drawingml/2006/main">
            <a:pPr>
              <a:defRPr sz="1275" b="0">
                <a:solidFill>
                  <a:srgbClr val="5C6D6B"/>
                </a:solidFill>
                <a:latin typeface="DejaVu Sans"/>
                <a:ea typeface="DejaVu Sans"/>
                <a:cs typeface="DejaVu Sans"/>
              </a:defRPr>
            </a:pPr>
            <a:r>
              <a:rPr sz="1275" b="0">
                <a:solidFill>
                  <a:srgbClr val="5C6D6B"/>
                </a:solidFill>
                <a:latin typeface="DejaVu Sans"/>
                <a:ea typeface="DejaVu Sans"/>
                <a:cs typeface="DejaVu Sans"/>
              </a:rPr>
              <a:t>03</a:t>
            </a:r>
          </a:p>
        </p:txBody>
      </p:sp>
      <p:sp>
        <p:nvSpPr>
          <p:cNvPr id="4" name="text-3">
            <a:extLst xmlns:a="http://schemas.openxmlformats.org/drawingml/2006/main">
              <a:ext uri="{FF2B5EF4-FFF2-40B4-BE49-F238E27FC236}">
                <a16:creationId xmlns:a16="http://schemas.microsoft.com/office/drawing/2014/main" id="{DE11A315-68F2-46E3-84E2-74DE17FDFB56}"/>
              </a:ext>
            </a:extLst>
          </p:cNvPr>
          <p:cNvSpPr>
            <a:spLocks xmlns:a="http://schemas.openxmlformats.org/drawingml/2006/main" noGrp="1"/>
          </p:cNvSpPr>
          <p:nvPr/>
        </p:nvSpPr>
        <p:spPr>
          <a:xfrm xmlns:a="http://schemas.openxmlformats.org/drawingml/2006/main">
            <a:off x="704850" y="2476500"/>
            <a:ext cx="3143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1">
                <a:solidFill>
                  <a:srgbClr val="00796E"/>
                </a:solidFill>
                <a:latin typeface="DejaVu Sans"/>
                <a:ea typeface="DejaVu Sans"/>
                <a:cs typeface="DejaVu Sans"/>
              </a:defRPr>
            </a:defPPr>
          </a:lstStyle>
          <a:p xmlns:a="http://schemas.openxmlformats.org/drawingml/2006/main">
            <a:pPr>
              <a:defRPr sz="2250" b="1">
                <a:solidFill>
                  <a:srgbClr val="00796E"/>
                </a:solidFill>
                <a:latin typeface="DejaVu Sans"/>
                <a:ea typeface="DejaVu Sans"/>
                <a:cs typeface="DejaVu Sans"/>
              </a:defRPr>
            </a:pPr>
            <a:r>
              <a:rPr sz="2250" b="1">
                <a:solidFill>
                  <a:srgbClr val="00796E"/>
                </a:solidFill>
                <a:latin typeface="DejaVu Sans"/>
                <a:ea typeface="DejaVu Sans"/>
                <a:cs typeface="DejaVu Sans"/>
              </a:rPr>
              <a:t>Scanner</a:t>
            </a:r>
          </a:p>
        </p:txBody>
      </p:sp>
      <p:sp>
        <p:nvSpPr>
          <p:cNvPr id="5" name="text-4">
            <a:extLst xmlns:a="http://schemas.openxmlformats.org/drawingml/2006/main">
              <a:ext uri="{FF2B5EF4-FFF2-40B4-BE49-F238E27FC236}">
                <a16:creationId xmlns:a16="http://schemas.microsoft.com/office/drawing/2014/main" id="{E88D6EE7-7F23-4B8F-B620-61997343CA15}"/>
              </a:ext>
            </a:extLst>
          </p:cNvPr>
          <p:cNvSpPr>
            <a:spLocks xmlns:a="http://schemas.openxmlformats.org/drawingml/2006/main" noGrp="1"/>
          </p:cNvSpPr>
          <p:nvPr/>
        </p:nvSpPr>
        <p:spPr>
          <a:xfrm xmlns:a="http://schemas.openxmlformats.org/drawingml/2006/main">
            <a:off x="4133850" y="2476500"/>
            <a:ext cx="7239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112D32"/>
                </a:solidFill>
                <a:latin typeface="DejaVu Sans"/>
                <a:ea typeface="DejaVu Sans"/>
                <a:cs typeface="DejaVu Sans"/>
              </a:defRPr>
            </a:defPPr>
          </a:lstStyle>
          <a:p xmlns:a="http://schemas.openxmlformats.org/drawingml/2006/main">
            <a:pPr>
              <a:defRPr sz="2025" b="0">
                <a:solidFill>
                  <a:srgbClr val="112D32"/>
                </a:solidFill>
                <a:latin typeface="DejaVu Sans"/>
                <a:ea typeface="DejaVu Sans"/>
                <a:cs typeface="DejaVu Sans"/>
              </a:defRPr>
            </a:pPr>
            <a:r>
              <a:rPr sz="2025" b="0">
                <a:solidFill>
                  <a:srgbClr val="112D32"/>
                </a:solidFill>
                <a:latin typeface="DejaVu Sans"/>
                <a:ea typeface="DejaVu Sans"/>
                <a:cs typeface="DejaVu Sans"/>
              </a:rPr>
              <a:t>Scan, choose a reason and confirm the request.</a:t>
            </a:r>
          </a:p>
        </p:txBody>
      </p:sp>
      <p:sp>
        <p:nvSpPr>
          <p:cNvPr id="6" name="text-5">
            <a:extLst xmlns:a="http://schemas.openxmlformats.org/drawingml/2006/main">
              <a:ext uri="{FF2B5EF4-FFF2-40B4-BE49-F238E27FC236}">
                <a16:creationId xmlns:a16="http://schemas.microsoft.com/office/drawing/2014/main" id="{4BC16FB2-2C4C-4126-B5A3-54B090AD822C}"/>
              </a:ext>
            </a:extLst>
          </p:cNvPr>
          <p:cNvSpPr>
            <a:spLocks xmlns:a="http://schemas.openxmlformats.org/drawingml/2006/main" noGrp="1"/>
          </p:cNvSpPr>
          <p:nvPr/>
        </p:nvSpPr>
        <p:spPr>
          <a:xfrm xmlns:a="http://schemas.openxmlformats.org/drawingml/2006/main">
            <a:off x="704850" y="3571875"/>
            <a:ext cx="3143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1">
                <a:solidFill>
                  <a:srgbClr val="00796E"/>
                </a:solidFill>
                <a:latin typeface="DejaVu Sans"/>
                <a:ea typeface="DejaVu Sans"/>
                <a:cs typeface="DejaVu Sans"/>
              </a:defRPr>
            </a:defPPr>
          </a:lstStyle>
          <a:p xmlns:a="http://schemas.openxmlformats.org/drawingml/2006/main">
            <a:pPr>
              <a:defRPr sz="2250" b="1">
                <a:solidFill>
                  <a:srgbClr val="00796E"/>
                </a:solidFill>
                <a:latin typeface="DejaVu Sans"/>
                <a:ea typeface="DejaVu Sans"/>
                <a:cs typeface="DejaVu Sans"/>
              </a:defRPr>
            </a:pPr>
            <a:r>
              <a:rPr sz="2250" b="1">
                <a:solidFill>
                  <a:srgbClr val="00796E"/>
                </a:solidFill>
                <a:latin typeface="DejaVu Sans"/>
                <a:ea typeface="DejaVu Sans"/>
                <a:cs typeface="DejaVu Sans"/>
              </a:rPr>
              <a:t>Service</a:t>
            </a:r>
          </a:p>
        </p:txBody>
      </p:sp>
      <p:sp>
        <p:nvSpPr>
          <p:cNvPr id="7" name="text-6">
            <a:extLst xmlns:a="http://schemas.openxmlformats.org/drawingml/2006/main">
              <a:ext uri="{FF2B5EF4-FFF2-40B4-BE49-F238E27FC236}">
                <a16:creationId xmlns:a16="http://schemas.microsoft.com/office/drawing/2014/main" id="{4D88D10C-CBC9-45CF-A668-5F111C4E7A57}"/>
              </a:ext>
            </a:extLst>
          </p:cNvPr>
          <p:cNvSpPr>
            <a:spLocks xmlns:a="http://schemas.openxmlformats.org/drawingml/2006/main" noGrp="1"/>
          </p:cNvSpPr>
          <p:nvPr/>
        </p:nvSpPr>
        <p:spPr>
          <a:xfrm xmlns:a="http://schemas.openxmlformats.org/drawingml/2006/main">
            <a:off x="4133850" y="3571875"/>
            <a:ext cx="7239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112D32"/>
                </a:solidFill>
                <a:latin typeface="DejaVu Sans"/>
                <a:ea typeface="DejaVu Sans"/>
                <a:cs typeface="DejaVu Sans"/>
              </a:defRPr>
            </a:defPPr>
          </a:lstStyle>
          <a:p xmlns:a="http://schemas.openxmlformats.org/drawingml/2006/main">
            <a:pPr>
              <a:defRPr sz="2025" b="0">
                <a:solidFill>
                  <a:srgbClr val="112D32"/>
                </a:solidFill>
                <a:latin typeface="DejaVu Sans"/>
                <a:ea typeface="DejaVu Sans"/>
                <a:cs typeface="DejaVu Sans"/>
              </a:defRPr>
            </a:pPr>
            <a:r>
              <a:rPr sz="2025" b="0">
                <a:solidFill>
                  <a:srgbClr val="112D32"/>
                </a:solidFill>
                <a:latin typeface="DejaVu Sans"/>
                <a:ea typeface="DejaVu Sans"/>
                <a:cs typeface="DejaVu Sans"/>
              </a:rPr>
              <a:t>Send a private alert and track acknowledgement.</a:t>
            </a:r>
          </a:p>
        </p:txBody>
      </p:sp>
      <p:sp>
        <p:nvSpPr>
          <p:cNvPr id="8" name="text-7">
            <a:extLst xmlns:a="http://schemas.openxmlformats.org/drawingml/2006/main">
              <a:ext uri="{FF2B5EF4-FFF2-40B4-BE49-F238E27FC236}">
                <a16:creationId xmlns:a16="http://schemas.microsoft.com/office/drawing/2014/main" id="{8AC59D76-4D36-41F7-99C2-EC41CED76367}"/>
              </a:ext>
            </a:extLst>
          </p:cNvPr>
          <p:cNvSpPr>
            <a:spLocks xmlns:a="http://schemas.openxmlformats.org/drawingml/2006/main" noGrp="1"/>
          </p:cNvSpPr>
          <p:nvPr/>
        </p:nvSpPr>
        <p:spPr>
          <a:xfrm xmlns:a="http://schemas.openxmlformats.org/drawingml/2006/main">
            <a:off x="704850" y="4667250"/>
            <a:ext cx="3143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1">
                <a:solidFill>
                  <a:srgbClr val="00796E"/>
                </a:solidFill>
                <a:latin typeface="DejaVu Sans"/>
                <a:ea typeface="DejaVu Sans"/>
                <a:cs typeface="DejaVu Sans"/>
              </a:defRPr>
            </a:defPPr>
          </a:lstStyle>
          <a:p xmlns:a="http://schemas.openxmlformats.org/drawingml/2006/main">
            <a:pPr>
              <a:defRPr sz="2250" b="1">
                <a:solidFill>
                  <a:srgbClr val="00796E"/>
                </a:solidFill>
                <a:latin typeface="DejaVu Sans"/>
                <a:ea typeface="DejaVu Sans"/>
                <a:cs typeface="DejaVu Sans"/>
              </a:defRPr>
            </a:pPr>
            <a:r>
              <a:rPr sz="2250" b="1">
                <a:solidFill>
                  <a:srgbClr val="00796E"/>
                </a:solidFill>
                <a:latin typeface="DejaVu Sans"/>
                <a:ea typeface="DejaVu Sans"/>
                <a:cs typeface="DejaVu Sans"/>
              </a:rPr>
              <a:t>Owner</a:t>
            </a:r>
          </a:p>
        </p:txBody>
      </p:sp>
      <p:sp>
        <p:nvSpPr>
          <p:cNvPr id="9" name="text-8">
            <a:extLst xmlns:a="http://schemas.openxmlformats.org/drawingml/2006/main">
              <a:ext uri="{FF2B5EF4-FFF2-40B4-BE49-F238E27FC236}">
                <a16:creationId xmlns:a16="http://schemas.microsoft.com/office/drawing/2014/main" id="{4D6C93ED-D80A-4031-92C4-B38412936C59}"/>
              </a:ext>
            </a:extLst>
          </p:cNvPr>
          <p:cNvSpPr>
            <a:spLocks xmlns:a="http://schemas.openxmlformats.org/drawingml/2006/main" noGrp="1"/>
          </p:cNvSpPr>
          <p:nvPr/>
        </p:nvSpPr>
        <p:spPr>
          <a:xfrm xmlns:a="http://schemas.openxmlformats.org/drawingml/2006/main">
            <a:off x="4133850" y="4667250"/>
            <a:ext cx="7239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112D32"/>
                </a:solidFill>
                <a:latin typeface="DejaVu Sans"/>
                <a:ea typeface="DejaVu Sans"/>
                <a:cs typeface="DejaVu Sans"/>
              </a:defRPr>
            </a:defPPr>
          </a:lstStyle>
          <a:p xmlns:a="http://schemas.openxmlformats.org/drawingml/2006/main">
            <a:pPr>
              <a:defRPr sz="2025" b="0">
                <a:solidFill>
                  <a:srgbClr val="112D32"/>
                </a:solidFill>
                <a:latin typeface="DejaVu Sans"/>
                <a:ea typeface="DejaVu Sans"/>
                <a:cs typeface="DejaVu Sans"/>
              </a:defRPr>
            </a:pPr>
            <a:r>
              <a:rPr sz="2025" b="0">
                <a:solidFill>
                  <a:srgbClr val="112D32"/>
                </a:solidFill>
                <a:latin typeface="DejaVu Sans"/>
                <a:ea typeface="DejaVu Sans"/>
                <a:cs typeface="DejaVu Sans"/>
              </a:rPr>
              <a:t>Respond “Coming” and close the incident after moving.</a:t>
            </a:r>
          </a:p>
        </p:txBody>
      </p:sp>
      <p:sp>
        <p:nvSpPr>
          <p:cNvPr id="10" name="text-9">
            <a:extLst xmlns:a="http://schemas.openxmlformats.org/drawingml/2006/main">
              <a:ext uri="{FF2B5EF4-FFF2-40B4-BE49-F238E27FC236}">
                <a16:creationId xmlns:a16="http://schemas.microsoft.com/office/drawing/2014/main" id="{1A3F07ED-A809-445E-8C22-F23E5DA7596E}"/>
              </a:ext>
            </a:extLst>
          </p:cNvPr>
          <p:cNvSpPr>
            <a:spLocks xmlns:a="http://schemas.openxmlformats.org/drawingml/2006/main" noGrp="1"/>
          </p:cNvSpPr>
          <p:nvPr/>
        </p:nvSpPr>
        <p:spPr>
          <a:xfrm xmlns:a="http://schemas.openxmlformats.org/drawingml/2006/main">
            <a:off x="704850" y="5886450"/>
            <a:ext cx="10382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5C6D6B"/>
                </a:solidFill>
                <a:latin typeface="DejaVu Sans"/>
                <a:ea typeface="DejaVu Sans"/>
                <a:cs typeface="DejaVu Sans"/>
              </a:defRPr>
            </a:defPPr>
          </a:lstStyle>
          <a:p xmlns:a="http://schemas.openxmlformats.org/drawingml/2006/main">
            <a:pPr>
              <a:defRPr sz="1275" b="0">
                <a:solidFill>
                  <a:srgbClr val="5C6D6B"/>
                </a:solidFill>
                <a:latin typeface="DejaVu Sans"/>
                <a:ea typeface="DejaVu Sans"/>
                <a:cs typeface="DejaVu Sans"/>
              </a:defRPr>
            </a:pPr>
            <a:r>
              <a:rPr sz="1275" b="0">
                <a:solidFill>
                  <a:srgbClr val="5C6D6B"/>
                </a:solidFill>
                <a:latin typeface="DejaVu Sans"/>
                <a:ea typeface="DejaVu Sans"/>
                <a:cs typeface="DejaVu Sans"/>
              </a:rPr>
              <a:t>Proposed product flow. No app or scanner account required for fixed alerts.</a:t>
            </a:r>
          </a:p>
        </p:txBody>
      </p:sp>
    </p:spTree>
    <p:extLst>
      <p:ext uri="{BB962C8B-B14F-4D97-AF65-F5344CB8AC3E}">
        <p14:creationId xmlns:p14="http://schemas.microsoft.com/office/powerpoint/2010/main" val="1153508484"/>
      </p:ext>
    </p:extLst>
  </p:cSld>
</p:sld>
</file>

<file path=ppt/slides/slide4.xml><?xml version="1.0" encoding="utf-8"?>
<p:sld xmlns:p="http://schemas.openxmlformats.org/presentationml/2006/main">
  <p:cSld>
    <p:bg>
      <p:bgPr>
        <a:solidFill xmlns:a="http://schemas.openxmlformats.org/drawingml/2006/main">
          <a:srgbClr val="112D32"/>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7A5D0797-644D-4AD7-BA99-8995CFFCFB5F}"/>
              </a:ext>
            </a:extLst>
          </p:cNvPr>
          <p:cNvSpPr>
            <a:spLocks xmlns:a="http://schemas.openxmlformats.org/drawingml/2006/main" noGrp="1"/>
          </p:cNvSpPr>
          <p:nvPr/>
        </p:nvSpPr>
        <p:spPr>
          <a:xfrm xmlns:a="http://schemas.openxmlformats.org/drawingml/2006/main">
            <a:off x="685800" y="581025"/>
            <a:ext cx="108204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600" b="1">
                <a:solidFill>
                  <a:srgbClr val="F5F2E9"/>
                </a:solidFill>
                <a:latin typeface="DejaVu Sans"/>
                <a:ea typeface="DejaVu Sans"/>
                <a:cs typeface="DejaVu Sans"/>
              </a:defRPr>
            </a:defPPr>
          </a:lstStyle>
          <a:p xmlns:a="http://schemas.openxmlformats.org/drawingml/2006/main">
            <a:pPr>
              <a:defRPr sz="3600" b="1">
                <a:solidFill>
                  <a:srgbClr val="F5F2E9"/>
                </a:solidFill>
                <a:latin typeface="DejaVu Sans"/>
                <a:ea typeface="DejaVu Sans"/>
                <a:cs typeface="DejaVu Sans"/>
              </a:defRPr>
            </a:pPr>
            <a:r>
              <a:rPr sz="3600" b="1">
                <a:solidFill>
                  <a:srgbClr val="F5F2E9"/>
                </a:solidFill>
                <a:latin typeface="DejaVu Sans"/>
                <a:ea typeface="DejaVu Sans"/>
                <a:cs typeface="DejaVu Sans"/>
              </a:rPr>
              <a:t>The first customer segment</a:t>
            </a:r>
          </a:p>
        </p:txBody>
      </p:sp>
      <p:sp>
        <p:nvSpPr>
          <p:cNvPr id="2" name="text-1">
            <a:extLst xmlns:a="http://schemas.openxmlformats.org/drawingml/2006/main">
              <a:ext uri="{FF2B5EF4-FFF2-40B4-BE49-F238E27FC236}">
                <a16:creationId xmlns:a16="http://schemas.microsoft.com/office/drawing/2014/main" id="{6159EE39-63F0-4DE7-A0A1-C8F7BDD1A63C}"/>
              </a:ext>
            </a:extLst>
          </p:cNvPr>
          <p:cNvSpPr>
            <a:spLocks xmlns:a="http://schemas.openxmlformats.org/drawingml/2006/main" noGrp="1"/>
          </p:cNvSpPr>
          <p:nvPr/>
        </p:nvSpPr>
        <p:spPr>
          <a:xfrm xmlns:a="http://schemas.openxmlformats.org/drawingml/2006/main">
            <a:off x="704850" y="1619250"/>
            <a:ext cx="10668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B9F3D4"/>
                </a:solidFill>
                <a:latin typeface="DejaVu Sans"/>
                <a:ea typeface="DejaVu Sans"/>
                <a:cs typeface="DejaVu Sans"/>
              </a:defRPr>
            </a:defPPr>
          </a:lstStyle>
          <a:p xmlns:a="http://schemas.openxmlformats.org/drawingml/2006/main">
            <a:pPr>
              <a:defRPr sz="1725" b="0">
                <a:solidFill>
                  <a:srgbClr val="B9F3D4"/>
                </a:solidFill>
                <a:latin typeface="DejaVu Sans"/>
                <a:ea typeface="DejaVu Sans"/>
                <a:cs typeface="DejaVu Sans"/>
              </a:defRPr>
            </a:pPr>
            <a:r>
              <a:rPr sz="1725" b="0">
                <a:solidFill>
                  <a:srgbClr val="B9F3D4"/>
                </a:solidFill>
                <a:latin typeface="DejaVu Sans"/>
                <a:ea typeface="DejaVu Sans"/>
                <a:cs typeface="DejaVu Sans"/>
              </a:rPr>
              <a:t>One bounded parking community in Karachi</a:t>
            </a:r>
          </a:p>
        </p:txBody>
      </p:sp>
      <p:sp>
        <p:nvSpPr>
          <p:cNvPr id="3" name="text-2">
            <a:extLst xmlns:a="http://schemas.openxmlformats.org/drawingml/2006/main">
              <a:ext uri="{FF2B5EF4-FFF2-40B4-BE49-F238E27FC236}">
                <a16:creationId xmlns:a16="http://schemas.microsoft.com/office/drawing/2014/main" id="{0EDB9152-17FF-4EEA-8105-EF5168EFA85E}"/>
              </a:ext>
            </a:extLst>
          </p:cNvPr>
          <p:cNvSpPr>
            <a:spLocks xmlns:a="http://schemas.openxmlformats.org/drawingml/2006/main" noGrp="1"/>
          </p:cNvSpPr>
          <p:nvPr/>
        </p:nvSpPr>
        <p:spPr>
          <a:xfrm xmlns:a="http://schemas.openxmlformats.org/drawingml/2006/main">
            <a:off x="10953750" y="6334125"/>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B9F3D4"/>
                </a:solidFill>
                <a:latin typeface="DejaVu Sans"/>
                <a:ea typeface="DejaVu Sans"/>
                <a:cs typeface="DejaVu Sans"/>
              </a:defRPr>
            </a:defPPr>
          </a:lstStyle>
          <a:p xmlns:a="http://schemas.openxmlformats.org/drawingml/2006/main">
            <a:pPr>
              <a:defRPr sz="1275" b="0">
                <a:solidFill>
                  <a:srgbClr val="B9F3D4"/>
                </a:solidFill>
                <a:latin typeface="DejaVu Sans"/>
                <a:ea typeface="DejaVu Sans"/>
                <a:cs typeface="DejaVu Sans"/>
              </a:defRPr>
            </a:pPr>
            <a:r>
              <a:rPr sz="1275" b="0">
                <a:solidFill>
                  <a:srgbClr val="B9F3D4"/>
                </a:solidFill>
                <a:latin typeface="DejaVu Sans"/>
                <a:ea typeface="DejaVu Sans"/>
                <a:cs typeface="DejaVu Sans"/>
              </a:rPr>
              <a:t>04</a:t>
            </a:r>
          </a:p>
        </p:txBody>
      </p:sp>
      <p:sp>
        <p:nvSpPr>
          <p:cNvPr id="4" name="text-3">
            <a:extLst xmlns:a="http://schemas.openxmlformats.org/drawingml/2006/main">
              <a:ext uri="{FF2B5EF4-FFF2-40B4-BE49-F238E27FC236}">
                <a16:creationId xmlns:a16="http://schemas.microsoft.com/office/drawing/2014/main" id="{148C8948-4C9A-43F7-B9B5-18AC1BBF29EF}"/>
              </a:ext>
            </a:extLst>
          </p:cNvPr>
          <p:cNvSpPr>
            <a:spLocks xmlns:a="http://schemas.openxmlformats.org/drawingml/2006/main" noGrp="1"/>
          </p:cNvSpPr>
          <p:nvPr/>
        </p:nvSpPr>
        <p:spPr>
          <a:xfrm xmlns:a="http://schemas.openxmlformats.org/drawingml/2006/main">
            <a:off x="723900" y="2514600"/>
            <a:ext cx="542925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500" b="1">
                <a:solidFill>
                  <a:srgbClr val="B9F3D4"/>
                </a:solidFill>
                <a:latin typeface="DejaVu Sans"/>
                <a:ea typeface="DejaVu Sans"/>
                <a:cs typeface="DejaVu Sans"/>
              </a:defRPr>
            </a:defPPr>
          </a:lstStyle>
          <a:p xmlns:a="http://schemas.openxmlformats.org/drawingml/2006/main">
            <a:pPr>
              <a:defRPr sz="7500" b="1">
                <a:solidFill>
                  <a:srgbClr val="B9F3D4"/>
                </a:solidFill>
                <a:latin typeface="DejaVu Sans"/>
                <a:ea typeface="DejaVu Sans"/>
                <a:cs typeface="DejaVu Sans"/>
              </a:defRPr>
            </a:pPr>
            <a:r>
              <a:rPr sz="7500" b="1">
                <a:solidFill>
                  <a:srgbClr val="B9F3D4"/>
                </a:solidFill>
                <a:latin typeface="DejaVu Sans"/>
                <a:ea typeface="DejaVu Sans"/>
                <a:cs typeface="DejaVu Sans"/>
              </a:rPr>
              <a:t>50–100</a:t>
            </a:r>
          </a:p>
        </p:txBody>
      </p:sp>
      <p:sp>
        <p:nvSpPr>
          <p:cNvPr id="5" name="text-4">
            <a:extLst xmlns:a="http://schemas.openxmlformats.org/drawingml/2006/main">
              <a:ext uri="{FF2B5EF4-FFF2-40B4-BE49-F238E27FC236}">
                <a16:creationId xmlns:a16="http://schemas.microsoft.com/office/drawing/2014/main" id="{5F70B8F4-6A44-4A0B-9173-844455947495}"/>
              </a:ext>
            </a:extLst>
          </p:cNvPr>
          <p:cNvSpPr>
            <a:spLocks xmlns:a="http://schemas.openxmlformats.org/drawingml/2006/main" noGrp="1"/>
          </p:cNvSpPr>
          <p:nvPr/>
        </p:nvSpPr>
        <p:spPr>
          <a:xfrm xmlns:a="http://schemas.openxmlformats.org/drawingml/2006/main">
            <a:off x="781050" y="3905250"/>
            <a:ext cx="5715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550" b="0">
                <a:solidFill>
                  <a:srgbClr val="F5F2E9"/>
                </a:solidFill>
                <a:latin typeface="DejaVu Sans"/>
                <a:ea typeface="DejaVu Sans"/>
                <a:cs typeface="DejaVu Sans"/>
              </a:defRPr>
            </a:defPPr>
          </a:lstStyle>
          <a:p xmlns:a="http://schemas.openxmlformats.org/drawingml/2006/main">
            <a:pPr>
              <a:defRPr sz="2550" b="0">
                <a:solidFill>
                  <a:srgbClr val="F5F2E9"/>
                </a:solidFill>
                <a:latin typeface="DejaVu Sans"/>
                <a:ea typeface="DejaVu Sans"/>
                <a:cs typeface="DejaVu Sans"/>
              </a:defRPr>
            </a:pPr>
            <a:r>
              <a:rPr sz="2550" b="0">
                <a:solidFill>
                  <a:srgbClr val="F5F2E9"/>
                </a:solidFill>
                <a:latin typeface="DejaVu Sans"/>
                <a:ea typeface="DejaVu Sans"/>
                <a:cs typeface="DejaVu Sans"/>
              </a:rPr>
              <a:t>consenting owners</a:t>
            </a:r>
          </a:p>
        </p:txBody>
      </p:sp>
      <p:sp>
        <p:nvSpPr>
          <p:cNvPr id="6" name="text-5">
            <a:extLst xmlns:a="http://schemas.openxmlformats.org/drawingml/2006/main">
              <a:ext uri="{FF2B5EF4-FFF2-40B4-BE49-F238E27FC236}">
                <a16:creationId xmlns:a16="http://schemas.microsoft.com/office/drawing/2014/main" id="{AC61200C-3C0D-427A-A3CE-5E36EE302E10}"/>
              </a:ext>
            </a:extLst>
          </p:cNvPr>
          <p:cNvSpPr>
            <a:spLocks xmlns:a="http://schemas.openxmlformats.org/drawingml/2006/main" noGrp="1"/>
          </p:cNvSpPr>
          <p:nvPr/>
        </p:nvSpPr>
        <p:spPr>
          <a:xfrm xmlns:a="http://schemas.openxmlformats.org/drawingml/2006/main">
            <a:off x="7143750" y="2714625"/>
            <a:ext cx="4286250" cy="2143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400" b="0">
                <a:solidFill>
                  <a:srgbClr val="F5F2E9"/>
                </a:solidFill>
                <a:latin typeface="DejaVu Sans"/>
                <a:ea typeface="DejaVu Sans"/>
                <a:cs typeface="DejaVu Sans"/>
              </a:defRPr>
            </a:defPPr>
          </a:lstStyle>
          <a:p xmlns:a="http://schemas.openxmlformats.org/drawingml/2006/main">
            <a:pPr>
              <a:defRPr sz="2400" b="0">
                <a:solidFill>
                  <a:srgbClr val="F5F2E9"/>
                </a:solidFill>
                <a:latin typeface="DejaVu Sans"/>
                <a:ea typeface="DejaVu Sans"/>
                <a:cs typeface="DejaVu Sans"/>
              </a:defRPr>
            </a:pPr>
            <a:r>
              <a:rPr sz="2400" b="0">
                <a:solidFill>
                  <a:srgbClr val="F5F2E9"/>
                </a:solidFill>
                <a:latin typeface="DejaVu Sans"/>
                <a:ea typeface="DejaVu Sans"/>
                <a:cs typeface="DejaVu Sans"/>
              </a:rPr>
              <a:t>1–2 pilot sites</a:t>
            </a:r>
          </a:p>
          <a:p xmlns:a="http://schemas.openxmlformats.org/drawingml/2006/main">
            <a:pPr>
              <a:defRPr sz="2400" b="0">
                <a:solidFill>
                  <a:srgbClr val="F5F2E9"/>
                </a:solidFill>
                <a:latin typeface="DejaVu Sans"/>
                <a:ea typeface="DejaVu Sans"/>
                <a:cs typeface="DejaVu Sans"/>
              </a:defRPr>
            </a:pPr>
            <a:r>
              <a:rPr sz="2400" b="0">
                <a:solidFill>
                  <a:srgbClr val="F5F2E9"/>
                </a:solidFill>
                <a:latin typeface="DejaVu Sans"/>
                <a:ea typeface="DejaVu Sans"/>
                <a:cs typeface="DejaVu Sans"/>
              </a:rPr>
              <a:t>A named staff sponsor</a:t>
            </a:r>
          </a:p>
          <a:p xmlns:a="http://schemas.openxmlformats.org/drawingml/2006/main">
            <a:pPr>
              <a:defRPr sz="2400" b="0">
                <a:solidFill>
                  <a:srgbClr val="F5F2E9"/>
                </a:solidFill>
                <a:latin typeface="DejaVu Sans"/>
                <a:ea typeface="DejaVu Sans"/>
                <a:cs typeface="DejaVu Sans"/>
              </a:defRPr>
            </a:pPr>
            <a:r>
              <a:rPr sz="2400" b="0">
                <a:solidFill>
                  <a:srgbClr val="F5F2E9"/>
                </a:solidFill>
                <a:latin typeface="DejaVu Sans"/>
                <a:ea typeface="DejaVu Sans"/>
                <a:cs typeface="DejaVu Sans"/>
              </a:rPr>
              <a:t>A measurable baseline</a:t>
            </a:r>
          </a:p>
        </p:txBody>
      </p:sp>
      <p:sp>
        <p:nvSpPr>
          <p:cNvPr id="7" name="text-6">
            <a:extLst xmlns:a="http://schemas.openxmlformats.org/drawingml/2006/main">
              <a:ext uri="{FF2B5EF4-FFF2-40B4-BE49-F238E27FC236}">
                <a16:creationId xmlns:a16="http://schemas.microsoft.com/office/drawing/2014/main" id="{745B0BD9-EA29-4B53-8308-A9D075DACAE7}"/>
              </a:ext>
            </a:extLst>
          </p:cNvPr>
          <p:cNvSpPr>
            <a:spLocks xmlns:a="http://schemas.openxmlformats.org/drawingml/2006/main" noGrp="1"/>
          </p:cNvSpPr>
          <p:nvPr/>
        </p:nvSpPr>
        <p:spPr>
          <a:xfrm xmlns:a="http://schemas.openxmlformats.org/drawingml/2006/main">
            <a:off x="704850" y="5886450"/>
            <a:ext cx="10382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B9F3D4"/>
                </a:solidFill>
                <a:latin typeface="DejaVu Sans"/>
                <a:ea typeface="DejaVu Sans"/>
                <a:cs typeface="DejaVu Sans"/>
              </a:defRPr>
            </a:defPPr>
          </a:lstStyle>
          <a:p xmlns:a="http://schemas.openxmlformats.org/drawingml/2006/main">
            <a:pPr>
              <a:defRPr sz="1275" b="0">
                <a:solidFill>
                  <a:srgbClr val="B9F3D4"/>
                </a:solidFill>
                <a:latin typeface="DejaVu Sans"/>
                <a:ea typeface="DejaVu Sans"/>
                <a:cs typeface="DejaVu Sans"/>
              </a:defRPr>
            </a:pPr>
            <a:r>
              <a:rPr sz="1275" b="0">
                <a:solidFill>
                  <a:srgbClr val="B9F3D4"/>
                </a:solidFill>
                <a:latin typeface="DejaVu Sans"/>
                <a:ea typeface="DejaVu Sans"/>
                <a:cs typeface="DejaVu Sans"/>
              </a:rPr>
              <a:t>Pilot recruitment targets. No sites or users have been acquired.</a:t>
            </a:r>
          </a:p>
        </p:txBody>
      </p:sp>
    </p:spTree>
    <p:extLst>
      <p:ext uri="{BB962C8B-B14F-4D97-AF65-F5344CB8AC3E}">
        <p14:creationId xmlns:p14="http://schemas.microsoft.com/office/powerpoint/2010/main" val="182908091"/>
      </p:ext>
    </p:extLst>
  </p:cSld>
</p:sld>
</file>

<file path=ppt/slides/slide5.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5614A38A-7D96-48FD-8B95-8567A9D6B62F}"/>
              </a:ext>
            </a:extLst>
          </p:cNvPr>
          <p:cNvSpPr>
            <a:spLocks xmlns:a="http://schemas.openxmlformats.org/drawingml/2006/main" noGrp="1"/>
          </p:cNvSpPr>
          <p:nvPr/>
        </p:nvSpPr>
        <p:spPr>
          <a:xfrm xmlns:a="http://schemas.openxmlformats.org/drawingml/2006/main">
            <a:off x="685800" y="581025"/>
            <a:ext cx="108204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600" b="1">
                <a:solidFill>
                  <a:srgbClr val="112D32"/>
                </a:solidFill>
                <a:latin typeface="DejaVu Sans"/>
                <a:ea typeface="DejaVu Sans"/>
                <a:cs typeface="DejaVu Sans"/>
              </a:defRPr>
            </a:defPPr>
          </a:lstStyle>
          <a:p xmlns:a="http://schemas.openxmlformats.org/drawingml/2006/main">
            <a:pPr>
              <a:defRPr sz="3600" b="1">
                <a:solidFill>
                  <a:srgbClr val="112D32"/>
                </a:solidFill>
                <a:latin typeface="DejaVu Sans"/>
                <a:ea typeface="DejaVu Sans"/>
                <a:cs typeface="DejaVu Sans"/>
              </a:defRPr>
            </a:pPr>
            <a:r>
              <a:rPr sz="3600" b="1">
                <a:solidFill>
                  <a:srgbClr val="112D32"/>
                </a:solidFill>
                <a:latin typeface="DejaVu Sans"/>
                <a:ea typeface="DejaVu Sans"/>
                <a:cs typeface="DejaVu Sans"/>
              </a:rPr>
              <a:t>Pakistan already has competitors</a:t>
            </a:r>
          </a:p>
        </p:txBody>
      </p:sp>
      <p:sp>
        <p:nvSpPr>
          <p:cNvPr id="2" name="text-1">
            <a:extLst xmlns:a="http://schemas.openxmlformats.org/drawingml/2006/main">
              <a:ext uri="{FF2B5EF4-FFF2-40B4-BE49-F238E27FC236}">
                <a16:creationId xmlns:a16="http://schemas.microsoft.com/office/drawing/2014/main" id="{8EEE14B2-D9B3-4052-A974-B5CE0C873328}"/>
              </a:ext>
            </a:extLst>
          </p:cNvPr>
          <p:cNvSpPr>
            <a:spLocks xmlns:a="http://schemas.openxmlformats.org/drawingml/2006/main" noGrp="1"/>
          </p:cNvSpPr>
          <p:nvPr/>
        </p:nvSpPr>
        <p:spPr>
          <a:xfrm xmlns:a="http://schemas.openxmlformats.org/drawingml/2006/main">
            <a:off x="704850" y="1619250"/>
            <a:ext cx="10668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5C6D6B"/>
                </a:solidFill>
                <a:latin typeface="DejaVu Sans"/>
                <a:ea typeface="DejaVu Sans"/>
                <a:cs typeface="DejaVu Sans"/>
              </a:defRPr>
            </a:defPPr>
          </a:lstStyle>
          <a:p xmlns:a="http://schemas.openxmlformats.org/drawingml/2006/main">
            <a:pPr>
              <a:defRPr sz="1725" b="0">
                <a:solidFill>
                  <a:srgbClr val="5C6D6B"/>
                </a:solidFill>
                <a:latin typeface="DejaVu Sans"/>
                <a:ea typeface="DejaVu Sans"/>
                <a:cs typeface="DejaVu Sans"/>
              </a:defRPr>
            </a:pPr>
            <a:r>
              <a:rPr sz="1725" b="0">
                <a:solidFill>
                  <a:srgbClr val="5C6D6B"/>
                </a:solidFill>
                <a:latin typeface="DejaVu Sans"/>
                <a:ea typeface="DejaVu Sans"/>
                <a:cs typeface="DejaVu Sans"/>
              </a:rPr>
              <a:t>Published product claims and prices, checked 15 October 2026</a:t>
            </a:r>
          </a:p>
        </p:txBody>
      </p:sp>
      <p:sp>
        <p:nvSpPr>
          <p:cNvPr id="3" name="text-2">
            <a:extLst xmlns:a="http://schemas.openxmlformats.org/drawingml/2006/main">
              <a:ext uri="{FF2B5EF4-FFF2-40B4-BE49-F238E27FC236}">
                <a16:creationId xmlns:a16="http://schemas.microsoft.com/office/drawing/2014/main" id="{F873DC35-EF32-4645-AC27-83AC97C11577}"/>
              </a:ext>
            </a:extLst>
          </p:cNvPr>
          <p:cNvSpPr>
            <a:spLocks xmlns:a="http://schemas.openxmlformats.org/drawingml/2006/main" noGrp="1"/>
          </p:cNvSpPr>
          <p:nvPr/>
        </p:nvSpPr>
        <p:spPr>
          <a:xfrm xmlns:a="http://schemas.openxmlformats.org/drawingml/2006/main">
            <a:off x="10953750" y="6334125"/>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5C6D6B"/>
                </a:solidFill>
                <a:latin typeface="DejaVu Sans"/>
                <a:ea typeface="DejaVu Sans"/>
                <a:cs typeface="DejaVu Sans"/>
              </a:defRPr>
            </a:defPPr>
          </a:lstStyle>
          <a:p xmlns:a="http://schemas.openxmlformats.org/drawingml/2006/main">
            <a:pPr>
              <a:defRPr sz="1275" b="0">
                <a:solidFill>
                  <a:srgbClr val="5C6D6B"/>
                </a:solidFill>
                <a:latin typeface="DejaVu Sans"/>
                <a:ea typeface="DejaVu Sans"/>
                <a:cs typeface="DejaVu Sans"/>
              </a:defRPr>
            </a:pPr>
            <a:r>
              <a:rPr sz="1275" b="0">
                <a:solidFill>
                  <a:srgbClr val="5C6D6B"/>
                </a:solidFill>
                <a:latin typeface="DejaVu Sans"/>
                <a:ea typeface="DejaVu Sans"/>
                <a:cs typeface="DejaVu Sans"/>
              </a:rPr>
              <a:t>05</a:t>
            </a:r>
          </a:p>
        </p:txBody>
      </p:sp>
      <p:graphicFrame>
        <p:nvGraphicFramePr>
          <p:cNvPr id="4" name="">
            <a:extLst xmlns:a="http://schemas.openxmlformats.org/drawingml/2006/main">
              <a:ext uri="{FF2B5EF4-FFF2-40B4-BE49-F238E27FC236}">
                <a16:creationId xmlns:a16="http://schemas.microsoft.com/office/drawing/2014/main" id="{DC647243-8871-40EF-96A3-074FB0777FEE}"/>
              </a:ext>
            </a:extLst>
          </p:cNvPr>
          <p:cNvGraphicFramePr/>
          <p:nvPr/>
        </p:nvGraphicFramePr>
        <p:xfrm>
          <a:off xmlns:a="http://schemas.openxmlformats.org/drawingml/2006/main" x="685800" y="2362200"/>
          <a:ext xmlns:a="http://schemas.openxmlformats.org/drawingml/2006/main" cx="10820400" cy="3257550"/>
        </p:xfrm>
        <a:graphic xmlns:a="http://schemas.openxmlformats.org/drawingml/2006/main">
          <a:graphicData uri="http://schemas.openxmlformats.org/drawingml/2006/table">
            <a:tbl>
              <a:tblPr/>
              <a:tblGrid>
                <a:gridCol w="2381250"/>
                <a:gridCol w="5010150"/>
                <a:gridCol w="3429000"/>
              </a:tblGrid>
              <a:tr h="542925">
                <a:tc>
                  <a:txBody>
                    <a:bodyPr lIns="114300" tIns="114300" rIns="114300" bIns="114300"/>
                    <a:lstStyle/>
                    <a:p>
                      <a:r>
                        <a:rPr sz="1725" b="1">
                          <a:solidFill>
                            <a:srgbClr val="F5F2E9"/>
                          </a:solidFill>
                          <a:latin typeface="DejaVu Sans"/>
                          <a:ea typeface="DejaVu Sans"/>
                          <a:cs typeface="DejaVu Sans"/>
                        </a:rPr>
                        <a:t>Offering</a:t>
                      </a:r>
                    </a:p>
                  </a:txBody>
                  <a:tcPr marL="91440" marR="91440" marT="45720" marB="45720">
                    <a:lnL w="9525">
                      <a:solidFill>
                        <a:srgbClr val="D4DDD5"/>
                      </a:solidFill>
                      <a:prstDash val="solid"/>
                    </a:lnL>
                    <a:lnR w="9525">
                      <a:solidFill>
                        <a:srgbClr val="D4DDD5"/>
                      </a:solidFill>
                      <a:prstDash val="solid"/>
                    </a:lnR>
                    <a:lnT w="9525">
                      <a:solidFill>
                        <a:srgbClr val="D4DDD5"/>
                      </a:solidFill>
                      <a:prstDash val="solid"/>
                    </a:lnT>
                    <a:lnB w="9525">
                      <a:solidFill>
                        <a:srgbClr val="D4DDD5"/>
                      </a:solidFill>
                      <a:prstDash val="solid"/>
                    </a:lnB>
                    <a:solidFill>
                      <a:srgbClr val="112D32"/>
                    </a:solidFill>
                  </a:tcPr>
                </a:tc>
                <a:tc>
                  <a:txBody>
                    <a:bodyPr lIns="114300" tIns="114300" rIns="114300" bIns="114300"/>
                    <a:lstStyle/>
                    <a:p>
                      <a:r>
                        <a:rPr sz="1725" b="1">
                          <a:solidFill>
                            <a:srgbClr val="F5F2E9"/>
                          </a:solidFill>
                          <a:latin typeface="DejaVu Sans"/>
                          <a:ea typeface="DejaVu Sans"/>
                          <a:cs typeface="DejaVu Sans"/>
                        </a:rPr>
                        <a:t>Observed emphasis</a:t>
                      </a:r>
                    </a:p>
                  </a:txBody>
                  <a:tcPr marL="91440" marR="91440" marT="45720" marB="45720">
                    <a:lnR w="9525">
                      <a:solidFill>
                        <a:srgbClr val="D4DDD5"/>
                      </a:solidFill>
                      <a:prstDash val="solid"/>
                    </a:lnR>
                    <a:lnT w="9525">
                      <a:solidFill>
                        <a:srgbClr val="D4DDD5"/>
                      </a:solidFill>
                      <a:prstDash val="solid"/>
                    </a:lnT>
                    <a:lnB w="9525">
                      <a:solidFill>
                        <a:srgbClr val="D4DDD5"/>
                      </a:solidFill>
                      <a:prstDash val="solid"/>
                    </a:lnB>
                    <a:solidFill>
                      <a:srgbClr val="112D32"/>
                    </a:solidFill>
                  </a:tcPr>
                </a:tc>
                <a:tc>
                  <a:txBody>
                    <a:bodyPr lIns="114300" tIns="114300" rIns="114300" bIns="114300"/>
                    <a:lstStyle/>
                    <a:p>
                      <a:r>
                        <a:rPr sz="1725" b="1">
                          <a:solidFill>
                            <a:srgbClr val="F5F2E9"/>
                          </a:solidFill>
                          <a:latin typeface="DejaVu Sans"/>
                          <a:ea typeface="DejaVu Sans"/>
                          <a:cs typeface="DejaVu Sans"/>
                        </a:rPr>
                        <a:t>Price evidence</a:t>
                      </a:r>
                    </a:p>
                  </a:txBody>
                  <a:tcPr marL="91440" marR="91440" marT="45720" marB="45720">
                    <a:lnR w="9525">
                      <a:solidFill>
                        <a:srgbClr val="D4DDD5"/>
                      </a:solidFill>
                      <a:prstDash val="solid"/>
                    </a:lnR>
                    <a:lnT w="9525">
                      <a:solidFill>
                        <a:srgbClr val="D4DDD5"/>
                      </a:solidFill>
                      <a:prstDash val="solid"/>
                    </a:lnT>
                    <a:lnB w="9525">
                      <a:solidFill>
                        <a:srgbClr val="D4DDD5"/>
                      </a:solidFill>
                      <a:prstDash val="solid"/>
                    </a:lnB>
                    <a:solidFill>
                      <a:srgbClr val="112D32"/>
                    </a:solidFill>
                  </a:tcPr>
                </a:tc>
              </a:tr>
              <a:tr h="542925">
                <a:tc>
                  <a:txBody>
                    <a:bodyPr lIns="114300" tIns="114300" rIns="114300" bIns="114300"/>
                    <a:lstStyle/>
                    <a:p>
                      <a:r>
                        <a:rPr sz="1725" b="0">
                          <a:solidFill>
                            <a:srgbClr val="112D32"/>
                          </a:solidFill>
                          <a:latin typeface="DejaVu Sans"/>
                          <a:ea typeface="DejaVu Sans"/>
                          <a:cs typeface="DejaVu Sans"/>
                        </a:rPr>
                        <a:t>CarQR</a:t>
                      </a:r>
                    </a:p>
                  </a:txBody>
                  <a:tcPr marL="91440" marR="91440" marT="45720" marB="45720">
                    <a:lnL w="9525">
                      <a:solidFill>
                        <a:srgbClr val="D4DDD5"/>
                      </a:solidFill>
                      <a:prstDash val="solid"/>
                    </a:lnL>
                    <a:lnR w="9525">
                      <a:solidFill>
                        <a:srgbClr val="D4DDD5"/>
                      </a:solidFill>
                      <a:prstDash val="solid"/>
                    </a:lnR>
                    <a:lnB w="9525">
                      <a:solidFill>
                        <a:srgbClr val="D4DDD5"/>
                      </a:solidFill>
                      <a:prstDash val="solid"/>
                    </a:lnB>
                    <a:solidFill>
                      <a:srgbClr val="FFFFFF"/>
                    </a:solidFill>
                  </a:tcPr>
                </a:tc>
                <a:tc>
                  <a:txBody>
                    <a:bodyPr lIns="114300" tIns="114300" rIns="114300" bIns="114300"/>
                    <a:lstStyle/>
                    <a:p>
                      <a:r>
                        <a:rPr sz="1725" b="0">
                          <a:solidFill>
                            <a:srgbClr val="112D32"/>
                          </a:solidFill>
                          <a:latin typeface="DejaVu Sans"/>
                          <a:ea typeface="DejaVu Sans"/>
                          <a:cs typeface="DejaVu Sans"/>
                        </a:rPr>
                        <a:t>Vehicle contact privacy</a:t>
                      </a:r>
                    </a:p>
                  </a:txBody>
                  <a:tcPr marL="91440" marR="91440" marT="45720" marB="45720">
                    <a:lnR w="9525">
                      <a:solidFill>
                        <a:srgbClr val="D4DDD5"/>
                      </a:solidFill>
                      <a:prstDash val="solid"/>
                    </a:lnR>
                    <a:lnB w="9525">
                      <a:solidFill>
                        <a:srgbClr val="D4DDD5"/>
                      </a:solidFill>
                      <a:prstDash val="solid"/>
                    </a:lnB>
                    <a:solidFill>
                      <a:srgbClr val="FFFFFF"/>
                    </a:solidFill>
                  </a:tcPr>
                </a:tc>
                <a:tc>
                  <a:txBody>
                    <a:bodyPr lIns="114300" tIns="114300" rIns="114300" bIns="114300"/>
                    <a:lstStyle/>
                    <a:p>
                      <a:r>
                        <a:rPr sz="1725" b="0">
                          <a:solidFill>
                            <a:srgbClr val="112D32"/>
                          </a:solidFill>
                          <a:latin typeface="DejaVu Sans"/>
                          <a:ea typeface="DejaVu Sans"/>
                          <a:cs typeface="DejaVu Sans"/>
                        </a:rPr>
                        <a:t>Not verified</a:t>
                      </a:r>
                    </a:p>
                  </a:txBody>
                  <a:tcPr marL="91440" marR="91440" marT="45720" marB="45720">
                    <a:lnR w="9525">
                      <a:solidFill>
                        <a:srgbClr val="D4DDD5"/>
                      </a:solidFill>
                      <a:prstDash val="solid"/>
                    </a:lnR>
                    <a:lnB w="9525">
                      <a:solidFill>
                        <a:srgbClr val="D4DDD5"/>
                      </a:solidFill>
                      <a:prstDash val="solid"/>
                    </a:lnB>
                    <a:solidFill>
                      <a:srgbClr val="FFFFFF"/>
                    </a:solidFill>
                  </a:tcPr>
                </a:tc>
              </a:tr>
              <a:tr h="542925">
                <a:tc>
                  <a:txBody>
                    <a:bodyPr lIns="114300" tIns="114300" rIns="114300" bIns="114300"/>
                    <a:lstStyle/>
                    <a:p>
                      <a:r>
                        <a:rPr sz="1725" b="0">
                          <a:solidFill>
                            <a:srgbClr val="112D32"/>
                          </a:solidFill>
                          <a:latin typeface="DejaVu Sans"/>
                          <a:ea typeface="DejaVu Sans"/>
                          <a:cs typeface="DejaVu Sans"/>
                        </a:rPr>
                        <a:t>Amanat</a:t>
                      </a:r>
                    </a:p>
                  </a:txBody>
                  <a:tcPr marL="91440" marR="91440" marT="45720" marB="45720">
                    <a:lnL w="9525">
                      <a:solidFill>
                        <a:srgbClr val="D4DDD5"/>
                      </a:solidFill>
                      <a:prstDash val="solid"/>
                    </a:lnL>
                    <a:lnR w="9525">
                      <a:solidFill>
                        <a:srgbClr val="D4DDD5"/>
                      </a:solidFill>
                      <a:prstDash val="solid"/>
                    </a:lnR>
                    <a:lnB w="9525">
                      <a:solidFill>
                        <a:srgbClr val="D4DDD5"/>
                      </a:solidFill>
                      <a:prstDash val="solid"/>
                    </a:lnB>
                    <a:solidFill>
                      <a:srgbClr val="F5F2E9"/>
                    </a:solidFill>
                  </a:tcPr>
                </a:tc>
                <a:tc>
                  <a:txBody>
                    <a:bodyPr lIns="114300" tIns="114300" rIns="114300" bIns="114300"/>
                    <a:lstStyle/>
                    <a:p>
                      <a:r>
                        <a:rPr sz="1725" b="0">
                          <a:solidFill>
                            <a:srgbClr val="112D32"/>
                          </a:solidFill>
                          <a:latin typeface="DejaVu Sans"/>
                          <a:ea typeface="DejaVu Sans"/>
                          <a:cs typeface="DejaVu Sans"/>
                        </a:rPr>
                        <a:t>Parking stickers / masking claim</a:t>
                      </a:r>
                    </a:p>
                  </a:txBody>
                  <a:tcPr marL="91440" marR="91440" marT="45720" marB="45720">
                    <a:lnR w="9525">
                      <a:solidFill>
                        <a:srgbClr val="D4DDD5"/>
                      </a:solidFill>
                      <a:prstDash val="solid"/>
                    </a:lnR>
                    <a:lnB w="9525">
                      <a:solidFill>
                        <a:srgbClr val="D4DDD5"/>
                      </a:solidFill>
                      <a:prstDash val="solid"/>
                    </a:lnB>
                    <a:solidFill>
                      <a:srgbClr val="F5F2E9"/>
                    </a:solidFill>
                  </a:tcPr>
                </a:tc>
                <a:tc>
                  <a:txBody>
                    <a:bodyPr lIns="114300" tIns="114300" rIns="114300" bIns="114300"/>
                    <a:lstStyle/>
                    <a:p>
                      <a:r>
                        <a:rPr sz="1725" b="0">
                          <a:solidFill>
                            <a:srgbClr val="112D32"/>
                          </a:solidFill>
                          <a:latin typeface="DejaVu Sans"/>
                          <a:ea typeface="DejaVu Sans"/>
                          <a:cs typeface="DejaVu Sans"/>
                        </a:rPr>
                        <a:t>PKR 499 + delivery</a:t>
                      </a:r>
                    </a:p>
                  </a:txBody>
                  <a:tcPr marL="91440" marR="91440" marT="45720" marB="45720">
                    <a:lnR w="9525">
                      <a:solidFill>
                        <a:srgbClr val="D4DDD5"/>
                      </a:solidFill>
                      <a:prstDash val="solid"/>
                    </a:lnR>
                    <a:lnB w="9525">
                      <a:solidFill>
                        <a:srgbClr val="D4DDD5"/>
                      </a:solidFill>
                      <a:prstDash val="solid"/>
                    </a:lnB>
                    <a:solidFill>
                      <a:srgbClr val="F5F2E9"/>
                    </a:solidFill>
                  </a:tcPr>
                </a:tc>
              </a:tr>
              <a:tr h="542925">
                <a:tc>
                  <a:txBody>
                    <a:bodyPr lIns="114300" tIns="114300" rIns="114300" bIns="114300"/>
                    <a:lstStyle/>
                    <a:p>
                      <a:r>
                        <a:rPr sz="1725" b="0">
                          <a:solidFill>
                            <a:srgbClr val="112D32"/>
                          </a:solidFill>
                          <a:latin typeface="DejaVu Sans"/>
                          <a:ea typeface="DejaVu Sans"/>
                          <a:cs typeface="DejaVu Sans"/>
                        </a:rPr>
                        <a:t>TrackMate</a:t>
                      </a:r>
                    </a:p>
                  </a:txBody>
                  <a:tcPr marL="91440" marR="91440" marT="45720" marB="45720">
                    <a:lnL w="9525">
                      <a:solidFill>
                        <a:srgbClr val="D4DDD5"/>
                      </a:solidFill>
                      <a:prstDash val="solid"/>
                    </a:lnL>
                    <a:lnR w="9525">
                      <a:solidFill>
                        <a:srgbClr val="D4DDD5"/>
                      </a:solidFill>
                      <a:prstDash val="solid"/>
                    </a:lnR>
                    <a:lnB w="9525">
                      <a:solidFill>
                        <a:srgbClr val="D4DDD5"/>
                      </a:solidFill>
                      <a:prstDash val="solid"/>
                    </a:lnB>
                    <a:solidFill>
                      <a:srgbClr val="FFFFFF"/>
                    </a:solidFill>
                  </a:tcPr>
                </a:tc>
                <a:tc>
                  <a:txBody>
                    <a:bodyPr lIns="114300" tIns="114300" rIns="114300" bIns="114300"/>
                    <a:lstStyle/>
                    <a:p>
                      <a:r>
                        <a:rPr sz="1725" b="0">
                          <a:solidFill>
                            <a:srgbClr val="112D32"/>
                          </a:solidFill>
                          <a:latin typeface="DejaVu Sans"/>
                          <a:ea typeface="DejaVu Sans"/>
                          <a:cs typeface="DejaVu Sans"/>
                        </a:rPr>
                        <a:t>Gateway / WebRTC audio</a:t>
                      </a:r>
                    </a:p>
                  </a:txBody>
                  <a:tcPr marL="91440" marR="91440" marT="45720" marB="45720">
                    <a:lnR w="9525">
                      <a:solidFill>
                        <a:srgbClr val="D4DDD5"/>
                      </a:solidFill>
                      <a:prstDash val="solid"/>
                    </a:lnR>
                    <a:lnB w="9525">
                      <a:solidFill>
                        <a:srgbClr val="D4DDD5"/>
                      </a:solidFill>
                      <a:prstDash val="solid"/>
                    </a:lnB>
                    <a:solidFill>
                      <a:srgbClr val="FFFFFF"/>
                    </a:solidFill>
                  </a:tcPr>
                </a:tc>
                <a:tc>
                  <a:txBody>
                    <a:bodyPr lIns="114300" tIns="114300" rIns="114300" bIns="114300"/>
                    <a:lstStyle/>
                    <a:p>
                      <a:r>
                        <a:rPr sz="1725" b="0">
                          <a:solidFill>
                            <a:srgbClr val="112D32"/>
                          </a:solidFill>
                          <a:latin typeface="DejaVu Sans"/>
                          <a:ea typeface="DejaVu Sans"/>
                          <a:cs typeface="DejaVu Sans"/>
                        </a:rPr>
                        <a:t>PKR 1,499</a:t>
                      </a:r>
                    </a:p>
                  </a:txBody>
                  <a:tcPr marL="91440" marR="91440" marT="45720" marB="45720">
                    <a:lnR w="9525">
                      <a:solidFill>
                        <a:srgbClr val="D4DDD5"/>
                      </a:solidFill>
                      <a:prstDash val="solid"/>
                    </a:lnR>
                    <a:lnB w="9525">
                      <a:solidFill>
                        <a:srgbClr val="D4DDD5"/>
                      </a:solidFill>
                      <a:prstDash val="solid"/>
                    </a:lnB>
                    <a:solidFill>
                      <a:srgbClr val="FFFFFF"/>
                    </a:solidFill>
                  </a:tcPr>
                </a:tc>
              </a:tr>
              <a:tr h="542925">
                <a:tc>
                  <a:txBody>
                    <a:bodyPr lIns="114300" tIns="114300" rIns="114300" bIns="114300"/>
                    <a:lstStyle/>
                    <a:p>
                      <a:r>
                        <a:rPr sz="1725" b="0">
                          <a:solidFill>
                            <a:srgbClr val="112D32"/>
                          </a:solidFill>
                          <a:latin typeface="DejaVu Sans"/>
                          <a:ea typeface="DejaVu Sans"/>
                          <a:cs typeface="DejaVu Sans"/>
                        </a:rPr>
                        <a:t>Qonnect</a:t>
                      </a:r>
                    </a:p>
                  </a:txBody>
                  <a:tcPr marL="91440" marR="91440" marT="45720" marB="45720">
                    <a:lnL w="9525">
                      <a:solidFill>
                        <a:srgbClr val="D4DDD5"/>
                      </a:solidFill>
                      <a:prstDash val="solid"/>
                    </a:lnL>
                    <a:lnR w="9525">
                      <a:solidFill>
                        <a:srgbClr val="D4DDD5"/>
                      </a:solidFill>
                      <a:prstDash val="solid"/>
                    </a:lnR>
                    <a:lnB w="9525">
                      <a:solidFill>
                        <a:srgbClr val="D4DDD5"/>
                      </a:solidFill>
                      <a:prstDash val="solid"/>
                    </a:lnB>
                    <a:solidFill>
                      <a:srgbClr val="F5F2E9"/>
                    </a:solidFill>
                  </a:tcPr>
                </a:tc>
                <a:tc>
                  <a:txBody>
                    <a:bodyPr lIns="114300" tIns="114300" rIns="114300" bIns="114300"/>
                    <a:lstStyle/>
                    <a:p>
                      <a:r>
                        <a:rPr sz="1725" b="0">
                          <a:solidFill>
                            <a:srgbClr val="112D32"/>
                          </a:solidFill>
                          <a:latin typeface="DejaVu Sans"/>
                          <a:ea typeface="DejaVu Sans"/>
                          <a:cs typeface="DejaVu Sans"/>
                        </a:rPr>
                        <a:t>WhatsApp QR contact</a:t>
                      </a:r>
                    </a:p>
                  </a:txBody>
                  <a:tcPr marL="91440" marR="91440" marT="45720" marB="45720">
                    <a:lnR w="9525">
                      <a:solidFill>
                        <a:srgbClr val="D4DDD5"/>
                      </a:solidFill>
                      <a:prstDash val="solid"/>
                    </a:lnR>
                    <a:lnB w="9525">
                      <a:solidFill>
                        <a:srgbClr val="D4DDD5"/>
                      </a:solidFill>
                      <a:prstDash val="solid"/>
                    </a:lnB>
                    <a:solidFill>
                      <a:srgbClr val="F5F2E9"/>
                    </a:solidFill>
                  </a:tcPr>
                </a:tc>
                <a:tc>
                  <a:txBody>
                    <a:bodyPr lIns="114300" tIns="114300" rIns="114300" bIns="114300"/>
                    <a:lstStyle/>
                    <a:p>
                      <a:r>
                        <a:rPr sz="1725" b="0">
                          <a:solidFill>
                            <a:srgbClr val="112D32"/>
                          </a:solidFill>
                          <a:latin typeface="DejaVu Sans"/>
                          <a:ea typeface="DejaVu Sans"/>
                          <a:cs typeface="DejaVu Sans"/>
                        </a:rPr>
                        <a:t>PKR 1,780*</a:t>
                      </a:r>
                    </a:p>
                  </a:txBody>
                  <a:tcPr marL="91440" marR="91440" marT="45720" marB="45720">
                    <a:lnR w="9525">
                      <a:solidFill>
                        <a:srgbClr val="D4DDD5"/>
                      </a:solidFill>
                      <a:prstDash val="solid"/>
                    </a:lnR>
                    <a:lnB w="9525">
                      <a:solidFill>
                        <a:srgbClr val="D4DDD5"/>
                      </a:solidFill>
                      <a:prstDash val="solid"/>
                    </a:lnB>
                    <a:solidFill>
                      <a:srgbClr val="F5F2E9"/>
                    </a:solidFill>
                  </a:tcPr>
                </a:tc>
              </a:tr>
              <a:tr h="542925">
                <a:tc>
                  <a:txBody>
                    <a:bodyPr lIns="114300" tIns="114300" rIns="114300" bIns="114300"/>
                    <a:lstStyle/>
                    <a:p>
                      <a:r>
                        <a:rPr sz="1725" b="0">
                          <a:solidFill>
                            <a:srgbClr val="112D32"/>
                          </a:solidFill>
                          <a:latin typeface="DejaVu Sans"/>
                          <a:ea typeface="DejaVu Sans"/>
                          <a:cs typeface="DejaVu Sans"/>
                        </a:rPr>
                        <a:t>Nishaaan</a:t>
                      </a:r>
                    </a:p>
                  </a:txBody>
                  <a:tcPr marL="91440" marR="91440" marT="45720" marB="45720">
                    <a:lnL w="9525">
                      <a:solidFill>
                        <a:srgbClr val="D4DDD5"/>
                      </a:solidFill>
                      <a:prstDash val="solid"/>
                    </a:lnL>
                    <a:lnR w="9525">
                      <a:solidFill>
                        <a:srgbClr val="D4DDD5"/>
                      </a:solidFill>
                      <a:prstDash val="solid"/>
                    </a:lnR>
                    <a:lnB w="9525">
                      <a:solidFill>
                        <a:srgbClr val="D4DDD5"/>
                      </a:solidFill>
                      <a:prstDash val="solid"/>
                    </a:lnB>
                    <a:solidFill>
                      <a:srgbClr val="FFFFFF"/>
                    </a:solidFill>
                  </a:tcPr>
                </a:tc>
                <a:tc>
                  <a:txBody>
                    <a:bodyPr lIns="114300" tIns="114300" rIns="114300" bIns="114300"/>
                    <a:lstStyle/>
                    <a:p>
                      <a:r>
                        <a:rPr sz="1725" b="0">
                          <a:solidFill>
                            <a:srgbClr val="112D32"/>
                          </a:solidFill>
                          <a:latin typeface="DejaVu Sans"/>
                          <a:ea typeface="DejaVu Sans"/>
                          <a:cs typeface="DejaVu Sans"/>
                        </a:rPr>
                        <a:t>Vehicle and asset tags</a:t>
                      </a:r>
                    </a:p>
                  </a:txBody>
                  <a:tcPr marL="91440" marR="91440" marT="45720" marB="45720">
                    <a:lnR w="9525">
                      <a:solidFill>
                        <a:srgbClr val="D4DDD5"/>
                      </a:solidFill>
                      <a:prstDash val="solid"/>
                    </a:lnR>
                    <a:lnB w="9525">
                      <a:solidFill>
                        <a:srgbClr val="D4DDD5"/>
                      </a:solidFill>
                      <a:prstDash val="solid"/>
                    </a:lnB>
                    <a:solidFill>
                      <a:srgbClr val="FFFFFF"/>
                    </a:solidFill>
                  </a:tcPr>
                </a:tc>
                <a:tc>
                  <a:txBody>
                    <a:bodyPr lIns="114300" tIns="114300" rIns="114300" bIns="114300"/>
                    <a:lstStyle/>
                    <a:p>
                      <a:r>
                        <a:rPr sz="1725" b="0">
                          <a:solidFill>
                            <a:srgbClr val="112D32"/>
                          </a:solidFill>
                          <a:latin typeface="DejaVu Sans"/>
                          <a:ea typeface="DejaVu Sans"/>
                          <a:cs typeface="DejaVu Sans"/>
                        </a:rPr>
                        <a:t>Not verified</a:t>
                      </a:r>
                    </a:p>
                  </a:txBody>
                  <a:tcPr marL="91440" marR="91440" marT="45720" marB="45720">
                    <a:lnR w="9525">
                      <a:solidFill>
                        <a:srgbClr val="D4DDD5"/>
                      </a:solidFill>
                      <a:prstDash val="solid"/>
                    </a:lnR>
                    <a:lnB w="9525">
                      <a:solidFill>
                        <a:srgbClr val="D4DDD5"/>
                      </a:solidFill>
                      <a:prstDash val="solid"/>
                    </a:lnB>
                    <a:solidFill>
                      <a:srgbClr val="FFFFFF"/>
                    </a:solidFill>
                  </a:tcPr>
                </a:tc>
              </a:tr>
            </a:tbl>
          </a:graphicData>
        </a:graphic>
      </p:graphicFrame>
      <p:sp>
        <p:nvSpPr>
          <p:cNvPr id="5" name="text-3">
            <a:extLst xmlns:a="http://schemas.openxmlformats.org/drawingml/2006/main">
              <a:ext uri="{FF2B5EF4-FFF2-40B4-BE49-F238E27FC236}">
                <a16:creationId xmlns:a16="http://schemas.microsoft.com/office/drawing/2014/main" id="{8A84EC15-5DE4-4ED3-A4BB-0A05307B9058}"/>
              </a:ext>
            </a:extLst>
          </p:cNvPr>
          <p:cNvSpPr>
            <a:spLocks xmlns:a="http://schemas.openxmlformats.org/drawingml/2006/main" noGrp="1"/>
          </p:cNvSpPr>
          <p:nvPr/>
        </p:nvSpPr>
        <p:spPr>
          <a:xfrm xmlns:a="http://schemas.openxmlformats.org/drawingml/2006/main">
            <a:off x="704850" y="5886450"/>
            <a:ext cx="10382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5C6D6B"/>
                </a:solidFill>
                <a:latin typeface="DejaVu Sans"/>
                <a:ea typeface="DejaVu Sans"/>
                <a:cs typeface="DejaVu Sans"/>
              </a:defRPr>
            </a:defPPr>
          </a:lstStyle>
          <a:p xmlns:a="http://schemas.openxmlformats.org/drawingml/2006/main">
            <a:pPr>
              <a:defRPr sz="1275" b="0">
                <a:solidFill>
                  <a:srgbClr val="5C6D6B"/>
                </a:solidFill>
                <a:latin typeface="DejaVu Sans"/>
                <a:ea typeface="DejaVu Sans"/>
                <a:cs typeface="DejaVu Sans"/>
              </a:defRPr>
            </a:pPr>
            <a:r>
              <a:rPr sz="1275" b="0">
                <a:solidFill>
                  <a:srgbClr val="5C6D6B"/>
                </a:solidFill>
                <a:latin typeface="DejaVu Sans"/>
                <a:ea typeface="DejaVu Sans"/>
                <a:cs typeface="DejaVu Sans"/>
              </a:rPr>
              <a:t>*Qonnect: indexed official content only. Unknown features are not assumed absent.</a:t>
            </a:r>
          </a:p>
        </p:txBody>
      </p:sp>
    </p:spTree>
    <p:extLst>
      <p:ext uri="{BB962C8B-B14F-4D97-AF65-F5344CB8AC3E}">
        <p14:creationId xmlns:p14="http://schemas.microsoft.com/office/powerpoint/2010/main" val="783755968"/>
      </p:ext>
    </p:extLst>
  </p:cSld>
</p:sld>
</file>

<file path=ppt/slides/slide6.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16EAF9DD-DB49-4670-B6EC-19E757F08B34}"/>
              </a:ext>
            </a:extLst>
          </p:cNvPr>
          <p:cNvSpPr>
            <a:spLocks xmlns:a="http://schemas.openxmlformats.org/drawingml/2006/main" noGrp="1"/>
          </p:cNvSpPr>
          <p:nvPr/>
        </p:nvSpPr>
        <p:spPr>
          <a:xfrm xmlns:a="http://schemas.openxmlformats.org/drawingml/2006/main">
            <a:off x="685800" y="581025"/>
            <a:ext cx="108204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600" b="1">
                <a:solidFill>
                  <a:srgbClr val="112D32"/>
                </a:solidFill>
                <a:latin typeface="DejaVu Sans"/>
                <a:ea typeface="DejaVu Sans"/>
                <a:cs typeface="DejaVu Sans"/>
              </a:defRPr>
            </a:defPPr>
          </a:lstStyle>
          <a:p xmlns:a="http://schemas.openxmlformats.org/drawingml/2006/main">
            <a:pPr>
              <a:defRPr sz="3600" b="1">
                <a:solidFill>
                  <a:srgbClr val="112D32"/>
                </a:solidFill>
                <a:latin typeface="DejaVu Sans"/>
                <a:ea typeface="DejaVu Sans"/>
                <a:cs typeface="DejaVu Sans"/>
              </a:defRPr>
            </a:pPr>
            <a:r>
              <a:rPr sz="3600" b="1">
                <a:solidFill>
                  <a:srgbClr val="112D32"/>
                </a:solidFill>
                <a:latin typeface="DejaVu Sans"/>
                <a:ea typeface="DejaVu Sans"/>
                <a:cs typeface="DejaVu Sans"/>
              </a:rPr>
              <a:t>International product benchmarks</a:t>
            </a:r>
          </a:p>
        </p:txBody>
      </p:sp>
      <p:sp>
        <p:nvSpPr>
          <p:cNvPr id="2" name="text-1">
            <a:extLst xmlns:a="http://schemas.openxmlformats.org/drawingml/2006/main">
              <a:ext uri="{FF2B5EF4-FFF2-40B4-BE49-F238E27FC236}">
                <a16:creationId xmlns:a16="http://schemas.microsoft.com/office/drawing/2014/main" id="{9B9730F8-8F93-4C98-8A27-700483B8BC00}"/>
              </a:ext>
            </a:extLst>
          </p:cNvPr>
          <p:cNvSpPr>
            <a:spLocks xmlns:a="http://schemas.openxmlformats.org/drawingml/2006/main" noGrp="1"/>
          </p:cNvSpPr>
          <p:nvPr/>
        </p:nvSpPr>
        <p:spPr>
          <a:xfrm xmlns:a="http://schemas.openxmlformats.org/drawingml/2006/main">
            <a:off x="704850" y="1619250"/>
            <a:ext cx="10668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5C6D6B"/>
                </a:solidFill>
                <a:latin typeface="DejaVu Sans"/>
                <a:ea typeface="DejaVu Sans"/>
                <a:cs typeface="DejaVu Sans"/>
              </a:defRPr>
            </a:defPPr>
          </a:lstStyle>
          <a:p xmlns:a="http://schemas.openxmlformats.org/drawingml/2006/main">
            <a:pPr>
              <a:defRPr sz="1725" b="0">
                <a:solidFill>
                  <a:srgbClr val="5C6D6B"/>
                </a:solidFill>
                <a:latin typeface="DejaVu Sans"/>
                <a:ea typeface="DejaVu Sans"/>
                <a:cs typeface="DejaVu Sans"/>
              </a:defRPr>
            </a:pPr>
            <a:r>
              <a:rPr sz="1725" b="0">
                <a:solidFill>
                  <a:srgbClr val="5C6D6B"/>
                </a:solidFill>
                <a:latin typeface="DejaVu Sans"/>
                <a:ea typeface="DejaVu Sans"/>
                <a:cs typeface="DejaVu Sans"/>
              </a:rPr>
              <a:t>The core idea is established. Local execution must earn its value.</a:t>
            </a:r>
          </a:p>
        </p:txBody>
      </p:sp>
      <p:sp>
        <p:nvSpPr>
          <p:cNvPr id="3" name="text-2">
            <a:extLst xmlns:a="http://schemas.openxmlformats.org/drawingml/2006/main">
              <a:ext uri="{FF2B5EF4-FFF2-40B4-BE49-F238E27FC236}">
                <a16:creationId xmlns:a16="http://schemas.microsoft.com/office/drawing/2014/main" id="{55A57B5F-BD31-47B0-942F-EC2C979CFCE2}"/>
              </a:ext>
            </a:extLst>
          </p:cNvPr>
          <p:cNvSpPr>
            <a:spLocks xmlns:a="http://schemas.openxmlformats.org/drawingml/2006/main" noGrp="1"/>
          </p:cNvSpPr>
          <p:nvPr/>
        </p:nvSpPr>
        <p:spPr>
          <a:xfrm xmlns:a="http://schemas.openxmlformats.org/drawingml/2006/main">
            <a:off x="10953750" y="6334125"/>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5C6D6B"/>
                </a:solidFill>
                <a:latin typeface="DejaVu Sans"/>
                <a:ea typeface="DejaVu Sans"/>
                <a:cs typeface="DejaVu Sans"/>
              </a:defRPr>
            </a:defPPr>
          </a:lstStyle>
          <a:p xmlns:a="http://schemas.openxmlformats.org/drawingml/2006/main">
            <a:pPr>
              <a:defRPr sz="1275" b="0">
                <a:solidFill>
                  <a:srgbClr val="5C6D6B"/>
                </a:solidFill>
                <a:latin typeface="DejaVu Sans"/>
                <a:ea typeface="DejaVu Sans"/>
                <a:cs typeface="DejaVu Sans"/>
              </a:defRPr>
            </a:pPr>
            <a:r>
              <a:rPr sz="1275" b="0">
                <a:solidFill>
                  <a:srgbClr val="5C6D6B"/>
                </a:solidFill>
                <a:latin typeface="DejaVu Sans"/>
                <a:ea typeface="DejaVu Sans"/>
                <a:cs typeface="DejaVu Sans"/>
              </a:rPr>
              <a:t>06</a:t>
            </a:r>
          </a:p>
        </p:txBody>
      </p:sp>
      <p:sp>
        <p:nvSpPr>
          <p:cNvPr id="4" name="text-3">
            <a:extLst xmlns:a="http://schemas.openxmlformats.org/drawingml/2006/main">
              <a:ext uri="{FF2B5EF4-FFF2-40B4-BE49-F238E27FC236}">
                <a16:creationId xmlns:a16="http://schemas.microsoft.com/office/drawing/2014/main" id="{FE4D25B3-B7D5-4C74-942E-9896F9F778A3}"/>
              </a:ext>
            </a:extLst>
          </p:cNvPr>
          <p:cNvSpPr>
            <a:spLocks xmlns:a="http://schemas.openxmlformats.org/drawingml/2006/main" noGrp="1"/>
          </p:cNvSpPr>
          <p:nvPr/>
        </p:nvSpPr>
        <p:spPr>
          <a:xfrm xmlns:a="http://schemas.openxmlformats.org/drawingml/2006/main">
            <a:off x="704850" y="2524125"/>
            <a:ext cx="3143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1">
                <a:solidFill>
                  <a:srgbClr val="00796E"/>
                </a:solidFill>
                <a:latin typeface="DejaVu Sans"/>
                <a:ea typeface="DejaVu Sans"/>
                <a:cs typeface="DejaVu Sans"/>
              </a:defRPr>
            </a:defPPr>
          </a:lstStyle>
          <a:p xmlns:a="http://schemas.openxmlformats.org/drawingml/2006/main">
            <a:pPr>
              <a:defRPr sz="2250" b="1">
                <a:solidFill>
                  <a:srgbClr val="00796E"/>
                </a:solidFill>
                <a:latin typeface="DejaVu Sans"/>
                <a:ea typeface="DejaVu Sans"/>
                <a:cs typeface="DejaVu Sans"/>
              </a:defRPr>
            </a:pPr>
            <a:r>
              <a:rPr sz="2250" b="1">
                <a:solidFill>
                  <a:srgbClr val="00796E"/>
                </a:solidFill>
                <a:latin typeface="DejaVu Sans"/>
                <a:ea typeface="DejaVu Sans"/>
                <a:cs typeface="DejaVu Sans"/>
              </a:rPr>
              <a:t>QrMyCar</a:t>
            </a:r>
          </a:p>
        </p:txBody>
      </p:sp>
      <p:sp>
        <p:nvSpPr>
          <p:cNvPr id="5" name="text-4">
            <a:extLst xmlns:a="http://schemas.openxmlformats.org/drawingml/2006/main">
              <a:ext uri="{FF2B5EF4-FFF2-40B4-BE49-F238E27FC236}">
                <a16:creationId xmlns:a16="http://schemas.microsoft.com/office/drawing/2014/main" id="{146362B7-2DE5-4E20-921B-F9C9C98AB901}"/>
              </a:ext>
            </a:extLst>
          </p:cNvPr>
          <p:cNvSpPr>
            <a:spLocks xmlns:a="http://schemas.openxmlformats.org/drawingml/2006/main" noGrp="1"/>
          </p:cNvSpPr>
          <p:nvPr/>
        </p:nvSpPr>
        <p:spPr>
          <a:xfrm xmlns:a="http://schemas.openxmlformats.org/drawingml/2006/main">
            <a:off x="4133850" y="2524125"/>
            <a:ext cx="7239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112D32"/>
                </a:solidFill>
                <a:latin typeface="DejaVu Sans"/>
                <a:ea typeface="DejaVu Sans"/>
                <a:cs typeface="DejaVu Sans"/>
              </a:defRPr>
            </a:defPPr>
          </a:lstStyle>
          <a:p xmlns:a="http://schemas.openxmlformats.org/drawingml/2006/main">
            <a:pPr>
              <a:defRPr sz="2025" b="0">
                <a:solidFill>
                  <a:srgbClr val="112D32"/>
                </a:solidFill>
                <a:latin typeface="DejaVu Sans"/>
                <a:ea typeface="DejaVu Sans"/>
                <a:cs typeface="DejaVu Sans"/>
              </a:defRPr>
            </a:pPr>
            <a:r>
              <a:rPr sz="2025" b="0">
                <a:solidFill>
                  <a:srgbClr val="112D32"/>
                </a:solidFill>
                <a:latin typeface="DejaVu Sans"/>
                <a:ea typeface="DejaVu Sans"/>
                <a:cs typeface="DejaVu Sans"/>
              </a:rPr>
              <a:t>Private contact with individual and society workflows.</a:t>
            </a:r>
          </a:p>
        </p:txBody>
      </p:sp>
      <p:sp>
        <p:nvSpPr>
          <p:cNvPr id="6" name="text-5">
            <a:extLst xmlns:a="http://schemas.openxmlformats.org/drawingml/2006/main">
              <a:ext uri="{FF2B5EF4-FFF2-40B4-BE49-F238E27FC236}">
                <a16:creationId xmlns:a16="http://schemas.microsoft.com/office/drawing/2014/main" id="{068B0D3E-12C2-49F0-AA57-1678952EE653}"/>
              </a:ext>
            </a:extLst>
          </p:cNvPr>
          <p:cNvSpPr>
            <a:spLocks xmlns:a="http://schemas.openxmlformats.org/drawingml/2006/main" noGrp="1"/>
          </p:cNvSpPr>
          <p:nvPr/>
        </p:nvSpPr>
        <p:spPr>
          <a:xfrm xmlns:a="http://schemas.openxmlformats.org/drawingml/2006/main">
            <a:off x="704850" y="3714750"/>
            <a:ext cx="3143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1">
                <a:solidFill>
                  <a:srgbClr val="00796E"/>
                </a:solidFill>
                <a:latin typeface="DejaVu Sans"/>
                <a:ea typeface="DejaVu Sans"/>
                <a:cs typeface="DejaVu Sans"/>
              </a:defRPr>
            </a:defPPr>
          </a:lstStyle>
          <a:p xmlns:a="http://schemas.openxmlformats.org/drawingml/2006/main">
            <a:pPr>
              <a:defRPr sz="2250" b="1">
                <a:solidFill>
                  <a:srgbClr val="00796E"/>
                </a:solidFill>
                <a:latin typeface="DejaVu Sans"/>
                <a:ea typeface="DejaVu Sans"/>
                <a:cs typeface="DejaVu Sans"/>
              </a:defRPr>
            </a:pPr>
            <a:r>
              <a:rPr sz="2250" b="1">
                <a:solidFill>
                  <a:srgbClr val="00796E"/>
                </a:solidFill>
                <a:latin typeface="DejaVu Sans"/>
                <a:ea typeface="DejaVu Sans"/>
                <a:cs typeface="DejaVu Sans"/>
              </a:rPr>
              <a:t>CarQRCode</a:t>
            </a:r>
          </a:p>
        </p:txBody>
      </p:sp>
      <p:sp>
        <p:nvSpPr>
          <p:cNvPr id="7" name="text-6">
            <a:extLst xmlns:a="http://schemas.openxmlformats.org/drawingml/2006/main">
              <a:ext uri="{FF2B5EF4-FFF2-40B4-BE49-F238E27FC236}">
                <a16:creationId xmlns:a16="http://schemas.microsoft.com/office/drawing/2014/main" id="{C0D0766F-CB54-44FC-8652-8F09A99F80E8}"/>
              </a:ext>
            </a:extLst>
          </p:cNvPr>
          <p:cNvSpPr>
            <a:spLocks xmlns:a="http://schemas.openxmlformats.org/drawingml/2006/main" noGrp="1"/>
          </p:cNvSpPr>
          <p:nvPr/>
        </p:nvSpPr>
        <p:spPr>
          <a:xfrm xmlns:a="http://schemas.openxmlformats.org/drawingml/2006/main">
            <a:off x="4133850" y="3714750"/>
            <a:ext cx="7239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112D32"/>
                </a:solidFill>
                <a:latin typeface="DejaVu Sans"/>
                <a:ea typeface="DejaVu Sans"/>
                <a:cs typeface="DejaVu Sans"/>
              </a:defRPr>
            </a:defPPr>
          </a:lstStyle>
          <a:p xmlns:a="http://schemas.openxmlformats.org/drawingml/2006/main">
            <a:pPr>
              <a:defRPr sz="2025" b="0">
                <a:solidFill>
                  <a:srgbClr val="112D32"/>
                </a:solidFill>
                <a:latin typeface="DejaVu Sans"/>
                <a:ea typeface="DejaVu Sans"/>
                <a:cs typeface="DejaVu Sans"/>
              </a:defRPr>
            </a:pPr>
            <a:r>
              <a:rPr sz="2025" b="0">
                <a:solidFill>
                  <a:srgbClr val="112D32"/>
                </a:solidFill>
                <a:latin typeface="DejaVu Sans"/>
                <a:ea typeface="DejaVu Sans"/>
                <a:cs typeface="DejaVu Sans"/>
              </a:rPr>
              <a:t>Stickers with contact and reminder features.</a:t>
            </a:r>
          </a:p>
        </p:txBody>
      </p:sp>
      <p:sp>
        <p:nvSpPr>
          <p:cNvPr id="8" name="text-7">
            <a:extLst xmlns:a="http://schemas.openxmlformats.org/drawingml/2006/main">
              <a:ext uri="{FF2B5EF4-FFF2-40B4-BE49-F238E27FC236}">
                <a16:creationId xmlns:a16="http://schemas.microsoft.com/office/drawing/2014/main" id="{9F196584-6A01-4122-B7D5-4763B8B9018F}"/>
              </a:ext>
            </a:extLst>
          </p:cNvPr>
          <p:cNvSpPr>
            <a:spLocks xmlns:a="http://schemas.openxmlformats.org/drawingml/2006/main" noGrp="1"/>
          </p:cNvSpPr>
          <p:nvPr/>
        </p:nvSpPr>
        <p:spPr>
          <a:xfrm xmlns:a="http://schemas.openxmlformats.org/drawingml/2006/main">
            <a:off x="704850" y="4905375"/>
            <a:ext cx="3143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1">
                <a:solidFill>
                  <a:srgbClr val="00796E"/>
                </a:solidFill>
                <a:latin typeface="DejaVu Sans"/>
                <a:ea typeface="DejaVu Sans"/>
                <a:cs typeface="DejaVu Sans"/>
              </a:defRPr>
            </a:defPPr>
          </a:lstStyle>
          <a:p xmlns:a="http://schemas.openxmlformats.org/drawingml/2006/main">
            <a:pPr>
              <a:defRPr sz="2250" b="1">
                <a:solidFill>
                  <a:srgbClr val="00796E"/>
                </a:solidFill>
                <a:latin typeface="DejaVu Sans"/>
                <a:ea typeface="DejaVu Sans"/>
                <a:cs typeface="DejaVu Sans"/>
              </a:defRPr>
            </a:pPr>
            <a:r>
              <a:rPr sz="2250" b="1">
                <a:solidFill>
                  <a:srgbClr val="00796E"/>
                </a:solidFill>
                <a:latin typeface="DejaVu Sans"/>
                <a:ea typeface="DejaVu Sans"/>
                <a:cs typeface="DejaVu Sans"/>
              </a:rPr>
              <a:t>Implication</a:t>
            </a:r>
          </a:p>
        </p:txBody>
      </p:sp>
      <p:sp>
        <p:nvSpPr>
          <p:cNvPr id="9" name="text-8">
            <a:extLst xmlns:a="http://schemas.openxmlformats.org/drawingml/2006/main">
              <a:ext uri="{FF2B5EF4-FFF2-40B4-BE49-F238E27FC236}">
                <a16:creationId xmlns:a16="http://schemas.microsoft.com/office/drawing/2014/main" id="{81CC2BE4-EC5E-4838-9E2F-7EE79B919862}"/>
              </a:ext>
            </a:extLst>
          </p:cNvPr>
          <p:cNvSpPr>
            <a:spLocks xmlns:a="http://schemas.openxmlformats.org/drawingml/2006/main" noGrp="1"/>
          </p:cNvSpPr>
          <p:nvPr/>
        </p:nvSpPr>
        <p:spPr>
          <a:xfrm xmlns:a="http://schemas.openxmlformats.org/drawingml/2006/main">
            <a:off x="4133850" y="4905375"/>
            <a:ext cx="7239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112D32"/>
                </a:solidFill>
                <a:latin typeface="DejaVu Sans"/>
                <a:ea typeface="DejaVu Sans"/>
                <a:cs typeface="DejaVu Sans"/>
              </a:defRPr>
            </a:defPPr>
          </a:lstStyle>
          <a:p xmlns:a="http://schemas.openxmlformats.org/drawingml/2006/main">
            <a:pPr>
              <a:defRPr sz="2025" b="0">
                <a:solidFill>
                  <a:srgbClr val="112D32"/>
                </a:solidFill>
                <a:latin typeface="DejaVu Sans"/>
                <a:ea typeface="DejaVu Sans"/>
                <a:cs typeface="DejaVu Sans"/>
              </a:defRPr>
            </a:pPr>
            <a:r>
              <a:rPr sz="2025" b="0">
                <a:solidFill>
                  <a:srgbClr val="112D32"/>
                </a:solidFill>
                <a:latin typeface="DejaVu Sans"/>
                <a:ea typeface="DejaVu Sans"/>
                <a:cs typeface="DejaVu Sans"/>
              </a:rPr>
              <a:t>A QR code or a society dashboard alone is not a moat.</a:t>
            </a:r>
          </a:p>
        </p:txBody>
      </p:sp>
    </p:spTree>
    <p:extLst>
      <p:ext uri="{BB962C8B-B14F-4D97-AF65-F5344CB8AC3E}">
        <p14:creationId xmlns:p14="http://schemas.microsoft.com/office/powerpoint/2010/main" val="945675831"/>
      </p:ext>
    </p:extLst>
  </p:cSld>
</p:sld>
</file>

<file path=ppt/slides/slide7.xml><?xml version="1.0" encoding="utf-8"?>
<p:sld xmlns:p="http://schemas.openxmlformats.org/presentationml/2006/main">
  <p:cSld>
    <p:bg>
      <p:bgPr>
        <a:solidFill xmlns:a="http://schemas.openxmlformats.org/drawingml/2006/main">
          <a:srgbClr val="112D32"/>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D57940D8-2BBC-4281-AE38-93D87BCC7CE5}"/>
              </a:ext>
            </a:extLst>
          </p:cNvPr>
          <p:cNvSpPr>
            <a:spLocks xmlns:a="http://schemas.openxmlformats.org/drawingml/2006/main" noGrp="1"/>
          </p:cNvSpPr>
          <p:nvPr/>
        </p:nvSpPr>
        <p:spPr>
          <a:xfrm xmlns:a="http://schemas.openxmlformats.org/drawingml/2006/main">
            <a:off x="685800" y="581025"/>
            <a:ext cx="108204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600" b="1">
                <a:solidFill>
                  <a:srgbClr val="F5F2E9"/>
                </a:solidFill>
                <a:latin typeface="DejaVu Sans"/>
                <a:ea typeface="DejaVu Sans"/>
                <a:cs typeface="DejaVu Sans"/>
              </a:defRPr>
            </a:defPPr>
          </a:lstStyle>
          <a:p xmlns:a="http://schemas.openxmlformats.org/drawingml/2006/main">
            <a:pPr>
              <a:defRPr sz="3600" b="1">
                <a:solidFill>
                  <a:srgbClr val="F5F2E9"/>
                </a:solidFill>
                <a:latin typeface="DejaVu Sans"/>
                <a:ea typeface="DejaVu Sans"/>
                <a:cs typeface="DejaVu Sans"/>
              </a:defRPr>
            </a:pPr>
            <a:r>
              <a:rPr sz="3600" b="1">
                <a:solidFill>
                  <a:srgbClr val="F5F2E9"/>
                </a:solidFill>
                <a:latin typeface="DejaVu Sans"/>
                <a:ea typeface="DejaVu Sans"/>
                <a:cs typeface="DejaVu Sans"/>
              </a:rPr>
              <a:t>Our differentiation hypothesis</a:t>
            </a:r>
          </a:p>
        </p:txBody>
      </p:sp>
      <p:sp>
        <p:nvSpPr>
          <p:cNvPr id="2" name="text-1">
            <a:extLst xmlns:a="http://schemas.openxmlformats.org/drawingml/2006/main">
              <a:ext uri="{FF2B5EF4-FFF2-40B4-BE49-F238E27FC236}">
                <a16:creationId xmlns:a16="http://schemas.microsoft.com/office/drawing/2014/main" id="{DBBC359C-1CB9-4407-8E4F-887033B7BDD7}"/>
              </a:ext>
            </a:extLst>
          </p:cNvPr>
          <p:cNvSpPr>
            <a:spLocks xmlns:a="http://schemas.openxmlformats.org/drawingml/2006/main" noGrp="1"/>
          </p:cNvSpPr>
          <p:nvPr/>
        </p:nvSpPr>
        <p:spPr>
          <a:xfrm xmlns:a="http://schemas.openxmlformats.org/drawingml/2006/main">
            <a:off x="704850" y="1619250"/>
            <a:ext cx="10668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B9F3D4"/>
                </a:solidFill>
                <a:latin typeface="DejaVu Sans"/>
                <a:ea typeface="DejaVu Sans"/>
                <a:cs typeface="DejaVu Sans"/>
              </a:defRPr>
            </a:defPPr>
          </a:lstStyle>
          <a:p xmlns:a="http://schemas.openxmlformats.org/drawingml/2006/main">
            <a:pPr>
              <a:defRPr sz="1725" b="0">
                <a:solidFill>
                  <a:srgbClr val="B9F3D4"/>
                </a:solidFill>
                <a:latin typeface="DejaVu Sans"/>
                <a:ea typeface="DejaVu Sans"/>
                <a:cs typeface="DejaVu Sans"/>
              </a:defRPr>
            </a:pPr>
            <a:r>
              <a:rPr sz="1725" b="0">
                <a:solidFill>
                  <a:srgbClr val="B9F3D4"/>
                </a:solidFill>
                <a:latin typeface="DejaVu Sans"/>
                <a:ea typeface="DejaVu Sans"/>
                <a:cs typeface="DejaVu Sans"/>
              </a:rPr>
              <a:t>A managed service whose outcomes we can demonstrate</a:t>
            </a:r>
          </a:p>
        </p:txBody>
      </p:sp>
      <p:sp>
        <p:nvSpPr>
          <p:cNvPr id="3" name="text-2">
            <a:extLst xmlns:a="http://schemas.openxmlformats.org/drawingml/2006/main">
              <a:ext uri="{FF2B5EF4-FFF2-40B4-BE49-F238E27FC236}">
                <a16:creationId xmlns:a16="http://schemas.microsoft.com/office/drawing/2014/main" id="{CD3F4582-7855-454A-BAAE-920520E9B05E}"/>
              </a:ext>
            </a:extLst>
          </p:cNvPr>
          <p:cNvSpPr>
            <a:spLocks xmlns:a="http://schemas.openxmlformats.org/drawingml/2006/main" noGrp="1"/>
          </p:cNvSpPr>
          <p:nvPr/>
        </p:nvSpPr>
        <p:spPr>
          <a:xfrm xmlns:a="http://schemas.openxmlformats.org/drawingml/2006/main">
            <a:off x="10953750" y="6334125"/>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B9F3D4"/>
                </a:solidFill>
                <a:latin typeface="DejaVu Sans"/>
                <a:ea typeface="DejaVu Sans"/>
                <a:cs typeface="DejaVu Sans"/>
              </a:defRPr>
            </a:defPPr>
          </a:lstStyle>
          <a:p xmlns:a="http://schemas.openxmlformats.org/drawingml/2006/main">
            <a:pPr>
              <a:defRPr sz="1275" b="0">
                <a:solidFill>
                  <a:srgbClr val="B9F3D4"/>
                </a:solidFill>
                <a:latin typeface="DejaVu Sans"/>
                <a:ea typeface="DejaVu Sans"/>
                <a:cs typeface="DejaVu Sans"/>
              </a:defRPr>
            </a:pPr>
            <a:r>
              <a:rPr sz="1275" b="0">
                <a:solidFill>
                  <a:srgbClr val="B9F3D4"/>
                </a:solidFill>
                <a:latin typeface="DejaVu Sans"/>
                <a:ea typeface="DejaVu Sans"/>
                <a:cs typeface="DejaVu Sans"/>
              </a:rPr>
              <a:t>07</a:t>
            </a:r>
          </a:p>
        </p:txBody>
      </p:sp>
      <p:sp>
        <p:nvSpPr>
          <p:cNvPr id="4" name="text-3">
            <a:extLst xmlns:a="http://schemas.openxmlformats.org/drawingml/2006/main">
              <a:ext uri="{FF2B5EF4-FFF2-40B4-BE49-F238E27FC236}">
                <a16:creationId xmlns:a16="http://schemas.microsoft.com/office/drawing/2014/main" id="{7C1C097C-AA7E-4868-B865-D173B12AE3F1}"/>
              </a:ext>
            </a:extLst>
          </p:cNvPr>
          <p:cNvSpPr>
            <a:spLocks xmlns:a="http://schemas.openxmlformats.org/drawingml/2006/main" noGrp="1"/>
          </p:cNvSpPr>
          <p:nvPr/>
        </p:nvSpPr>
        <p:spPr>
          <a:xfrm xmlns:a="http://schemas.openxmlformats.org/drawingml/2006/main">
            <a:off x="704850" y="2476500"/>
            <a:ext cx="3143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1">
                <a:solidFill>
                  <a:srgbClr val="B9F3D4"/>
                </a:solidFill>
                <a:latin typeface="DejaVu Sans"/>
                <a:ea typeface="DejaVu Sans"/>
                <a:cs typeface="DejaVu Sans"/>
              </a:defRPr>
            </a:defPPr>
          </a:lstStyle>
          <a:p xmlns:a="http://schemas.openxmlformats.org/drawingml/2006/main">
            <a:pPr>
              <a:defRPr sz="2250" b="1">
                <a:solidFill>
                  <a:srgbClr val="B9F3D4"/>
                </a:solidFill>
                <a:latin typeface="DejaVu Sans"/>
                <a:ea typeface="DejaVu Sans"/>
                <a:cs typeface="DejaVu Sans"/>
              </a:defRPr>
            </a:pPr>
            <a:r>
              <a:rPr sz="2250" b="1">
                <a:solidFill>
                  <a:srgbClr val="B9F3D4"/>
                </a:solidFill>
                <a:latin typeface="DejaVu Sans"/>
                <a:ea typeface="DejaVu Sans"/>
                <a:cs typeface="DejaVu Sans"/>
              </a:rPr>
              <a:t>Reachability</a:t>
            </a:r>
          </a:p>
        </p:txBody>
      </p:sp>
      <p:sp>
        <p:nvSpPr>
          <p:cNvPr id="5" name="text-4">
            <a:extLst xmlns:a="http://schemas.openxmlformats.org/drawingml/2006/main">
              <a:ext uri="{FF2B5EF4-FFF2-40B4-BE49-F238E27FC236}">
                <a16:creationId xmlns:a16="http://schemas.microsoft.com/office/drawing/2014/main" id="{CF9AEF38-AD1F-4E5F-8C73-9191BB309147}"/>
              </a:ext>
            </a:extLst>
          </p:cNvPr>
          <p:cNvSpPr>
            <a:spLocks xmlns:a="http://schemas.openxmlformats.org/drawingml/2006/main" noGrp="1"/>
          </p:cNvSpPr>
          <p:nvPr/>
        </p:nvSpPr>
        <p:spPr>
          <a:xfrm xmlns:a="http://schemas.openxmlformats.org/drawingml/2006/main">
            <a:off x="4133850" y="2476500"/>
            <a:ext cx="7239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F5F2E9"/>
                </a:solidFill>
                <a:latin typeface="DejaVu Sans"/>
                <a:ea typeface="DejaVu Sans"/>
                <a:cs typeface="DejaVu Sans"/>
              </a:defRPr>
            </a:defPPr>
          </a:lstStyle>
          <a:p xmlns:a="http://schemas.openxmlformats.org/drawingml/2006/main">
            <a:pPr>
              <a:defRPr sz="2025" b="0">
                <a:solidFill>
                  <a:srgbClr val="F5F2E9"/>
                </a:solidFill>
                <a:latin typeface="DejaVu Sans"/>
                <a:ea typeface="DejaVu Sans"/>
                <a:cs typeface="DejaVu Sans"/>
              </a:defRPr>
            </a:pPr>
            <a:r>
              <a:rPr sz="2025" b="0">
                <a:solidFill>
                  <a:srgbClr val="F5F2E9"/>
                </a:solidFill>
                <a:latin typeface="DejaVu Sans"/>
                <a:ea typeface="DejaVu Sans"/>
                <a:cs typeface="DejaVu Sans"/>
              </a:rPr>
              <a:t>Escalation follows human acknowledgement, not delivery alone.</a:t>
            </a:r>
          </a:p>
        </p:txBody>
      </p:sp>
      <p:sp>
        <p:nvSpPr>
          <p:cNvPr id="6" name="text-5">
            <a:extLst xmlns:a="http://schemas.openxmlformats.org/drawingml/2006/main">
              <a:ext uri="{FF2B5EF4-FFF2-40B4-BE49-F238E27FC236}">
                <a16:creationId xmlns:a16="http://schemas.microsoft.com/office/drawing/2014/main" id="{88182C88-9D5D-43A6-9FF2-135B8C570AE3}"/>
              </a:ext>
            </a:extLst>
          </p:cNvPr>
          <p:cNvSpPr>
            <a:spLocks xmlns:a="http://schemas.openxmlformats.org/drawingml/2006/main" noGrp="1"/>
          </p:cNvSpPr>
          <p:nvPr/>
        </p:nvSpPr>
        <p:spPr>
          <a:xfrm xmlns:a="http://schemas.openxmlformats.org/drawingml/2006/main">
            <a:off x="704850" y="3619500"/>
            <a:ext cx="3143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1">
                <a:solidFill>
                  <a:srgbClr val="B9F3D4"/>
                </a:solidFill>
                <a:latin typeface="DejaVu Sans"/>
                <a:ea typeface="DejaVu Sans"/>
                <a:cs typeface="DejaVu Sans"/>
              </a:defRPr>
            </a:defPPr>
          </a:lstStyle>
          <a:p xmlns:a="http://schemas.openxmlformats.org/drawingml/2006/main">
            <a:pPr>
              <a:defRPr sz="2250" b="1">
                <a:solidFill>
                  <a:srgbClr val="B9F3D4"/>
                </a:solidFill>
                <a:latin typeface="DejaVu Sans"/>
                <a:ea typeface="DejaVu Sans"/>
                <a:cs typeface="DejaVu Sans"/>
              </a:defRPr>
            </a:pPr>
            <a:r>
              <a:rPr sz="2250" b="1">
                <a:solidFill>
                  <a:srgbClr val="B9F3D4"/>
                </a:solidFill>
                <a:latin typeface="DejaVu Sans"/>
                <a:ea typeface="DejaVu Sans"/>
                <a:cs typeface="DejaVu Sans"/>
              </a:rPr>
              <a:t>Site operations</a:t>
            </a:r>
          </a:p>
        </p:txBody>
      </p:sp>
      <p:sp>
        <p:nvSpPr>
          <p:cNvPr id="7" name="text-6">
            <a:extLst xmlns:a="http://schemas.openxmlformats.org/drawingml/2006/main">
              <a:ext uri="{FF2B5EF4-FFF2-40B4-BE49-F238E27FC236}">
                <a16:creationId xmlns:a16="http://schemas.microsoft.com/office/drawing/2014/main" id="{1AF676D3-592C-48B3-B0F9-7B7F99370CDD}"/>
              </a:ext>
            </a:extLst>
          </p:cNvPr>
          <p:cNvSpPr>
            <a:spLocks xmlns:a="http://schemas.openxmlformats.org/drawingml/2006/main" noGrp="1"/>
          </p:cNvSpPr>
          <p:nvPr/>
        </p:nvSpPr>
        <p:spPr>
          <a:xfrm xmlns:a="http://schemas.openxmlformats.org/drawingml/2006/main">
            <a:off x="4133850" y="3619500"/>
            <a:ext cx="7239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F5F2E9"/>
                </a:solidFill>
                <a:latin typeface="DejaVu Sans"/>
                <a:ea typeface="DejaVu Sans"/>
                <a:cs typeface="DejaVu Sans"/>
              </a:defRPr>
            </a:defPPr>
          </a:lstStyle>
          <a:p xmlns:a="http://schemas.openxmlformats.org/drawingml/2006/main">
            <a:pPr>
              <a:defRPr sz="2025" b="0">
                <a:solidFill>
                  <a:srgbClr val="F5F2E9"/>
                </a:solidFill>
                <a:latin typeface="DejaVu Sans"/>
                <a:ea typeface="DejaVu Sans"/>
                <a:cs typeface="DejaVu Sans"/>
              </a:defRPr>
            </a:pPr>
            <a:r>
              <a:rPr sz="2025" b="0">
                <a:solidFill>
                  <a:srgbClr val="F5F2E9"/>
                </a:solidFill>
                <a:latin typeface="DejaVu Sans"/>
                <a:ea typeface="DejaVu Sans"/>
                <a:cs typeface="DejaVu Sans"/>
              </a:rPr>
              <a:t>Staff can help resolve an incident without a phone directory.</a:t>
            </a:r>
          </a:p>
        </p:txBody>
      </p:sp>
      <p:sp>
        <p:nvSpPr>
          <p:cNvPr id="8" name="text-7">
            <a:extLst xmlns:a="http://schemas.openxmlformats.org/drawingml/2006/main">
              <a:ext uri="{FF2B5EF4-FFF2-40B4-BE49-F238E27FC236}">
                <a16:creationId xmlns:a16="http://schemas.microsoft.com/office/drawing/2014/main" id="{301951C5-FFF8-4138-865E-558C50D60B26}"/>
              </a:ext>
            </a:extLst>
          </p:cNvPr>
          <p:cNvSpPr>
            <a:spLocks xmlns:a="http://schemas.openxmlformats.org/drawingml/2006/main" noGrp="1"/>
          </p:cNvSpPr>
          <p:nvPr/>
        </p:nvSpPr>
        <p:spPr>
          <a:xfrm xmlns:a="http://schemas.openxmlformats.org/drawingml/2006/main">
            <a:off x="704850" y="4762500"/>
            <a:ext cx="3143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1">
                <a:solidFill>
                  <a:srgbClr val="B9F3D4"/>
                </a:solidFill>
                <a:latin typeface="DejaVu Sans"/>
                <a:ea typeface="DejaVu Sans"/>
                <a:cs typeface="DejaVu Sans"/>
              </a:defRPr>
            </a:defPPr>
          </a:lstStyle>
          <a:p xmlns:a="http://schemas.openxmlformats.org/drawingml/2006/main">
            <a:pPr>
              <a:defRPr sz="2250" b="1">
                <a:solidFill>
                  <a:srgbClr val="B9F3D4"/>
                </a:solidFill>
                <a:latin typeface="DejaVu Sans"/>
                <a:ea typeface="DejaVu Sans"/>
                <a:cs typeface="DejaVu Sans"/>
              </a:defRPr>
            </a:pPr>
            <a:r>
              <a:rPr sz="2250" b="1">
                <a:solidFill>
                  <a:srgbClr val="B9F3D4"/>
                </a:solidFill>
                <a:latin typeface="DejaVu Sans"/>
                <a:ea typeface="DejaVu Sans"/>
                <a:cs typeface="DejaVu Sans"/>
              </a:rPr>
              <a:t>Proof</a:t>
            </a:r>
          </a:p>
        </p:txBody>
      </p:sp>
      <p:sp>
        <p:nvSpPr>
          <p:cNvPr id="9" name="text-8">
            <a:extLst xmlns:a="http://schemas.openxmlformats.org/drawingml/2006/main">
              <a:ext uri="{FF2B5EF4-FFF2-40B4-BE49-F238E27FC236}">
                <a16:creationId xmlns:a16="http://schemas.microsoft.com/office/drawing/2014/main" id="{C4F390D7-9ED1-4B8F-91C5-47B2206E156C}"/>
              </a:ext>
            </a:extLst>
          </p:cNvPr>
          <p:cNvSpPr>
            <a:spLocks xmlns:a="http://schemas.openxmlformats.org/drawingml/2006/main" noGrp="1"/>
          </p:cNvSpPr>
          <p:nvPr/>
        </p:nvSpPr>
        <p:spPr>
          <a:xfrm xmlns:a="http://schemas.openxmlformats.org/drawingml/2006/main">
            <a:off x="4133850" y="4762500"/>
            <a:ext cx="7239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F5F2E9"/>
                </a:solidFill>
                <a:latin typeface="DejaVu Sans"/>
                <a:ea typeface="DejaVu Sans"/>
                <a:cs typeface="DejaVu Sans"/>
              </a:defRPr>
            </a:defPPr>
          </a:lstStyle>
          <a:p xmlns:a="http://schemas.openxmlformats.org/drawingml/2006/main">
            <a:pPr>
              <a:defRPr sz="2025" b="0">
                <a:solidFill>
                  <a:srgbClr val="F5F2E9"/>
                </a:solidFill>
                <a:latin typeface="DejaVu Sans"/>
                <a:ea typeface="DejaVu Sans"/>
                <a:cs typeface="DejaVu Sans"/>
              </a:defRPr>
            </a:pPr>
            <a:r>
              <a:rPr sz="2025" b="0">
                <a:solidFill>
                  <a:srgbClr val="F5F2E9"/>
                </a:solidFill>
                <a:latin typeface="DejaVu Sans"/>
                <a:ea typeface="DejaVu Sans"/>
                <a:cs typeface="DejaVu Sans"/>
              </a:rPr>
              <a:t>Measure resolution time, abuse, support effort and cost.</a:t>
            </a:r>
          </a:p>
        </p:txBody>
      </p:sp>
    </p:spTree>
    <p:extLst>
      <p:ext uri="{BB962C8B-B14F-4D97-AF65-F5344CB8AC3E}">
        <p14:creationId xmlns:p14="http://schemas.microsoft.com/office/powerpoint/2010/main" val="957311839"/>
      </p:ext>
    </p:extLst>
  </p:cSld>
</p:sld>
</file>

<file path=ppt/slides/slide8.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F9FC7EE6-0613-4F8A-A6EE-2E01CA369D3B}"/>
              </a:ext>
            </a:extLst>
          </p:cNvPr>
          <p:cNvSpPr>
            <a:spLocks xmlns:a="http://schemas.openxmlformats.org/drawingml/2006/main" noGrp="1"/>
          </p:cNvSpPr>
          <p:nvPr/>
        </p:nvSpPr>
        <p:spPr>
          <a:xfrm xmlns:a="http://schemas.openxmlformats.org/drawingml/2006/main">
            <a:off x="685800" y="581025"/>
            <a:ext cx="108204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600" b="1">
                <a:solidFill>
                  <a:srgbClr val="112D32"/>
                </a:solidFill>
                <a:latin typeface="DejaVu Sans"/>
                <a:ea typeface="DejaVu Sans"/>
                <a:cs typeface="DejaVu Sans"/>
              </a:defRPr>
            </a:defPPr>
          </a:lstStyle>
          <a:p xmlns:a="http://schemas.openxmlformats.org/drawingml/2006/main">
            <a:pPr>
              <a:defRPr sz="3600" b="1">
                <a:solidFill>
                  <a:srgbClr val="112D32"/>
                </a:solidFill>
                <a:latin typeface="DejaVu Sans"/>
                <a:ea typeface="DejaVu Sans"/>
                <a:cs typeface="DejaVu Sans"/>
              </a:defRPr>
            </a:pPr>
            <a:r>
              <a:rPr sz="3600" b="1">
                <a:solidFill>
                  <a:srgbClr val="112D32"/>
                </a:solidFill>
                <a:latin typeface="DejaVu Sans"/>
                <a:ea typeface="DejaVu Sans"/>
                <a:cs typeface="DejaVu Sans"/>
              </a:rPr>
              <a:t>When the owner has no internet</a:t>
            </a:r>
          </a:p>
        </p:txBody>
      </p:sp>
      <p:sp>
        <p:nvSpPr>
          <p:cNvPr id="2" name="text-1">
            <a:extLst xmlns:a="http://schemas.openxmlformats.org/drawingml/2006/main">
              <a:ext uri="{FF2B5EF4-FFF2-40B4-BE49-F238E27FC236}">
                <a16:creationId xmlns:a16="http://schemas.microsoft.com/office/drawing/2014/main" id="{D96A962A-D7F2-413B-9868-13D50D0BA0B2}"/>
              </a:ext>
            </a:extLst>
          </p:cNvPr>
          <p:cNvSpPr>
            <a:spLocks xmlns:a="http://schemas.openxmlformats.org/drawingml/2006/main" noGrp="1"/>
          </p:cNvSpPr>
          <p:nvPr/>
        </p:nvSpPr>
        <p:spPr>
          <a:xfrm xmlns:a="http://schemas.openxmlformats.org/drawingml/2006/main">
            <a:off x="704850" y="1619250"/>
            <a:ext cx="10668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5C6D6B"/>
                </a:solidFill>
                <a:latin typeface="DejaVu Sans"/>
                <a:ea typeface="DejaVu Sans"/>
                <a:cs typeface="DejaVu Sans"/>
              </a:defRPr>
            </a:defPPr>
          </a:lstStyle>
          <a:p xmlns:a="http://schemas.openxmlformats.org/drawingml/2006/main">
            <a:pPr>
              <a:defRPr sz="1725" b="0">
                <a:solidFill>
                  <a:srgbClr val="5C6D6B"/>
                </a:solidFill>
                <a:latin typeface="DejaVu Sans"/>
                <a:ea typeface="DejaVu Sans"/>
                <a:cs typeface="DejaVu Sans"/>
              </a:defRPr>
            </a:pPr>
            <a:r>
              <a:rPr sz="1725" b="0">
                <a:solidFill>
                  <a:srgbClr val="5C6D6B"/>
                </a:solidFill>
                <a:latin typeface="DejaVu Sans"/>
                <a:ea typeface="DejaVu Sans"/>
                <a:cs typeface="DejaVu Sans"/>
              </a:rPr>
              <a:t>Phase A includes a cellular SMS fallback.</a:t>
            </a:r>
          </a:p>
        </p:txBody>
      </p:sp>
      <p:sp>
        <p:nvSpPr>
          <p:cNvPr id="3" name="text-2">
            <a:extLst xmlns:a="http://schemas.openxmlformats.org/drawingml/2006/main">
              <a:ext uri="{FF2B5EF4-FFF2-40B4-BE49-F238E27FC236}">
                <a16:creationId xmlns:a16="http://schemas.microsoft.com/office/drawing/2014/main" id="{8730C4D0-E837-4178-8847-68B5DF519743}"/>
              </a:ext>
            </a:extLst>
          </p:cNvPr>
          <p:cNvSpPr>
            <a:spLocks xmlns:a="http://schemas.openxmlformats.org/drawingml/2006/main" noGrp="1"/>
          </p:cNvSpPr>
          <p:nvPr/>
        </p:nvSpPr>
        <p:spPr>
          <a:xfrm xmlns:a="http://schemas.openxmlformats.org/drawingml/2006/main">
            <a:off x="10953750" y="6334125"/>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5C6D6B"/>
                </a:solidFill>
                <a:latin typeface="DejaVu Sans"/>
                <a:ea typeface="DejaVu Sans"/>
                <a:cs typeface="DejaVu Sans"/>
              </a:defRPr>
            </a:defPPr>
          </a:lstStyle>
          <a:p xmlns:a="http://schemas.openxmlformats.org/drawingml/2006/main">
            <a:pPr>
              <a:defRPr sz="1275" b="0">
                <a:solidFill>
                  <a:srgbClr val="5C6D6B"/>
                </a:solidFill>
                <a:latin typeface="DejaVu Sans"/>
                <a:ea typeface="DejaVu Sans"/>
                <a:cs typeface="DejaVu Sans"/>
              </a:defRPr>
            </a:pPr>
            <a:r>
              <a:rPr sz="1275" b="0">
                <a:solidFill>
                  <a:srgbClr val="5C6D6B"/>
                </a:solidFill>
                <a:latin typeface="DejaVu Sans"/>
                <a:ea typeface="DejaVu Sans"/>
                <a:cs typeface="DejaVu Sans"/>
              </a:rPr>
              <a:t>08</a:t>
            </a:r>
          </a:p>
        </p:txBody>
      </p:sp>
      <p:sp>
        <p:nvSpPr>
          <p:cNvPr id="4" name="text-3">
            <a:extLst xmlns:a="http://schemas.openxmlformats.org/drawingml/2006/main">
              <a:ext uri="{FF2B5EF4-FFF2-40B4-BE49-F238E27FC236}">
                <a16:creationId xmlns:a16="http://schemas.microsoft.com/office/drawing/2014/main" id="{C9CAA3E1-E9FB-4586-8AAA-06A2A18008EE}"/>
              </a:ext>
            </a:extLst>
          </p:cNvPr>
          <p:cNvSpPr>
            <a:spLocks xmlns:a="http://schemas.openxmlformats.org/drawingml/2006/main" noGrp="1"/>
          </p:cNvSpPr>
          <p:nvPr/>
        </p:nvSpPr>
        <p:spPr>
          <a:xfrm xmlns:a="http://schemas.openxmlformats.org/drawingml/2006/main">
            <a:off x="704850" y="2571750"/>
            <a:ext cx="2571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5700" b="1">
                <a:solidFill>
                  <a:srgbClr val="00796E"/>
                </a:solidFill>
                <a:latin typeface="DejaVu Sans"/>
                <a:ea typeface="DejaVu Sans"/>
                <a:cs typeface="DejaVu Sans"/>
              </a:defRPr>
            </a:defPPr>
          </a:lstStyle>
          <a:p xmlns:a="http://schemas.openxmlformats.org/drawingml/2006/main">
            <a:pPr>
              <a:defRPr sz="5700" b="1">
                <a:solidFill>
                  <a:srgbClr val="00796E"/>
                </a:solidFill>
                <a:latin typeface="DejaVu Sans"/>
                <a:ea typeface="DejaVu Sans"/>
                <a:cs typeface="DejaVu Sans"/>
              </a:defRPr>
            </a:pPr>
            <a:r>
              <a:rPr sz="5700" b="1">
                <a:solidFill>
                  <a:srgbClr val="00796E"/>
                </a:solidFill>
                <a:latin typeface="DejaVu Sans"/>
                <a:ea typeface="DejaVu Sans"/>
                <a:cs typeface="DejaVu Sans"/>
              </a:rPr>
              <a:t>0 s</a:t>
            </a:r>
          </a:p>
        </p:txBody>
      </p:sp>
      <p:sp>
        <p:nvSpPr>
          <p:cNvPr id="5" name="text-4">
            <a:extLst xmlns:a="http://schemas.openxmlformats.org/drawingml/2006/main">
              <a:ext uri="{FF2B5EF4-FFF2-40B4-BE49-F238E27FC236}">
                <a16:creationId xmlns:a16="http://schemas.microsoft.com/office/drawing/2014/main" id="{10FCF00F-75D0-498F-98F6-CB6ED1A7113B}"/>
              </a:ext>
            </a:extLst>
          </p:cNvPr>
          <p:cNvSpPr>
            <a:spLocks xmlns:a="http://schemas.openxmlformats.org/drawingml/2006/main" noGrp="1"/>
          </p:cNvSpPr>
          <p:nvPr/>
        </p:nvSpPr>
        <p:spPr>
          <a:xfrm xmlns:a="http://schemas.openxmlformats.org/drawingml/2006/main">
            <a:off x="704850" y="3714750"/>
            <a:ext cx="2857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0">
                <a:solidFill>
                  <a:srgbClr val="112D32"/>
                </a:solidFill>
                <a:latin typeface="DejaVu Sans"/>
                <a:ea typeface="DejaVu Sans"/>
                <a:cs typeface="DejaVu Sans"/>
              </a:defRPr>
            </a:defPPr>
          </a:lstStyle>
          <a:p xmlns:a="http://schemas.openxmlformats.org/drawingml/2006/main">
            <a:pPr>
              <a:defRPr sz="2175" b="0">
                <a:solidFill>
                  <a:srgbClr val="112D32"/>
                </a:solidFill>
                <a:latin typeface="DejaVu Sans"/>
                <a:ea typeface="DejaVu Sans"/>
                <a:cs typeface="DejaVu Sans"/>
              </a:defRPr>
            </a:pPr>
            <a:r>
              <a:rPr sz="2175" b="0">
                <a:solidFill>
                  <a:srgbClr val="112D32"/>
                </a:solidFill>
                <a:latin typeface="DejaVu Sans"/>
                <a:ea typeface="DejaVu Sans"/>
                <a:cs typeface="DejaVu Sans"/>
              </a:rPr>
              <a:t>WhatsApp alert</a:t>
            </a:r>
          </a:p>
        </p:txBody>
      </p:sp>
      <p:sp>
        <p:nvSpPr>
          <p:cNvPr id="6" name="text-5">
            <a:extLst xmlns:a="http://schemas.openxmlformats.org/drawingml/2006/main">
              <a:ext uri="{FF2B5EF4-FFF2-40B4-BE49-F238E27FC236}">
                <a16:creationId xmlns:a16="http://schemas.microsoft.com/office/drawing/2014/main" id="{2B0B762D-6032-4D95-9A8F-9ADE9CA8CB6E}"/>
              </a:ext>
            </a:extLst>
          </p:cNvPr>
          <p:cNvSpPr>
            <a:spLocks xmlns:a="http://schemas.openxmlformats.org/drawingml/2006/main" noGrp="1"/>
          </p:cNvSpPr>
          <p:nvPr/>
        </p:nvSpPr>
        <p:spPr>
          <a:xfrm xmlns:a="http://schemas.openxmlformats.org/drawingml/2006/main">
            <a:off x="4457700" y="2571750"/>
            <a:ext cx="2857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5700" b="1">
                <a:solidFill>
                  <a:srgbClr val="00796E"/>
                </a:solidFill>
                <a:latin typeface="DejaVu Sans"/>
                <a:ea typeface="DejaVu Sans"/>
                <a:cs typeface="DejaVu Sans"/>
              </a:defRPr>
            </a:defPPr>
          </a:lstStyle>
          <a:p xmlns:a="http://schemas.openxmlformats.org/drawingml/2006/main">
            <a:pPr>
              <a:defRPr sz="5700" b="1">
                <a:solidFill>
                  <a:srgbClr val="00796E"/>
                </a:solidFill>
                <a:latin typeface="DejaVu Sans"/>
                <a:ea typeface="DejaVu Sans"/>
                <a:cs typeface="DejaVu Sans"/>
              </a:defRPr>
            </a:pPr>
            <a:r>
              <a:rPr sz="5700" b="1">
                <a:solidFill>
                  <a:srgbClr val="00796E"/>
                </a:solidFill>
                <a:latin typeface="DejaVu Sans"/>
                <a:ea typeface="DejaVu Sans"/>
                <a:cs typeface="DejaVu Sans"/>
              </a:rPr>
              <a:t>90 s</a:t>
            </a:r>
          </a:p>
        </p:txBody>
      </p:sp>
      <p:sp>
        <p:nvSpPr>
          <p:cNvPr id="7" name="text-6">
            <a:extLst xmlns:a="http://schemas.openxmlformats.org/drawingml/2006/main">
              <a:ext uri="{FF2B5EF4-FFF2-40B4-BE49-F238E27FC236}">
                <a16:creationId xmlns:a16="http://schemas.microsoft.com/office/drawing/2014/main" id="{E29B1322-0C51-429B-BF3B-03F854EFAB1C}"/>
              </a:ext>
            </a:extLst>
          </p:cNvPr>
          <p:cNvSpPr>
            <a:spLocks xmlns:a="http://schemas.openxmlformats.org/drawingml/2006/main" noGrp="1"/>
          </p:cNvSpPr>
          <p:nvPr/>
        </p:nvSpPr>
        <p:spPr>
          <a:xfrm xmlns:a="http://schemas.openxmlformats.org/drawingml/2006/main">
            <a:off x="4457700" y="3714750"/>
            <a:ext cx="3143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0">
                <a:solidFill>
                  <a:srgbClr val="112D32"/>
                </a:solidFill>
                <a:latin typeface="DejaVu Sans"/>
                <a:ea typeface="DejaVu Sans"/>
                <a:cs typeface="DejaVu Sans"/>
              </a:defRPr>
            </a:defPPr>
          </a:lstStyle>
          <a:p xmlns:a="http://schemas.openxmlformats.org/drawingml/2006/main">
            <a:pPr>
              <a:defRPr sz="2175" b="0">
                <a:solidFill>
                  <a:srgbClr val="112D32"/>
                </a:solidFill>
                <a:latin typeface="DejaVu Sans"/>
                <a:ea typeface="DejaVu Sans"/>
                <a:cs typeface="DejaVu Sans"/>
              </a:defRPr>
            </a:pPr>
            <a:r>
              <a:rPr sz="2175" b="0">
                <a:solidFill>
                  <a:srgbClr val="112D32"/>
                </a:solidFill>
                <a:latin typeface="DejaVu Sans"/>
                <a:ea typeface="DejaVu Sans"/>
                <a:cs typeface="DejaVu Sans"/>
              </a:rPr>
              <a:t>SMS if no</a:t>
            </a:r>
          </a:p>
          <a:p xmlns:a="http://schemas.openxmlformats.org/drawingml/2006/main">
            <a:pPr>
              <a:defRPr sz="2175" b="0">
                <a:solidFill>
                  <a:srgbClr val="112D32"/>
                </a:solidFill>
                <a:latin typeface="DejaVu Sans"/>
                <a:ea typeface="DejaVu Sans"/>
                <a:cs typeface="DejaVu Sans"/>
              </a:defRPr>
            </a:pPr>
            <a:r>
              <a:rPr sz="2175" b="0">
                <a:solidFill>
                  <a:srgbClr val="112D32"/>
                </a:solidFill>
                <a:latin typeface="DejaVu Sans"/>
                <a:ea typeface="DejaVu Sans"/>
                <a:cs typeface="DejaVu Sans"/>
              </a:rPr>
              <a:t>acknowledgement</a:t>
            </a:r>
          </a:p>
        </p:txBody>
      </p:sp>
      <p:sp>
        <p:nvSpPr>
          <p:cNvPr id="8" name="text-7">
            <a:extLst xmlns:a="http://schemas.openxmlformats.org/drawingml/2006/main">
              <a:ext uri="{FF2B5EF4-FFF2-40B4-BE49-F238E27FC236}">
                <a16:creationId xmlns:a16="http://schemas.microsoft.com/office/drawing/2014/main" id="{E3D40A67-2D09-41C5-A090-C574DA9300E2}"/>
              </a:ext>
            </a:extLst>
          </p:cNvPr>
          <p:cNvSpPr>
            <a:spLocks xmlns:a="http://schemas.openxmlformats.org/drawingml/2006/main" noGrp="1"/>
          </p:cNvSpPr>
          <p:nvPr/>
        </p:nvSpPr>
        <p:spPr>
          <a:xfrm xmlns:a="http://schemas.openxmlformats.org/drawingml/2006/main">
            <a:off x="8210550" y="2571750"/>
            <a:ext cx="328612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5700" b="1">
                <a:solidFill>
                  <a:srgbClr val="00796E"/>
                </a:solidFill>
                <a:latin typeface="DejaVu Sans"/>
                <a:ea typeface="DejaVu Sans"/>
                <a:cs typeface="DejaVu Sans"/>
              </a:defRPr>
            </a:defPPr>
          </a:lstStyle>
          <a:p xmlns:a="http://schemas.openxmlformats.org/drawingml/2006/main">
            <a:pPr>
              <a:defRPr sz="5700" b="1">
                <a:solidFill>
                  <a:srgbClr val="00796E"/>
                </a:solidFill>
                <a:latin typeface="DejaVu Sans"/>
                <a:ea typeface="DejaVu Sans"/>
                <a:cs typeface="DejaVu Sans"/>
              </a:defRPr>
            </a:pPr>
            <a:r>
              <a:rPr sz="5700" b="1">
                <a:solidFill>
                  <a:srgbClr val="00796E"/>
                </a:solidFill>
                <a:latin typeface="DejaVu Sans"/>
                <a:ea typeface="DejaVu Sans"/>
                <a:cs typeface="DejaVu Sans"/>
              </a:rPr>
              <a:t>180 s</a:t>
            </a:r>
          </a:p>
        </p:txBody>
      </p:sp>
      <p:sp>
        <p:nvSpPr>
          <p:cNvPr id="9" name="text-8">
            <a:extLst xmlns:a="http://schemas.openxmlformats.org/drawingml/2006/main">
              <a:ext uri="{FF2B5EF4-FFF2-40B4-BE49-F238E27FC236}">
                <a16:creationId xmlns:a16="http://schemas.microsoft.com/office/drawing/2014/main" id="{CD14D5B3-1F7E-4E94-B7AE-B6EAF6C270EE}"/>
              </a:ext>
            </a:extLst>
          </p:cNvPr>
          <p:cNvSpPr>
            <a:spLocks xmlns:a="http://schemas.openxmlformats.org/drawingml/2006/main" noGrp="1"/>
          </p:cNvSpPr>
          <p:nvPr/>
        </p:nvSpPr>
        <p:spPr>
          <a:xfrm xmlns:a="http://schemas.openxmlformats.org/drawingml/2006/main">
            <a:off x="8210550" y="3714750"/>
            <a:ext cx="328612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0">
                <a:solidFill>
                  <a:srgbClr val="112D32"/>
                </a:solidFill>
                <a:latin typeface="DejaVu Sans"/>
                <a:ea typeface="DejaVu Sans"/>
                <a:cs typeface="DejaVu Sans"/>
              </a:defRPr>
            </a:defPPr>
          </a:lstStyle>
          <a:p xmlns:a="http://schemas.openxmlformats.org/drawingml/2006/main">
            <a:pPr>
              <a:defRPr sz="2175" b="0">
                <a:solidFill>
                  <a:srgbClr val="112D32"/>
                </a:solidFill>
                <a:latin typeface="DejaVu Sans"/>
                <a:ea typeface="DejaVu Sans"/>
                <a:cs typeface="DejaVu Sans"/>
              </a:defRPr>
            </a:pPr>
            <a:r>
              <a:rPr sz="2175" b="0">
                <a:solidFill>
                  <a:srgbClr val="112D32"/>
                </a:solidFill>
                <a:latin typeface="DejaVu Sans"/>
                <a:ea typeface="DejaVu Sans"/>
                <a:cs typeface="DejaVu Sans"/>
              </a:rPr>
              <a:t>Consented backup</a:t>
            </a:r>
          </a:p>
          <a:p xmlns:a="http://schemas.openxmlformats.org/drawingml/2006/main">
            <a:pPr>
              <a:defRPr sz="2175" b="0">
                <a:solidFill>
                  <a:srgbClr val="112D32"/>
                </a:solidFill>
                <a:latin typeface="DejaVu Sans"/>
                <a:ea typeface="DejaVu Sans"/>
                <a:cs typeface="DejaVu Sans"/>
              </a:defRPr>
            </a:pPr>
            <a:r>
              <a:rPr sz="2175" b="0">
                <a:solidFill>
                  <a:srgbClr val="112D32"/>
                </a:solidFill>
                <a:latin typeface="DejaVu Sans"/>
                <a:ea typeface="DejaVu Sans"/>
                <a:cs typeface="DejaVu Sans"/>
              </a:rPr>
              <a:t>if configured</a:t>
            </a:r>
          </a:p>
        </p:txBody>
      </p:sp>
      <p:sp>
        <p:nvSpPr>
          <p:cNvPr id="10" name="text-9">
            <a:extLst xmlns:a="http://schemas.openxmlformats.org/drawingml/2006/main">
              <a:ext uri="{FF2B5EF4-FFF2-40B4-BE49-F238E27FC236}">
                <a16:creationId xmlns:a16="http://schemas.microsoft.com/office/drawing/2014/main" id="{7E34E3CC-1389-45C1-89AE-D50EF831415E}"/>
              </a:ext>
            </a:extLst>
          </p:cNvPr>
          <p:cNvSpPr>
            <a:spLocks xmlns:a="http://schemas.openxmlformats.org/drawingml/2006/main" noGrp="1"/>
          </p:cNvSpPr>
          <p:nvPr/>
        </p:nvSpPr>
        <p:spPr>
          <a:xfrm xmlns:a="http://schemas.openxmlformats.org/drawingml/2006/main">
            <a:off x="704850" y="5886450"/>
            <a:ext cx="10382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5C6D6B"/>
                </a:solidFill>
                <a:latin typeface="DejaVu Sans"/>
                <a:ea typeface="DejaVu Sans"/>
                <a:cs typeface="DejaVu Sans"/>
              </a:defRPr>
            </a:defPPr>
          </a:lstStyle>
          <a:p xmlns:a="http://schemas.openxmlformats.org/drawingml/2006/main">
            <a:pPr>
              <a:defRPr sz="1275" b="0">
                <a:solidFill>
                  <a:srgbClr val="5C6D6B"/>
                </a:solidFill>
                <a:latin typeface="DejaVu Sans"/>
                <a:ea typeface="DejaVu Sans"/>
                <a:cs typeface="DejaVu Sans"/>
              </a:defRPr>
            </a:pPr>
            <a:r>
              <a:rPr sz="1275" b="0">
                <a:solidFill>
                  <a:srgbClr val="5C6D6B"/>
                </a:solidFill>
                <a:latin typeface="DejaVu Sans"/>
                <a:ea typeface="DejaVu Sans"/>
                <a:cs typeface="DejaVu Sans"/>
              </a:rPr>
              <a:t>Configurable target timings. No channel guarantees contact with an unreachable phone.</a:t>
            </a:r>
          </a:p>
        </p:txBody>
      </p:sp>
    </p:spTree>
    <p:extLst>
      <p:ext uri="{BB962C8B-B14F-4D97-AF65-F5344CB8AC3E}">
        <p14:creationId xmlns:p14="http://schemas.microsoft.com/office/powerpoint/2010/main" val="329010725"/>
      </p:ext>
    </p:extLst>
  </p:cSld>
</p:sld>
</file>

<file path=ppt/slides/slide9.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DB4E026E-0EC4-4271-935B-30825FC5741E}"/>
              </a:ext>
            </a:extLst>
          </p:cNvPr>
          <p:cNvSpPr>
            <a:spLocks xmlns:a="http://schemas.openxmlformats.org/drawingml/2006/main" noGrp="1"/>
          </p:cNvSpPr>
          <p:nvPr/>
        </p:nvSpPr>
        <p:spPr>
          <a:xfrm xmlns:a="http://schemas.openxmlformats.org/drawingml/2006/main">
            <a:off x="685800" y="581025"/>
            <a:ext cx="108204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600" b="1">
                <a:solidFill>
                  <a:srgbClr val="112D32"/>
                </a:solidFill>
                <a:latin typeface="DejaVu Sans"/>
                <a:ea typeface="DejaVu Sans"/>
                <a:cs typeface="DejaVu Sans"/>
              </a:defRPr>
            </a:defPPr>
          </a:lstStyle>
          <a:p xmlns:a="http://schemas.openxmlformats.org/drawingml/2006/main">
            <a:pPr>
              <a:defRPr sz="3600" b="1">
                <a:solidFill>
                  <a:srgbClr val="112D32"/>
                </a:solidFill>
                <a:latin typeface="DejaVu Sans"/>
                <a:ea typeface="DejaVu Sans"/>
                <a:cs typeface="DejaVu Sans"/>
              </a:defRPr>
            </a:pPr>
            <a:r>
              <a:rPr sz="3600" b="1">
                <a:solidFill>
                  <a:srgbClr val="112D32"/>
                </a:solidFill>
                <a:latin typeface="DejaVu Sans"/>
                <a:ea typeface="DejaVu Sans"/>
                <a:cs typeface="DejaVu Sans"/>
              </a:rPr>
              <a:t>Phase A and Phase B</a:t>
            </a:r>
          </a:p>
        </p:txBody>
      </p:sp>
      <p:sp>
        <p:nvSpPr>
          <p:cNvPr id="2" name="text-1">
            <a:extLst xmlns:a="http://schemas.openxmlformats.org/drawingml/2006/main">
              <a:ext uri="{FF2B5EF4-FFF2-40B4-BE49-F238E27FC236}">
                <a16:creationId xmlns:a16="http://schemas.microsoft.com/office/drawing/2014/main" id="{04D70DC3-8219-49C9-8046-70409B5AE0AB}"/>
              </a:ext>
            </a:extLst>
          </p:cNvPr>
          <p:cNvSpPr>
            <a:spLocks xmlns:a="http://schemas.openxmlformats.org/drawingml/2006/main" noGrp="1"/>
          </p:cNvSpPr>
          <p:nvPr/>
        </p:nvSpPr>
        <p:spPr>
          <a:xfrm xmlns:a="http://schemas.openxmlformats.org/drawingml/2006/main">
            <a:off x="704850" y="1619250"/>
            <a:ext cx="10668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5C6D6B"/>
                </a:solidFill>
                <a:latin typeface="DejaVu Sans"/>
                <a:ea typeface="DejaVu Sans"/>
                <a:cs typeface="DejaVu Sans"/>
              </a:defRPr>
            </a:defPPr>
          </a:lstStyle>
          <a:p xmlns:a="http://schemas.openxmlformats.org/drawingml/2006/main">
            <a:pPr>
              <a:defRPr sz="1725" b="0">
                <a:solidFill>
                  <a:srgbClr val="5C6D6B"/>
                </a:solidFill>
                <a:latin typeface="DejaVu Sans"/>
                <a:ea typeface="DejaVu Sans"/>
                <a:cs typeface="DejaVu Sans"/>
              </a:defRPr>
            </a:pPr>
            <a:r>
              <a:rPr sz="1725" b="0">
                <a:solidFill>
                  <a:srgbClr val="5C6D6B"/>
                </a:solidFill>
                <a:latin typeface="DejaVu Sans"/>
                <a:ea typeface="DejaVu Sans"/>
                <a:cs typeface="DejaVu Sans"/>
              </a:rPr>
              <a:t>Messaging first. Local calling follows provider approval.</a:t>
            </a:r>
          </a:p>
        </p:txBody>
      </p:sp>
      <p:sp>
        <p:nvSpPr>
          <p:cNvPr id="3" name="text-2">
            <a:extLst xmlns:a="http://schemas.openxmlformats.org/drawingml/2006/main">
              <a:ext uri="{FF2B5EF4-FFF2-40B4-BE49-F238E27FC236}">
                <a16:creationId xmlns:a16="http://schemas.microsoft.com/office/drawing/2014/main" id="{2824284B-EF60-4469-9AB0-D4D76875212C}"/>
              </a:ext>
            </a:extLst>
          </p:cNvPr>
          <p:cNvSpPr>
            <a:spLocks xmlns:a="http://schemas.openxmlformats.org/drawingml/2006/main" noGrp="1"/>
          </p:cNvSpPr>
          <p:nvPr/>
        </p:nvSpPr>
        <p:spPr>
          <a:xfrm xmlns:a="http://schemas.openxmlformats.org/drawingml/2006/main">
            <a:off x="10953750" y="6334125"/>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5C6D6B"/>
                </a:solidFill>
                <a:latin typeface="DejaVu Sans"/>
                <a:ea typeface="DejaVu Sans"/>
                <a:cs typeface="DejaVu Sans"/>
              </a:defRPr>
            </a:defPPr>
          </a:lstStyle>
          <a:p xmlns:a="http://schemas.openxmlformats.org/drawingml/2006/main">
            <a:pPr>
              <a:defRPr sz="1275" b="0">
                <a:solidFill>
                  <a:srgbClr val="5C6D6B"/>
                </a:solidFill>
                <a:latin typeface="DejaVu Sans"/>
                <a:ea typeface="DejaVu Sans"/>
                <a:cs typeface="DejaVu Sans"/>
              </a:defRPr>
            </a:pPr>
            <a:r>
              <a:rPr sz="1275" b="0">
                <a:solidFill>
                  <a:srgbClr val="5C6D6B"/>
                </a:solidFill>
                <a:latin typeface="DejaVu Sans"/>
                <a:ea typeface="DejaVu Sans"/>
                <a:cs typeface="DejaVu Sans"/>
              </a:rPr>
              <a:t>09</a:t>
            </a:r>
          </a:p>
        </p:txBody>
      </p:sp>
      <p:graphicFrame>
        <p:nvGraphicFramePr>
          <p:cNvPr id="4" name="">
            <a:extLst xmlns:a="http://schemas.openxmlformats.org/drawingml/2006/main">
              <a:ext uri="{FF2B5EF4-FFF2-40B4-BE49-F238E27FC236}">
                <a16:creationId xmlns:a16="http://schemas.microsoft.com/office/drawing/2014/main" id="{A0092285-1EA3-435D-B5C5-0881C5AD150C}"/>
              </a:ext>
            </a:extLst>
          </p:cNvPr>
          <p:cNvGraphicFramePr/>
          <p:nvPr/>
        </p:nvGraphicFramePr>
        <p:xfrm>
          <a:off xmlns:a="http://schemas.openxmlformats.org/drawingml/2006/main" x="685800" y="2362200"/>
          <a:ext xmlns:a="http://schemas.openxmlformats.org/drawingml/2006/main" cx="10820400" cy="2714625"/>
        </p:xfrm>
        <a:graphic xmlns:a="http://schemas.openxmlformats.org/drawingml/2006/main">
          <a:graphicData uri="http://schemas.openxmlformats.org/drawingml/2006/table">
            <a:tbl>
              <a:tblPr/>
              <a:tblGrid>
                <a:gridCol w="2286000"/>
                <a:gridCol w="4714875"/>
                <a:gridCol w="3819525"/>
              </a:tblGrid>
              <a:tr h="678656">
                <a:tc>
                  <a:txBody>
                    <a:bodyPr lIns="114300" tIns="114300" rIns="114300" bIns="114300"/>
                    <a:lstStyle/>
                    <a:p>
                      <a:r>
                        <a:rPr sz="1875" b="1">
                          <a:solidFill>
                            <a:srgbClr val="F5F2E9"/>
                          </a:solidFill>
                          <a:latin typeface="DejaVu Sans"/>
                          <a:ea typeface="DejaVu Sans"/>
                          <a:cs typeface="DejaVu Sans"/>
                        </a:rPr>
                        <a:t>Release</a:t>
                      </a:r>
                    </a:p>
                  </a:txBody>
                  <a:tcPr marL="91440" marR="91440" marT="45720" marB="45720">
                    <a:lnL w="9525">
                      <a:solidFill>
                        <a:srgbClr val="D4DDD5"/>
                      </a:solidFill>
                      <a:prstDash val="solid"/>
                    </a:lnL>
                    <a:lnR w="9525">
                      <a:solidFill>
                        <a:srgbClr val="D4DDD5"/>
                      </a:solidFill>
                      <a:prstDash val="solid"/>
                    </a:lnR>
                    <a:lnT w="9525">
                      <a:solidFill>
                        <a:srgbClr val="D4DDD5"/>
                      </a:solidFill>
                      <a:prstDash val="solid"/>
                    </a:lnT>
                    <a:lnB w="9525">
                      <a:solidFill>
                        <a:srgbClr val="D4DDD5"/>
                      </a:solidFill>
                      <a:prstDash val="solid"/>
                    </a:lnB>
                    <a:solidFill>
                      <a:srgbClr val="112D32"/>
                    </a:solidFill>
                  </a:tcPr>
                </a:tc>
                <a:tc>
                  <a:txBody>
                    <a:bodyPr lIns="114300" tIns="114300" rIns="114300" bIns="114300"/>
                    <a:lstStyle/>
                    <a:p>
                      <a:r>
                        <a:rPr sz="1875" b="1">
                          <a:solidFill>
                            <a:srgbClr val="F5F2E9"/>
                          </a:solidFill>
                          <a:latin typeface="DejaVu Sans"/>
                          <a:ea typeface="DejaVu Sans"/>
                          <a:cs typeface="DejaVu Sans"/>
                        </a:rPr>
                        <a:t>Committed scope</a:t>
                      </a:r>
                    </a:p>
                  </a:txBody>
                  <a:tcPr marL="91440" marR="91440" marT="45720" marB="45720">
                    <a:lnR w="9525">
                      <a:solidFill>
                        <a:srgbClr val="D4DDD5"/>
                      </a:solidFill>
                      <a:prstDash val="solid"/>
                    </a:lnR>
                    <a:lnT w="9525">
                      <a:solidFill>
                        <a:srgbClr val="D4DDD5"/>
                      </a:solidFill>
                      <a:prstDash val="solid"/>
                    </a:lnT>
                    <a:lnB w="9525">
                      <a:solidFill>
                        <a:srgbClr val="D4DDD5"/>
                      </a:solidFill>
                      <a:prstDash val="solid"/>
                    </a:lnB>
                    <a:solidFill>
                      <a:srgbClr val="112D32"/>
                    </a:solidFill>
                  </a:tcPr>
                </a:tc>
                <a:tc>
                  <a:txBody>
                    <a:bodyPr lIns="114300" tIns="114300" rIns="114300" bIns="114300"/>
                    <a:lstStyle/>
                    <a:p>
                      <a:r>
                        <a:rPr sz="1875" b="1">
                          <a:solidFill>
                            <a:srgbClr val="F5F2E9"/>
                          </a:solidFill>
                          <a:latin typeface="DejaVu Sans"/>
                          <a:ea typeface="DejaVu Sans"/>
                          <a:cs typeface="DejaVu Sans"/>
                        </a:rPr>
                        <a:t>Launch dependency</a:t>
                      </a:r>
                    </a:p>
                  </a:txBody>
                  <a:tcPr marL="91440" marR="91440" marT="45720" marB="45720">
                    <a:lnR w="9525">
                      <a:solidFill>
                        <a:srgbClr val="D4DDD5"/>
                      </a:solidFill>
                      <a:prstDash val="solid"/>
                    </a:lnR>
                    <a:lnT w="9525">
                      <a:solidFill>
                        <a:srgbClr val="D4DDD5"/>
                      </a:solidFill>
                      <a:prstDash val="solid"/>
                    </a:lnT>
                    <a:lnB w="9525">
                      <a:solidFill>
                        <a:srgbClr val="D4DDD5"/>
                      </a:solidFill>
                      <a:prstDash val="solid"/>
                    </a:lnB>
                    <a:solidFill>
                      <a:srgbClr val="112D32"/>
                    </a:solidFill>
                  </a:tcPr>
                </a:tc>
              </a:tr>
              <a:tr h="678656">
                <a:tc>
                  <a:txBody>
                    <a:bodyPr lIns="114300" tIns="114300" rIns="114300" bIns="114300"/>
                    <a:lstStyle/>
                    <a:p>
                      <a:r>
                        <a:rPr sz="1875" b="0">
                          <a:solidFill>
                            <a:srgbClr val="112D32"/>
                          </a:solidFill>
                          <a:latin typeface="DejaVu Sans"/>
                          <a:ea typeface="DejaVu Sans"/>
                          <a:cs typeface="DejaVu Sans"/>
                        </a:rPr>
                        <a:t>Phase A</a:t>
                      </a:r>
                    </a:p>
                  </a:txBody>
                  <a:tcPr marL="91440" marR="91440" marT="45720" marB="45720">
                    <a:lnL w="9525">
                      <a:solidFill>
                        <a:srgbClr val="D4DDD5"/>
                      </a:solidFill>
                      <a:prstDash val="solid"/>
                    </a:lnL>
                    <a:lnR w="9525">
                      <a:solidFill>
                        <a:srgbClr val="D4DDD5"/>
                      </a:solidFill>
                      <a:prstDash val="solid"/>
                    </a:lnR>
                    <a:lnB w="9525">
                      <a:solidFill>
                        <a:srgbClr val="D4DDD5"/>
                      </a:solidFill>
                      <a:prstDash val="solid"/>
                    </a:lnB>
                    <a:solidFill>
                      <a:srgbClr val="FFFFFF"/>
                    </a:solidFill>
                  </a:tcPr>
                </a:tc>
                <a:tc>
                  <a:txBody>
                    <a:bodyPr lIns="114300" tIns="114300" rIns="114300" bIns="114300"/>
                    <a:lstStyle/>
                    <a:p>
                      <a:r>
                        <a:rPr sz="1875" b="0">
                          <a:solidFill>
                            <a:srgbClr val="112D32"/>
                          </a:solidFill>
                          <a:latin typeface="DejaVu Sans"/>
                          <a:ea typeface="DejaVu Sans"/>
                          <a:cs typeface="DejaVu Sans"/>
                        </a:rPr>
                        <a:t>WhatsApp + SMS, owner and scanner web</a:t>
                      </a:r>
                    </a:p>
                  </a:txBody>
                  <a:tcPr marL="91440" marR="91440" marT="45720" marB="45720">
                    <a:lnR w="9525">
                      <a:solidFill>
                        <a:srgbClr val="D4DDD5"/>
                      </a:solidFill>
                      <a:prstDash val="solid"/>
                    </a:lnR>
                    <a:lnB w="9525">
                      <a:solidFill>
                        <a:srgbClr val="D4DDD5"/>
                      </a:solidFill>
                      <a:prstDash val="solid"/>
                    </a:lnB>
                    <a:solidFill>
                      <a:srgbClr val="FFFFFF"/>
                    </a:solidFill>
                  </a:tcPr>
                </a:tc>
                <a:tc>
                  <a:txBody>
                    <a:bodyPr lIns="114300" tIns="114300" rIns="114300" bIns="114300"/>
                    <a:lstStyle/>
                    <a:p>
                      <a:r>
                        <a:rPr sz="1875" b="0">
                          <a:solidFill>
                            <a:srgbClr val="112D32"/>
                          </a:solidFill>
                          <a:latin typeface="DejaVu Sans"/>
                          <a:ea typeface="DejaVu Sans"/>
                          <a:cs typeface="DejaVu Sans"/>
                        </a:rPr>
                        <a:t>Approved messaging routes</a:t>
                      </a:r>
                    </a:p>
                  </a:txBody>
                  <a:tcPr marL="91440" marR="91440" marT="45720" marB="45720">
                    <a:lnR w="9525">
                      <a:solidFill>
                        <a:srgbClr val="D4DDD5"/>
                      </a:solidFill>
                      <a:prstDash val="solid"/>
                    </a:lnR>
                    <a:lnB w="9525">
                      <a:solidFill>
                        <a:srgbClr val="D4DDD5"/>
                      </a:solidFill>
                      <a:prstDash val="solid"/>
                    </a:lnB>
                    <a:solidFill>
                      <a:srgbClr val="FFFFFF"/>
                    </a:solidFill>
                  </a:tcPr>
                </a:tc>
              </a:tr>
              <a:tr h="678656">
                <a:tc>
                  <a:txBody>
                    <a:bodyPr lIns="114300" tIns="114300" rIns="114300" bIns="114300"/>
                    <a:lstStyle/>
                    <a:p>
                      <a:r>
                        <a:rPr sz="1875" b="0">
                          <a:solidFill>
                            <a:srgbClr val="112D32"/>
                          </a:solidFill>
                          <a:latin typeface="DejaVu Sans"/>
                          <a:ea typeface="DejaVu Sans"/>
                          <a:cs typeface="DejaVu Sans"/>
                        </a:rPr>
                        <a:t>Phase B</a:t>
                      </a:r>
                    </a:p>
                  </a:txBody>
                  <a:tcPr marL="91440" marR="91440" marT="45720" marB="45720">
                    <a:lnL w="9525">
                      <a:solidFill>
                        <a:srgbClr val="D4DDD5"/>
                      </a:solidFill>
                      <a:prstDash val="solid"/>
                    </a:lnL>
                    <a:lnR w="9525">
                      <a:solidFill>
                        <a:srgbClr val="D4DDD5"/>
                      </a:solidFill>
                      <a:prstDash val="solid"/>
                    </a:lnR>
                    <a:lnB w="9525">
                      <a:solidFill>
                        <a:srgbClr val="D4DDD5"/>
                      </a:solidFill>
                      <a:prstDash val="solid"/>
                    </a:lnB>
                    <a:solidFill>
                      <a:srgbClr val="F5F2E9"/>
                    </a:solidFill>
                  </a:tcPr>
                </a:tc>
                <a:tc>
                  <a:txBody>
                    <a:bodyPr lIns="114300" tIns="114300" rIns="114300" bIns="114300"/>
                    <a:lstStyle/>
                    <a:p>
                      <a:r>
                        <a:rPr sz="1875" b="0">
                          <a:solidFill>
                            <a:srgbClr val="112D32"/>
                          </a:solidFill>
                          <a:latin typeface="DejaVu Sans"/>
                          <a:ea typeface="DejaVu Sans"/>
                          <a:cs typeface="DejaVu Sans"/>
                        </a:rPr>
                        <a:t>Verified local masked callback</a:t>
                      </a:r>
                    </a:p>
                  </a:txBody>
                  <a:tcPr marL="91440" marR="91440" marT="45720" marB="45720">
                    <a:lnR w="9525">
                      <a:solidFill>
                        <a:srgbClr val="D4DDD5"/>
                      </a:solidFill>
                      <a:prstDash val="solid"/>
                    </a:lnR>
                    <a:lnB w="9525">
                      <a:solidFill>
                        <a:srgbClr val="D4DDD5"/>
                      </a:solidFill>
                      <a:prstDash val="solid"/>
                    </a:lnB>
                    <a:solidFill>
                      <a:srgbClr val="F5F2E9"/>
                    </a:solidFill>
                  </a:tcPr>
                </a:tc>
                <a:tc>
                  <a:txBody>
                    <a:bodyPr lIns="114300" tIns="114300" rIns="114300" bIns="114300"/>
                    <a:lstStyle/>
                    <a:p>
                      <a:r>
                        <a:rPr sz="1875" b="0">
                          <a:solidFill>
                            <a:srgbClr val="112D32"/>
                          </a:solidFill>
                          <a:latin typeface="DejaVu Sans"/>
                          <a:ea typeface="DejaVu Sans"/>
                          <a:cs typeface="DejaVu Sans"/>
                        </a:rPr>
                        <a:t>Carrier / CLI approval</a:t>
                      </a:r>
                    </a:p>
                  </a:txBody>
                  <a:tcPr marL="91440" marR="91440" marT="45720" marB="45720">
                    <a:lnR w="9525">
                      <a:solidFill>
                        <a:srgbClr val="D4DDD5"/>
                      </a:solidFill>
                      <a:prstDash val="solid"/>
                    </a:lnR>
                    <a:lnB w="9525">
                      <a:solidFill>
                        <a:srgbClr val="D4DDD5"/>
                      </a:solidFill>
                      <a:prstDash val="solid"/>
                    </a:lnB>
                    <a:solidFill>
                      <a:srgbClr val="F5F2E9"/>
                    </a:solidFill>
                  </a:tcPr>
                </a:tc>
              </a:tr>
              <a:tr h="678656">
                <a:tc>
                  <a:txBody>
                    <a:bodyPr lIns="114300" tIns="114300" rIns="114300" bIns="114300"/>
                    <a:lstStyle/>
                    <a:p>
                      <a:r>
                        <a:rPr sz="1875" b="0">
                          <a:solidFill>
                            <a:srgbClr val="112D32"/>
                          </a:solidFill>
                          <a:latin typeface="DejaVu Sans"/>
                          <a:ea typeface="DejaVu Sans"/>
                          <a:cs typeface="DejaVu Sans"/>
                        </a:rPr>
                        <a:t>Voice experiment</a:t>
                      </a:r>
                    </a:p>
                  </a:txBody>
                  <a:tcPr marL="91440" marR="91440" marT="45720" marB="45720">
                    <a:lnL w="9525">
                      <a:solidFill>
                        <a:srgbClr val="D4DDD5"/>
                      </a:solidFill>
                      <a:prstDash val="solid"/>
                    </a:lnL>
                    <a:lnR w="9525">
                      <a:solidFill>
                        <a:srgbClr val="D4DDD5"/>
                      </a:solidFill>
                      <a:prstDash val="solid"/>
                    </a:lnR>
                    <a:lnB w="9525">
                      <a:solidFill>
                        <a:srgbClr val="D4DDD5"/>
                      </a:solidFill>
                      <a:prstDash val="solid"/>
                    </a:lnB>
                    <a:solidFill>
                      <a:srgbClr val="FFFFFF"/>
                    </a:solidFill>
                  </a:tcPr>
                </a:tc>
                <a:tc>
                  <a:txBody>
                    <a:bodyPr lIns="114300" tIns="114300" rIns="114300" bIns="114300"/>
                    <a:lstStyle/>
                    <a:p>
                      <a:r>
                        <a:rPr sz="1875" b="0">
                          <a:solidFill>
                            <a:srgbClr val="112D32"/>
                          </a:solidFill>
                          <a:latin typeface="DejaVu Sans"/>
                          <a:ea typeface="DejaVu Sans"/>
                          <a:cs typeface="DejaVu Sans"/>
                        </a:rPr>
                        <a:t>WhatsApp or browser audio</a:t>
                      </a:r>
                    </a:p>
                  </a:txBody>
                  <a:tcPr marL="91440" marR="91440" marT="45720" marB="45720">
                    <a:lnR w="9525">
                      <a:solidFill>
                        <a:srgbClr val="D4DDD5"/>
                      </a:solidFill>
                      <a:prstDash val="solid"/>
                    </a:lnR>
                    <a:lnB w="9525">
                      <a:solidFill>
                        <a:srgbClr val="D4DDD5"/>
                      </a:solidFill>
                      <a:prstDash val="solid"/>
                    </a:lnB>
                    <a:solidFill>
                      <a:srgbClr val="FFFFFF"/>
                    </a:solidFill>
                  </a:tcPr>
                </a:tc>
                <a:tc>
                  <a:txBody>
                    <a:bodyPr lIns="114300" tIns="114300" rIns="114300" bIns="114300"/>
                    <a:lstStyle/>
                    <a:p>
                      <a:r>
                        <a:rPr sz="1875" b="0">
                          <a:solidFill>
                            <a:srgbClr val="112D32"/>
                          </a:solidFill>
                          <a:latin typeface="DejaVu Sans"/>
                          <a:ea typeface="DejaVu Sans"/>
                          <a:cs typeface="DejaVu Sans"/>
                        </a:rPr>
                        <a:t>Separate policy feasibility</a:t>
                      </a:r>
                    </a:p>
                  </a:txBody>
                  <a:tcPr marL="91440" marR="91440" marT="45720" marB="45720">
                    <a:lnR w="9525">
                      <a:solidFill>
                        <a:srgbClr val="D4DDD5"/>
                      </a:solidFill>
                      <a:prstDash val="solid"/>
                    </a:lnR>
                    <a:lnB w="9525">
                      <a:solidFill>
                        <a:srgbClr val="D4DDD5"/>
                      </a:solidFill>
                      <a:prstDash val="solid"/>
                    </a:lnB>
                    <a:solidFill>
                      <a:srgbClr val="FFFFFF"/>
                    </a:solidFill>
                  </a:tcPr>
                </a:tc>
              </a:tr>
            </a:tbl>
          </a:graphicData>
        </a:graphic>
      </p:graphicFrame>
      <p:sp>
        <p:nvSpPr>
          <p:cNvPr id="5" name="text-3">
            <a:extLst xmlns:a="http://schemas.openxmlformats.org/drawingml/2006/main">
              <a:ext uri="{FF2B5EF4-FFF2-40B4-BE49-F238E27FC236}">
                <a16:creationId xmlns:a16="http://schemas.microsoft.com/office/drawing/2014/main" id="{8AE4DB83-0386-4DA0-9731-931DFE71A5A7}"/>
              </a:ext>
            </a:extLst>
          </p:cNvPr>
          <p:cNvSpPr>
            <a:spLocks xmlns:a="http://schemas.openxmlformats.org/drawingml/2006/main" noGrp="1"/>
          </p:cNvSpPr>
          <p:nvPr/>
        </p:nvSpPr>
        <p:spPr>
          <a:xfrm xmlns:a="http://schemas.openxmlformats.org/drawingml/2006/main">
            <a:off x="704850" y="5886450"/>
            <a:ext cx="10382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5C6D6B"/>
                </a:solidFill>
                <a:latin typeface="DejaVu Sans"/>
                <a:ea typeface="DejaVu Sans"/>
                <a:cs typeface="DejaVu Sans"/>
              </a:defRPr>
            </a:defPPr>
          </a:lstStyle>
          <a:p xmlns:a="http://schemas.openxmlformats.org/drawingml/2006/main">
            <a:pPr>
              <a:defRPr sz="1275" b="0">
                <a:solidFill>
                  <a:srgbClr val="5C6D6B"/>
                </a:solidFill>
                <a:latin typeface="DejaVu Sans"/>
                <a:ea typeface="DejaVu Sans"/>
                <a:cs typeface="DejaVu Sans"/>
              </a:defRPr>
            </a:pPr>
            <a:r>
              <a:rPr sz="1275" b="0">
                <a:solidFill>
                  <a:srgbClr val="5C6D6B"/>
                </a:solidFill>
                <a:latin typeface="DejaVu Sans"/>
                <a:ea typeface="DejaVu Sans"/>
                <a:cs typeface="DejaVu Sans"/>
              </a:rPr>
              <a:t>WhatsApp voice is not the offline-owner fallback.</a:t>
            </a:r>
          </a:p>
        </p:txBody>
      </p:sp>
    </p:spTree>
    <p:extLst>
      <p:ext uri="{BB962C8B-B14F-4D97-AF65-F5344CB8AC3E}">
        <p14:creationId xmlns:p14="http://schemas.microsoft.com/office/powerpoint/2010/main" val="704789248"/>
      </p:ext>
    </p:extLst>
  </p:cSld>
</p:sld>
</file>

<file path=ppt/slides/slide10.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95D341C7-5D77-4372-8560-5087A1987303}"/>
              </a:ext>
            </a:extLst>
          </p:cNvPr>
          <p:cNvSpPr>
            <a:spLocks xmlns:a="http://schemas.openxmlformats.org/drawingml/2006/main" noGrp="1"/>
          </p:cNvSpPr>
          <p:nvPr/>
        </p:nvSpPr>
        <p:spPr>
          <a:xfrm xmlns:a="http://schemas.openxmlformats.org/drawingml/2006/main">
            <a:off x="685800" y="581025"/>
            <a:ext cx="108204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600" b="1">
                <a:solidFill>
                  <a:srgbClr val="112D32"/>
                </a:solidFill>
                <a:latin typeface="DejaVu Sans"/>
                <a:ea typeface="DejaVu Sans"/>
                <a:cs typeface="DejaVu Sans"/>
              </a:defRPr>
            </a:defPPr>
          </a:lstStyle>
          <a:p xmlns:a="http://schemas.openxmlformats.org/drawingml/2006/main">
            <a:pPr>
              <a:defRPr sz="3600" b="1">
                <a:solidFill>
                  <a:srgbClr val="112D32"/>
                </a:solidFill>
                <a:latin typeface="DejaVu Sans"/>
                <a:ea typeface="DejaVu Sans"/>
                <a:cs typeface="DejaVu Sans"/>
              </a:defRPr>
            </a:pPr>
            <a:r>
              <a:rPr sz="3600" b="1">
                <a:solidFill>
                  <a:srgbClr val="112D32"/>
                </a:solidFill>
                <a:latin typeface="DejaVu Sans"/>
                <a:ea typeface="DejaVu Sans"/>
                <a:cs typeface="DejaVu Sans"/>
              </a:rPr>
              <a:t>Web first, native app later</a:t>
            </a:r>
          </a:p>
        </p:txBody>
      </p:sp>
      <p:sp>
        <p:nvSpPr>
          <p:cNvPr id="2" name="text-1">
            <a:extLst xmlns:a="http://schemas.openxmlformats.org/drawingml/2006/main">
              <a:ext uri="{FF2B5EF4-FFF2-40B4-BE49-F238E27FC236}">
                <a16:creationId xmlns:a16="http://schemas.microsoft.com/office/drawing/2014/main" id="{D6C8A3B4-F357-4442-BD0D-2301A83F28ED}"/>
              </a:ext>
            </a:extLst>
          </p:cNvPr>
          <p:cNvSpPr>
            <a:spLocks xmlns:a="http://schemas.openxmlformats.org/drawingml/2006/main" noGrp="1"/>
          </p:cNvSpPr>
          <p:nvPr/>
        </p:nvSpPr>
        <p:spPr>
          <a:xfrm xmlns:a="http://schemas.openxmlformats.org/drawingml/2006/main">
            <a:off x="704850" y="1619250"/>
            <a:ext cx="10668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5C6D6B"/>
                </a:solidFill>
                <a:latin typeface="DejaVu Sans"/>
                <a:ea typeface="DejaVu Sans"/>
                <a:cs typeface="DejaVu Sans"/>
              </a:defRPr>
            </a:defPPr>
          </a:lstStyle>
          <a:p xmlns:a="http://schemas.openxmlformats.org/drawingml/2006/main">
            <a:pPr>
              <a:defRPr sz="1725" b="0">
                <a:solidFill>
                  <a:srgbClr val="5C6D6B"/>
                </a:solidFill>
                <a:latin typeface="DejaVu Sans"/>
                <a:ea typeface="DejaVu Sans"/>
                <a:cs typeface="DejaVu Sans"/>
              </a:defRPr>
            </a:pPr>
            <a:r>
              <a:rPr sz="1725" b="0">
                <a:solidFill>
                  <a:srgbClr val="5C6D6B"/>
                </a:solidFill>
                <a:latin typeface="DejaVu Sans"/>
                <a:ea typeface="DejaVu Sans"/>
                <a:cs typeface="DejaVu Sans"/>
              </a:rPr>
              <a:t>One responsive experience for the first release</a:t>
            </a:r>
          </a:p>
        </p:txBody>
      </p:sp>
      <p:sp>
        <p:nvSpPr>
          <p:cNvPr id="3" name="text-2">
            <a:extLst xmlns:a="http://schemas.openxmlformats.org/drawingml/2006/main">
              <a:ext uri="{FF2B5EF4-FFF2-40B4-BE49-F238E27FC236}">
                <a16:creationId xmlns:a16="http://schemas.microsoft.com/office/drawing/2014/main" id="{DA5F146C-66F6-490C-A971-1E6AF328590A}"/>
              </a:ext>
            </a:extLst>
          </p:cNvPr>
          <p:cNvSpPr>
            <a:spLocks xmlns:a="http://schemas.openxmlformats.org/drawingml/2006/main" noGrp="1"/>
          </p:cNvSpPr>
          <p:nvPr/>
        </p:nvSpPr>
        <p:spPr>
          <a:xfrm xmlns:a="http://schemas.openxmlformats.org/drawingml/2006/main">
            <a:off x="10953750" y="6334125"/>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5C6D6B"/>
                </a:solidFill>
                <a:latin typeface="DejaVu Sans"/>
                <a:ea typeface="DejaVu Sans"/>
                <a:cs typeface="DejaVu Sans"/>
              </a:defRPr>
            </a:defPPr>
          </a:lstStyle>
          <a:p xmlns:a="http://schemas.openxmlformats.org/drawingml/2006/main">
            <a:pPr>
              <a:defRPr sz="1275" b="0">
                <a:solidFill>
                  <a:srgbClr val="5C6D6B"/>
                </a:solidFill>
                <a:latin typeface="DejaVu Sans"/>
                <a:ea typeface="DejaVu Sans"/>
                <a:cs typeface="DejaVu Sans"/>
              </a:defRPr>
            </a:pPr>
            <a:r>
              <a:rPr sz="1275" b="0">
                <a:solidFill>
                  <a:srgbClr val="5C6D6B"/>
                </a:solidFill>
                <a:latin typeface="DejaVu Sans"/>
                <a:ea typeface="DejaVu Sans"/>
                <a:cs typeface="DejaVu Sans"/>
              </a:rPr>
              <a:t>10</a:t>
            </a:r>
          </a:p>
        </p:txBody>
      </p:sp>
      <p:sp>
        <p:nvSpPr>
          <p:cNvPr id="4" name="text-3">
            <a:extLst xmlns:a="http://schemas.openxmlformats.org/drawingml/2006/main">
              <a:ext uri="{FF2B5EF4-FFF2-40B4-BE49-F238E27FC236}">
                <a16:creationId xmlns:a16="http://schemas.microsoft.com/office/drawing/2014/main" id="{8A516BB7-27DF-409A-8AA8-799655D8280C}"/>
              </a:ext>
            </a:extLst>
          </p:cNvPr>
          <p:cNvSpPr>
            <a:spLocks xmlns:a="http://schemas.openxmlformats.org/drawingml/2006/main" noGrp="1"/>
          </p:cNvSpPr>
          <p:nvPr/>
        </p:nvSpPr>
        <p:spPr>
          <a:xfrm xmlns:a="http://schemas.openxmlformats.org/drawingml/2006/main">
            <a:off x="704850" y="2524125"/>
            <a:ext cx="3143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1">
                <a:solidFill>
                  <a:srgbClr val="00796E"/>
                </a:solidFill>
                <a:latin typeface="DejaVu Sans"/>
                <a:ea typeface="DejaVu Sans"/>
                <a:cs typeface="DejaVu Sans"/>
              </a:defRPr>
            </a:defPPr>
          </a:lstStyle>
          <a:p xmlns:a="http://schemas.openxmlformats.org/drawingml/2006/main">
            <a:pPr>
              <a:defRPr sz="2250" b="1">
                <a:solidFill>
                  <a:srgbClr val="00796E"/>
                </a:solidFill>
                <a:latin typeface="DejaVu Sans"/>
                <a:ea typeface="DejaVu Sans"/>
                <a:cs typeface="DejaVu Sans"/>
              </a:defRPr>
            </a:pPr>
            <a:r>
              <a:rPr sz="2250" b="1">
                <a:solidFill>
                  <a:srgbClr val="00796E"/>
                </a:solidFill>
                <a:latin typeface="DejaVu Sans"/>
                <a:ea typeface="DejaVu Sans"/>
                <a:cs typeface="DejaVu Sans"/>
              </a:rPr>
              <a:t>Scanner</a:t>
            </a:r>
          </a:p>
        </p:txBody>
      </p:sp>
      <p:sp>
        <p:nvSpPr>
          <p:cNvPr id="5" name="text-4">
            <a:extLst xmlns:a="http://schemas.openxmlformats.org/drawingml/2006/main">
              <a:ext uri="{FF2B5EF4-FFF2-40B4-BE49-F238E27FC236}">
                <a16:creationId xmlns:a16="http://schemas.microsoft.com/office/drawing/2014/main" id="{E999CD5A-E33A-4DFD-8F6E-746FA14990DF}"/>
              </a:ext>
            </a:extLst>
          </p:cNvPr>
          <p:cNvSpPr>
            <a:spLocks xmlns:a="http://schemas.openxmlformats.org/drawingml/2006/main" noGrp="1"/>
          </p:cNvSpPr>
          <p:nvPr/>
        </p:nvSpPr>
        <p:spPr>
          <a:xfrm xmlns:a="http://schemas.openxmlformats.org/drawingml/2006/main">
            <a:off x="4133850" y="2524125"/>
            <a:ext cx="7239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112D32"/>
                </a:solidFill>
                <a:latin typeface="DejaVu Sans"/>
                <a:ea typeface="DejaVu Sans"/>
                <a:cs typeface="DejaVu Sans"/>
              </a:defRPr>
            </a:defPPr>
          </a:lstStyle>
          <a:p xmlns:a="http://schemas.openxmlformats.org/drawingml/2006/main">
            <a:pPr>
              <a:defRPr sz="2025" b="0">
                <a:solidFill>
                  <a:srgbClr val="112D32"/>
                </a:solidFill>
                <a:latin typeface="DejaVu Sans"/>
                <a:ea typeface="DejaVu Sans"/>
                <a:cs typeface="DejaVu Sans"/>
              </a:defRPr>
            </a:pPr>
            <a:r>
              <a:rPr sz="2025" b="0">
                <a:solidFill>
                  <a:srgbClr val="112D32"/>
                </a:solidFill>
                <a:latin typeface="DejaVu Sans"/>
                <a:ea typeface="DejaVu Sans"/>
                <a:cs typeface="DejaVu Sans"/>
              </a:rPr>
              <a:t>Open camera, scan and act in the browser.</a:t>
            </a:r>
          </a:p>
        </p:txBody>
      </p:sp>
      <p:sp>
        <p:nvSpPr>
          <p:cNvPr id="6" name="text-5">
            <a:extLst xmlns:a="http://schemas.openxmlformats.org/drawingml/2006/main">
              <a:ext uri="{FF2B5EF4-FFF2-40B4-BE49-F238E27FC236}">
                <a16:creationId xmlns:a16="http://schemas.microsoft.com/office/drawing/2014/main" id="{1913151A-BAA1-4CD7-87C2-BDA459BA2588}"/>
              </a:ext>
            </a:extLst>
          </p:cNvPr>
          <p:cNvSpPr>
            <a:spLocks xmlns:a="http://schemas.openxmlformats.org/drawingml/2006/main" noGrp="1"/>
          </p:cNvSpPr>
          <p:nvPr/>
        </p:nvSpPr>
        <p:spPr>
          <a:xfrm xmlns:a="http://schemas.openxmlformats.org/drawingml/2006/main">
            <a:off x="704850" y="3714750"/>
            <a:ext cx="3143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1">
                <a:solidFill>
                  <a:srgbClr val="00796E"/>
                </a:solidFill>
                <a:latin typeface="DejaVu Sans"/>
                <a:ea typeface="DejaVu Sans"/>
                <a:cs typeface="DejaVu Sans"/>
              </a:defRPr>
            </a:defPPr>
          </a:lstStyle>
          <a:p xmlns:a="http://schemas.openxmlformats.org/drawingml/2006/main">
            <a:pPr>
              <a:defRPr sz="2250" b="1">
                <a:solidFill>
                  <a:srgbClr val="00796E"/>
                </a:solidFill>
                <a:latin typeface="DejaVu Sans"/>
                <a:ea typeface="DejaVu Sans"/>
                <a:cs typeface="DejaVu Sans"/>
              </a:defRPr>
            </a:pPr>
            <a:r>
              <a:rPr sz="2250" b="1">
                <a:solidFill>
                  <a:srgbClr val="00796E"/>
                </a:solidFill>
                <a:latin typeface="DejaVu Sans"/>
                <a:ea typeface="DejaVu Sans"/>
                <a:cs typeface="DejaVu Sans"/>
              </a:rPr>
              <a:t>Owner and staff</a:t>
            </a:r>
          </a:p>
        </p:txBody>
      </p:sp>
      <p:sp>
        <p:nvSpPr>
          <p:cNvPr id="7" name="text-6">
            <a:extLst xmlns:a="http://schemas.openxmlformats.org/drawingml/2006/main">
              <a:ext uri="{FF2B5EF4-FFF2-40B4-BE49-F238E27FC236}">
                <a16:creationId xmlns:a16="http://schemas.microsoft.com/office/drawing/2014/main" id="{B82BF775-3C55-4363-898B-77AC8C4902C4}"/>
              </a:ext>
            </a:extLst>
          </p:cNvPr>
          <p:cNvSpPr>
            <a:spLocks xmlns:a="http://schemas.openxmlformats.org/drawingml/2006/main" noGrp="1"/>
          </p:cNvSpPr>
          <p:nvPr/>
        </p:nvSpPr>
        <p:spPr>
          <a:xfrm xmlns:a="http://schemas.openxmlformats.org/drawingml/2006/main">
            <a:off x="4133850" y="3714750"/>
            <a:ext cx="7239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112D32"/>
                </a:solidFill>
                <a:latin typeface="DejaVu Sans"/>
                <a:ea typeface="DejaVu Sans"/>
                <a:cs typeface="DejaVu Sans"/>
              </a:defRPr>
            </a:defPPr>
          </a:lstStyle>
          <a:p xmlns:a="http://schemas.openxmlformats.org/drawingml/2006/main">
            <a:pPr>
              <a:defRPr sz="2025" b="0">
                <a:solidFill>
                  <a:srgbClr val="112D32"/>
                </a:solidFill>
                <a:latin typeface="DejaVu Sans"/>
                <a:ea typeface="DejaVu Sans"/>
                <a:cs typeface="DejaVu Sans"/>
              </a:defRPr>
            </a:pPr>
            <a:r>
              <a:rPr sz="2025" b="0">
                <a:solidFill>
                  <a:srgbClr val="112D32"/>
                </a:solidFill>
                <a:latin typeface="DejaVu Sans"/>
                <a:ea typeface="DejaVu Sans"/>
                <a:cs typeface="DejaVu Sans"/>
              </a:rPr>
              <a:t>Use a web dashboard with optional PWA installation.</a:t>
            </a:r>
          </a:p>
        </p:txBody>
      </p:sp>
      <p:sp>
        <p:nvSpPr>
          <p:cNvPr id="8" name="text-7">
            <a:extLst xmlns:a="http://schemas.openxmlformats.org/drawingml/2006/main">
              <a:ext uri="{FF2B5EF4-FFF2-40B4-BE49-F238E27FC236}">
                <a16:creationId xmlns:a16="http://schemas.microsoft.com/office/drawing/2014/main" id="{CB97D995-DBCA-4C45-BDD8-5704B11E4AA6}"/>
              </a:ext>
            </a:extLst>
          </p:cNvPr>
          <p:cNvSpPr>
            <a:spLocks xmlns:a="http://schemas.openxmlformats.org/drawingml/2006/main" noGrp="1"/>
          </p:cNvSpPr>
          <p:nvPr/>
        </p:nvSpPr>
        <p:spPr>
          <a:xfrm xmlns:a="http://schemas.openxmlformats.org/drawingml/2006/main">
            <a:off x="704850" y="4905375"/>
            <a:ext cx="3143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1">
                <a:solidFill>
                  <a:srgbClr val="00796E"/>
                </a:solidFill>
                <a:latin typeface="DejaVu Sans"/>
                <a:ea typeface="DejaVu Sans"/>
                <a:cs typeface="DejaVu Sans"/>
              </a:defRPr>
            </a:defPPr>
          </a:lstStyle>
          <a:p xmlns:a="http://schemas.openxmlformats.org/drawingml/2006/main">
            <a:pPr>
              <a:defRPr sz="2250" b="1">
                <a:solidFill>
                  <a:srgbClr val="00796E"/>
                </a:solidFill>
                <a:latin typeface="DejaVu Sans"/>
                <a:ea typeface="DejaVu Sans"/>
                <a:cs typeface="DejaVu Sans"/>
              </a:defRPr>
            </a:pPr>
            <a:r>
              <a:rPr sz="2250" b="1">
                <a:solidFill>
                  <a:srgbClr val="00796E"/>
                </a:solidFill>
                <a:latin typeface="DejaVu Sans"/>
                <a:ea typeface="DejaVu Sans"/>
                <a:cs typeface="DejaVu Sans"/>
              </a:rPr>
              <a:t>Native application</a:t>
            </a:r>
          </a:p>
        </p:txBody>
      </p:sp>
      <p:sp>
        <p:nvSpPr>
          <p:cNvPr id="9" name="text-8">
            <a:extLst xmlns:a="http://schemas.openxmlformats.org/drawingml/2006/main">
              <a:ext uri="{FF2B5EF4-FFF2-40B4-BE49-F238E27FC236}">
                <a16:creationId xmlns:a16="http://schemas.microsoft.com/office/drawing/2014/main" id="{7EAD5593-51C9-430A-B136-46326E5C86BF}"/>
              </a:ext>
            </a:extLst>
          </p:cNvPr>
          <p:cNvSpPr>
            <a:spLocks xmlns:a="http://schemas.openxmlformats.org/drawingml/2006/main" noGrp="1"/>
          </p:cNvSpPr>
          <p:nvPr/>
        </p:nvSpPr>
        <p:spPr>
          <a:xfrm xmlns:a="http://schemas.openxmlformats.org/drawingml/2006/main">
            <a:off x="4133850" y="4905375"/>
            <a:ext cx="7239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112D32"/>
                </a:solidFill>
                <a:latin typeface="DejaVu Sans"/>
                <a:ea typeface="DejaVu Sans"/>
                <a:cs typeface="DejaVu Sans"/>
              </a:defRPr>
            </a:defPPr>
          </a:lstStyle>
          <a:p xmlns:a="http://schemas.openxmlformats.org/drawingml/2006/main">
            <a:pPr>
              <a:defRPr sz="2025" b="0">
                <a:solidFill>
                  <a:srgbClr val="112D32"/>
                </a:solidFill>
                <a:latin typeface="DejaVu Sans"/>
                <a:ea typeface="DejaVu Sans"/>
                <a:cs typeface="DejaVu Sans"/>
              </a:defRPr>
            </a:pPr>
            <a:r>
              <a:rPr sz="2025" b="0">
                <a:solidFill>
                  <a:srgbClr val="112D32"/>
                </a:solidFill>
                <a:latin typeface="DejaVu Sans"/>
                <a:ea typeface="DejaVu Sans"/>
                <a:cs typeface="DejaVu Sans"/>
              </a:rPr>
              <a:t>Reassess after the pilot identifies a concrete need.</a:t>
            </a:r>
          </a:p>
        </p:txBody>
      </p:sp>
    </p:spTree>
    <p:extLst>
      <p:ext uri="{BB962C8B-B14F-4D97-AF65-F5344CB8AC3E}">
        <p14:creationId xmlns:p14="http://schemas.microsoft.com/office/powerpoint/2010/main" val="836003344"/>
      </p:ext>
    </p:extLst>
  </p:cSld>
</p:sld>
</file>

<file path=ppt/slides/slide11.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E1D3D56A-F5B1-4C4B-A214-DFF5932ED3ED}"/>
              </a:ext>
            </a:extLst>
          </p:cNvPr>
          <p:cNvSpPr>
            <a:spLocks xmlns:a="http://schemas.openxmlformats.org/drawingml/2006/main" noGrp="1"/>
          </p:cNvSpPr>
          <p:nvPr/>
        </p:nvSpPr>
        <p:spPr>
          <a:xfrm xmlns:a="http://schemas.openxmlformats.org/drawingml/2006/main">
            <a:off x="685800" y="581025"/>
            <a:ext cx="108204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600" b="1">
                <a:solidFill>
                  <a:srgbClr val="112D32"/>
                </a:solidFill>
                <a:latin typeface="DejaVu Sans"/>
                <a:ea typeface="DejaVu Sans"/>
                <a:cs typeface="DejaVu Sans"/>
              </a:defRPr>
            </a:defPPr>
          </a:lstStyle>
          <a:p xmlns:a="http://schemas.openxmlformats.org/drawingml/2006/main">
            <a:pPr>
              <a:defRPr sz="3600" b="1">
                <a:solidFill>
                  <a:srgbClr val="112D32"/>
                </a:solidFill>
                <a:latin typeface="DejaVu Sans"/>
                <a:ea typeface="DejaVu Sans"/>
                <a:cs typeface="DejaVu Sans"/>
              </a:defRPr>
            </a:pPr>
            <a:r>
              <a:rPr sz="3600" b="1">
                <a:solidFill>
                  <a:srgbClr val="112D32"/>
                </a:solidFill>
                <a:latin typeface="DejaVu Sans"/>
                <a:ea typeface="DejaVu Sans"/>
                <a:cs typeface="DejaVu Sans"/>
              </a:rPr>
              <a:t>Business model experiments</a:t>
            </a:r>
          </a:p>
        </p:txBody>
      </p:sp>
      <p:sp>
        <p:nvSpPr>
          <p:cNvPr id="2" name="text-1">
            <a:extLst xmlns:a="http://schemas.openxmlformats.org/drawingml/2006/main">
              <a:ext uri="{FF2B5EF4-FFF2-40B4-BE49-F238E27FC236}">
                <a16:creationId xmlns:a16="http://schemas.microsoft.com/office/drawing/2014/main" id="{1B7230C5-28DC-49AC-911C-D62DBD412276}"/>
              </a:ext>
            </a:extLst>
          </p:cNvPr>
          <p:cNvSpPr>
            <a:spLocks xmlns:a="http://schemas.openxmlformats.org/drawingml/2006/main" noGrp="1"/>
          </p:cNvSpPr>
          <p:nvPr/>
        </p:nvSpPr>
        <p:spPr>
          <a:xfrm xmlns:a="http://schemas.openxmlformats.org/drawingml/2006/main">
            <a:off x="704850" y="1619250"/>
            <a:ext cx="10668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5C6D6B"/>
                </a:solidFill>
                <a:latin typeface="DejaVu Sans"/>
                <a:ea typeface="DejaVu Sans"/>
                <a:cs typeface="DejaVu Sans"/>
              </a:defRPr>
            </a:defPPr>
          </a:lstStyle>
          <a:p xmlns:a="http://schemas.openxmlformats.org/drawingml/2006/main">
            <a:pPr>
              <a:defRPr sz="1725" b="0">
                <a:solidFill>
                  <a:srgbClr val="5C6D6B"/>
                </a:solidFill>
                <a:latin typeface="DejaVu Sans"/>
                <a:ea typeface="DejaVu Sans"/>
                <a:cs typeface="DejaVu Sans"/>
              </a:defRPr>
            </a:pPr>
            <a:r>
              <a:rPr sz="1725" b="0">
                <a:solidFill>
                  <a:srgbClr val="5C6D6B"/>
                </a:solidFill>
                <a:latin typeface="DejaVu Sans"/>
                <a:ea typeface="DejaVu Sans"/>
                <a:cs typeface="DejaVu Sans"/>
              </a:rPr>
              <a:t>Recurring communication costs require explicit service limits.</a:t>
            </a:r>
          </a:p>
        </p:txBody>
      </p:sp>
      <p:sp>
        <p:nvSpPr>
          <p:cNvPr id="3" name="text-2">
            <a:extLst xmlns:a="http://schemas.openxmlformats.org/drawingml/2006/main">
              <a:ext uri="{FF2B5EF4-FFF2-40B4-BE49-F238E27FC236}">
                <a16:creationId xmlns:a16="http://schemas.microsoft.com/office/drawing/2014/main" id="{D45C3769-F158-479C-B7F4-72C9CAB2B685}"/>
              </a:ext>
            </a:extLst>
          </p:cNvPr>
          <p:cNvSpPr>
            <a:spLocks xmlns:a="http://schemas.openxmlformats.org/drawingml/2006/main" noGrp="1"/>
          </p:cNvSpPr>
          <p:nvPr/>
        </p:nvSpPr>
        <p:spPr>
          <a:xfrm xmlns:a="http://schemas.openxmlformats.org/drawingml/2006/main">
            <a:off x="10953750" y="6334125"/>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5C6D6B"/>
                </a:solidFill>
                <a:latin typeface="DejaVu Sans"/>
                <a:ea typeface="DejaVu Sans"/>
                <a:cs typeface="DejaVu Sans"/>
              </a:defRPr>
            </a:defPPr>
          </a:lstStyle>
          <a:p xmlns:a="http://schemas.openxmlformats.org/drawingml/2006/main">
            <a:pPr>
              <a:defRPr sz="1275" b="0">
                <a:solidFill>
                  <a:srgbClr val="5C6D6B"/>
                </a:solidFill>
                <a:latin typeface="DejaVu Sans"/>
                <a:ea typeface="DejaVu Sans"/>
                <a:cs typeface="DejaVu Sans"/>
              </a:defRPr>
            </a:pPr>
            <a:r>
              <a:rPr sz="1275" b="0">
                <a:solidFill>
                  <a:srgbClr val="5C6D6B"/>
                </a:solidFill>
                <a:latin typeface="DejaVu Sans"/>
                <a:ea typeface="DejaVu Sans"/>
                <a:cs typeface="DejaVu Sans"/>
              </a:rPr>
              <a:t>11</a:t>
            </a:r>
          </a:p>
        </p:txBody>
      </p:sp>
      <p:sp>
        <p:nvSpPr>
          <p:cNvPr id="4" name="text-3">
            <a:extLst xmlns:a="http://schemas.openxmlformats.org/drawingml/2006/main">
              <a:ext uri="{FF2B5EF4-FFF2-40B4-BE49-F238E27FC236}">
                <a16:creationId xmlns:a16="http://schemas.microsoft.com/office/drawing/2014/main" id="{C1EAFFDE-F921-4984-8984-53F718F62E74}"/>
              </a:ext>
            </a:extLst>
          </p:cNvPr>
          <p:cNvSpPr>
            <a:spLocks xmlns:a="http://schemas.openxmlformats.org/drawingml/2006/main" noGrp="1"/>
          </p:cNvSpPr>
          <p:nvPr/>
        </p:nvSpPr>
        <p:spPr>
          <a:xfrm xmlns:a="http://schemas.openxmlformats.org/drawingml/2006/main">
            <a:off x="704850" y="2524125"/>
            <a:ext cx="3143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1">
                <a:solidFill>
                  <a:srgbClr val="00796E"/>
                </a:solidFill>
                <a:latin typeface="DejaVu Sans"/>
                <a:ea typeface="DejaVu Sans"/>
                <a:cs typeface="DejaVu Sans"/>
              </a:defRPr>
            </a:defPPr>
          </a:lstStyle>
          <a:p xmlns:a="http://schemas.openxmlformats.org/drawingml/2006/main">
            <a:pPr>
              <a:defRPr sz="2250" b="1">
                <a:solidFill>
                  <a:srgbClr val="00796E"/>
                </a:solidFill>
                <a:latin typeface="DejaVu Sans"/>
                <a:ea typeface="DejaVu Sans"/>
                <a:cs typeface="DejaVu Sans"/>
              </a:defRPr>
            </a:pPr>
            <a:r>
              <a:rPr sz="2250" b="1">
                <a:solidFill>
                  <a:srgbClr val="00796E"/>
                </a:solidFill>
                <a:latin typeface="DejaVu Sans"/>
                <a:ea typeface="DejaVu Sans"/>
                <a:cs typeface="DejaVu Sans"/>
              </a:rPr>
              <a:t>Owner plan</a:t>
            </a:r>
          </a:p>
        </p:txBody>
      </p:sp>
      <p:sp>
        <p:nvSpPr>
          <p:cNvPr id="5" name="text-4">
            <a:extLst xmlns:a="http://schemas.openxmlformats.org/drawingml/2006/main">
              <a:ext uri="{FF2B5EF4-FFF2-40B4-BE49-F238E27FC236}">
                <a16:creationId xmlns:a16="http://schemas.microsoft.com/office/drawing/2014/main" id="{A5E088CE-1A96-47D4-BE57-BFA1BBCF9CAD}"/>
              </a:ext>
            </a:extLst>
          </p:cNvPr>
          <p:cNvSpPr>
            <a:spLocks xmlns:a="http://schemas.openxmlformats.org/drawingml/2006/main" noGrp="1"/>
          </p:cNvSpPr>
          <p:nvPr/>
        </p:nvSpPr>
        <p:spPr>
          <a:xfrm xmlns:a="http://schemas.openxmlformats.org/drawingml/2006/main">
            <a:off x="4133850" y="2524125"/>
            <a:ext cx="7239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112D32"/>
                </a:solidFill>
                <a:latin typeface="DejaVu Sans"/>
                <a:ea typeface="DejaVu Sans"/>
                <a:cs typeface="DejaVu Sans"/>
              </a:defRPr>
            </a:defPPr>
          </a:lstStyle>
          <a:p xmlns:a="http://schemas.openxmlformats.org/drawingml/2006/main">
            <a:pPr>
              <a:defRPr sz="2025" b="0">
                <a:solidFill>
                  <a:srgbClr val="112D32"/>
                </a:solidFill>
                <a:latin typeface="DejaVu Sans"/>
                <a:ea typeface="DejaVu Sans"/>
                <a:cs typeface="DejaVu Sans"/>
              </a:defRPr>
            </a:pPr>
            <a:r>
              <a:rPr sz="2025" b="0">
                <a:solidFill>
                  <a:srgbClr val="112D32"/>
                </a:solidFill>
                <a:latin typeface="DejaVu Sans"/>
                <a:ea typeface="DejaVu Sans"/>
                <a:cs typeface="DejaVu Sans"/>
              </a:rPr>
              <a:t>Sticker with a defined service period and fair-use allowance.</a:t>
            </a:r>
          </a:p>
        </p:txBody>
      </p:sp>
      <p:sp>
        <p:nvSpPr>
          <p:cNvPr id="6" name="text-5">
            <a:extLst xmlns:a="http://schemas.openxmlformats.org/drawingml/2006/main">
              <a:ext uri="{FF2B5EF4-FFF2-40B4-BE49-F238E27FC236}">
                <a16:creationId xmlns:a16="http://schemas.microsoft.com/office/drawing/2014/main" id="{54695DC0-4BA9-4B7F-8FCE-F1DCF5601B2E}"/>
              </a:ext>
            </a:extLst>
          </p:cNvPr>
          <p:cNvSpPr>
            <a:spLocks xmlns:a="http://schemas.openxmlformats.org/drawingml/2006/main" noGrp="1"/>
          </p:cNvSpPr>
          <p:nvPr/>
        </p:nvSpPr>
        <p:spPr>
          <a:xfrm xmlns:a="http://schemas.openxmlformats.org/drawingml/2006/main">
            <a:off x="704850" y="3714750"/>
            <a:ext cx="3143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1">
                <a:solidFill>
                  <a:srgbClr val="00796E"/>
                </a:solidFill>
                <a:latin typeface="DejaVu Sans"/>
                <a:ea typeface="DejaVu Sans"/>
                <a:cs typeface="DejaVu Sans"/>
              </a:defRPr>
            </a:defPPr>
          </a:lstStyle>
          <a:p xmlns:a="http://schemas.openxmlformats.org/drawingml/2006/main">
            <a:pPr>
              <a:defRPr sz="2250" b="1">
                <a:solidFill>
                  <a:srgbClr val="00796E"/>
                </a:solidFill>
                <a:latin typeface="DejaVu Sans"/>
                <a:ea typeface="DejaVu Sans"/>
                <a:cs typeface="DejaVu Sans"/>
              </a:defRPr>
            </a:pPr>
            <a:r>
              <a:rPr sz="2250" b="1">
                <a:solidFill>
                  <a:srgbClr val="00796E"/>
                </a:solidFill>
                <a:latin typeface="DejaVu Sans"/>
                <a:ea typeface="DejaVu Sans"/>
                <a:cs typeface="DejaVu Sans"/>
              </a:rPr>
              <a:t>Site plan</a:t>
            </a:r>
          </a:p>
        </p:txBody>
      </p:sp>
      <p:sp>
        <p:nvSpPr>
          <p:cNvPr id="7" name="text-6">
            <a:extLst xmlns:a="http://schemas.openxmlformats.org/drawingml/2006/main">
              <a:ext uri="{FF2B5EF4-FFF2-40B4-BE49-F238E27FC236}">
                <a16:creationId xmlns:a16="http://schemas.microsoft.com/office/drawing/2014/main" id="{8A615348-345C-4B14-8F95-628AA393BCE5}"/>
              </a:ext>
            </a:extLst>
          </p:cNvPr>
          <p:cNvSpPr>
            <a:spLocks xmlns:a="http://schemas.openxmlformats.org/drawingml/2006/main" noGrp="1"/>
          </p:cNvSpPr>
          <p:nvPr/>
        </p:nvSpPr>
        <p:spPr>
          <a:xfrm xmlns:a="http://schemas.openxmlformats.org/drawingml/2006/main">
            <a:off x="4133850" y="3714750"/>
            <a:ext cx="7239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112D32"/>
                </a:solidFill>
                <a:latin typeface="DejaVu Sans"/>
                <a:ea typeface="DejaVu Sans"/>
                <a:cs typeface="DejaVu Sans"/>
              </a:defRPr>
            </a:defPPr>
          </a:lstStyle>
          <a:p xmlns:a="http://schemas.openxmlformats.org/drawingml/2006/main">
            <a:pPr>
              <a:defRPr sz="2025" b="0">
                <a:solidFill>
                  <a:srgbClr val="112D32"/>
                </a:solidFill>
                <a:latin typeface="DejaVu Sans"/>
                <a:ea typeface="DejaVu Sans"/>
                <a:cs typeface="DejaVu Sans"/>
              </a:defRPr>
            </a:pPr>
            <a:r>
              <a:rPr sz="2025" b="0">
                <a:solidFill>
                  <a:srgbClr val="112D32"/>
                </a:solidFill>
                <a:latin typeface="DejaVu Sans"/>
                <a:ea typeface="DejaVu Sans"/>
                <a:cs typeface="DejaVu Sans"/>
              </a:rPr>
              <a:t>Setup and support, then an active-vehicle service fee.</a:t>
            </a:r>
          </a:p>
        </p:txBody>
      </p:sp>
      <p:sp>
        <p:nvSpPr>
          <p:cNvPr id="8" name="text-7">
            <a:extLst xmlns:a="http://schemas.openxmlformats.org/drawingml/2006/main">
              <a:ext uri="{FF2B5EF4-FFF2-40B4-BE49-F238E27FC236}">
                <a16:creationId xmlns:a16="http://schemas.microsoft.com/office/drawing/2014/main" id="{29973560-67AF-4C27-B092-3D759A1975CF}"/>
              </a:ext>
            </a:extLst>
          </p:cNvPr>
          <p:cNvSpPr>
            <a:spLocks xmlns:a="http://schemas.openxmlformats.org/drawingml/2006/main" noGrp="1"/>
          </p:cNvSpPr>
          <p:nvPr/>
        </p:nvSpPr>
        <p:spPr>
          <a:xfrm xmlns:a="http://schemas.openxmlformats.org/drawingml/2006/main">
            <a:off x="704850" y="4905375"/>
            <a:ext cx="3143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1">
                <a:solidFill>
                  <a:srgbClr val="00796E"/>
                </a:solidFill>
                <a:latin typeface="DejaVu Sans"/>
                <a:ea typeface="DejaVu Sans"/>
                <a:cs typeface="DejaVu Sans"/>
              </a:defRPr>
            </a:defPPr>
          </a:lstStyle>
          <a:p xmlns:a="http://schemas.openxmlformats.org/drawingml/2006/main">
            <a:pPr>
              <a:defRPr sz="2250" b="1">
                <a:solidFill>
                  <a:srgbClr val="00796E"/>
                </a:solidFill>
                <a:latin typeface="DejaVu Sans"/>
                <a:ea typeface="DejaVu Sans"/>
                <a:cs typeface="DejaVu Sans"/>
              </a:defRPr>
            </a:pPr>
            <a:r>
              <a:rPr sz="2250" b="1">
                <a:solidFill>
                  <a:srgbClr val="00796E"/>
                </a:solidFill>
                <a:latin typeface="DejaVu Sans"/>
                <a:ea typeface="DejaVu Sans"/>
                <a:cs typeface="DejaVu Sans"/>
              </a:rPr>
              <a:t>Premium voice</a:t>
            </a:r>
          </a:p>
        </p:txBody>
      </p:sp>
      <p:sp>
        <p:nvSpPr>
          <p:cNvPr id="9" name="text-8">
            <a:extLst xmlns:a="http://schemas.openxmlformats.org/drawingml/2006/main">
              <a:ext uri="{FF2B5EF4-FFF2-40B4-BE49-F238E27FC236}">
                <a16:creationId xmlns:a16="http://schemas.microsoft.com/office/drawing/2014/main" id="{F9B0345C-CFBD-485A-B4C9-0395FF2BD2B2}"/>
              </a:ext>
            </a:extLst>
          </p:cNvPr>
          <p:cNvSpPr>
            <a:spLocks xmlns:a="http://schemas.openxmlformats.org/drawingml/2006/main" noGrp="1"/>
          </p:cNvSpPr>
          <p:nvPr/>
        </p:nvSpPr>
        <p:spPr>
          <a:xfrm xmlns:a="http://schemas.openxmlformats.org/drawingml/2006/main">
            <a:off x="4133850" y="4905375"/>
            <a:ext cx="7239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112D32"/>
                </a:solidFill>
                <a:latin typeface="DejaVu Sans"/>
                <a:ea typeface="DejaVu Sans"/>
                <a:cs typeface="DejaVu Sans"/>
              </a:defRPr>
            </a:defPPr>
          </a:lstStyle>
          <a:p xmlns:a="http://schemas.openxmlformats.org/drawingml/2006/main">
            <a:pPr>
              <a:defRPr sz="2025" b="0">
                <a:solidFill>
                  <a:srgbClr val="112D32"/>
                </a:solidFill>
                <a:latin typeface="DejaVu Sans"/>
                <a:ea typeface="DejaVu Sans"/>
                <a:cs typeface="DejaVu Sans"/>
              </a:defRPr>
            </a:pPr>
            <a:r>
              <a:rPr sz="2025" b="0">
                <a:solidFill>
                  <a:srgbClr val="112D32"/>
                </a:solidFill>
                <a:latin typeface="DejaVu Sans"/>
                <a:ea typeface="DejaVu Sans"/>
                <a:cs typeface="DejaVu Sans"/>
              </a:rPr>
              <a:t>A capped allowance after measured carrier economics.</a:t>
            </a:r>
          </a:p>
        </p:txBody>
      </p:sp>
    </p:spTree>
    <p:extLst>
      <p:ext uri="{BB962C8B-B14F-4D97-AF65-F5344CB8AC3E}">
        <p14:creationId xmlns:p14="http://schemas.microsoft.com/office/powerpoint/2010/main" val="1057875273"/>
      </p:ext>
    </p:extLst>
  </p:cSld>
</p:sld>
</file>

<file path=ppt/slides/slide12.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12" name="text-0">
            <a:extLst xmlns:a="http://schemas.openxmlformats.org/drawingml/2006/main">
              <a:ext uri="{FF2B5EF4-FFF2-40B4-BE49-F238E27FC236}">
                <a16:creationId xmlns:a16="http://schemas.microsoft.com/office/drawing/2014/main" id="{F0C5BBB8-263F-4013-99B1-1FB9F0D294FE}"/>
              </a:ext>
            </a:extLst>
          </p:cNvPr>
          <p:cNvSpPr>
            <a:spLocks xmlns:a="http://schemas.openxmlformats.org/drawingml/2006/main" noGrp="1"/>
          </p:cNvSpPr>
          <p:nvPr/>
        </p:nvSpPr>
        <p:spPr>
          <a:xfrm xmlns:a="http://schemas.openxmlformats.org/drawingml/2006/main">
            <a:off x="685800" y="581025"/>
            <a:ext cx="108204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600" b="1">
                <a:solidFill>
                  <a:srgbClr val="112D32"/>
                </a:solidFill>
                <a:latin typeface="DejaVu Sans"/>
                <a:ea typeface="DejaVu Sans"/>
                <a:cs typeface="DejaVu Sans"/>
              </a:defRPr>
            </a:defPPr>
          </a:lstStyle>
          <a:p xmlns:a="http://schemas.openxmlformats.org/drawingml/2006/main">
            <a:pPr>
              <a:defRPr sz="3600" b="1">
                <a:solidFill>
                  <a:srgbClr val="112D32"/>
                </a:solidFill>
                <a:latin typeface="DejaVu Sans"/>
                <a:ea typeface="DejaVu Sans"/>
                <a:cs typeface="DejaVu Sans"/>
              </a:defRPr>
            </a:pPr>
            <a:r>
              <a:rPr sz="3600" b="1">
                <a:solidFill>
                  <a:srgbClr val="112D32"/>
                </a:solidFill>
                <a:latin typeface="DejaVu Sans"/>
                <a:ea typeface="DejaVu Sans"/>
                <a:cs typeface="DejaVu Sans"/>
              </a:rPr>
              <a:t>Illustrative first-year contribution</a:t>
            </a:r>
          </a:p>
        </p:txBody>
      </p:sp>
      <p:sp>
        <p:nvSpPr>
          <p:cNvPr id="2" name="text-1">
            <a:extLst xmlns:a="http://schemas.openxmlformats.org/drawingml/2006/main">
              <a:ext uri="{FF2B5EF4-FFF2-40B4-BE49-F238E27FC236}">
                <a16:creationId xmlns:a16="http://schemas.microsoft.com/office/drawing/2014/main" id="{EBF6089D-CD06-418C-887D-6B6B7BC1501D}"/>
              </a:ext>
            </a:extLst>
          </p:cNvPr>
          <p:cNvSpPr>
            <a:spLocks xmlns:a="http://schemas.openxmlformats.org/drawingml/2006/main" noGrp="1"/>
          </p:cNvSpPr>
          <p:nvPr/>
        </p:nvSpPr>
        <p:spPr>
          <a:xfrm xmlns:a="http://schemas.openxmlformats.org/drawingml/2006/main">
            <a:off x="704850" y="1619250"/>
            <a:ext cx="10668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5C6D6B"/>
                </a:solidFill>
                <a:latin typeface="DejaVu Sans"/>
                <a:ea typeface="DejaVu Sans"/>
                <a:cs typeface="DejaVu Sans"/>
              </a:defRPr>
            </a:defPPr>
          </a:lstStyle>
          <a:p xmlns:a="http://schemas.openxmlformats.org/drawingml/2006/main">
            <a:pPr>
              <a:defRPr sz="1725" b="0">
                <a:solidFill>
                  <a:srgbClr val="5C6D6B"/>
                </a:solidFill>
                <a:latin typeface="DejaVu Sans"/>
                <a:ea typeface="DejaVu Sans"/>
                <a:cs typeface="DejaVu Sans"/>
              </a:defRPr>
            </a:pPr>
            <a:r>
              <a:rPr sz="1725" b="0">
                <a:solidFill>
                  <a:srgbClr val="5C6D6B"/>
                </a:solidFill>
                <a:latin typeface="DejaVu Sans"/>
                <a:ea typeface="DejaVu Sans"/>
                <a:cs typeface="DejaVu Sans"/>
              </a:rPr>
              <a:t>PKR per activated owner. Assumptions, not vendor quotations.</a:t>
            </a:r>
          </a:p>
        </p:txBody>
      </p:sp>
      <p:sp>
        <p:nvSpPr>
          <p:cNvPr id="3" name="text-2">
            <a:extLst xmlns:a="http://schemas.openxmlformats.org/drawingml/2006/main">
              <a:ext uri="{FF2B5EF4-FFF2-40B4-BE49-F238E27FC236}">
                <a16:creationId xmlns:a16="http://schemas.microsoft.com/office/drawing/2014/main" id="{6C55E246-ECDA-4F2F-BFEF-34956759B8B7}"/>
              </a:ext>
            </a:extLst>
          </p:cNvPr>
          <p:cNvSpPr>
            <a:spLocks xmlns:a="http://schemas.openxmlformats.org/drawingml/2006/main" noGrp="1"/>
          </p:cNvSpPr>
          <p:nvPr/>
        </p:nvSpPr>
        <p:spPr>
          <a:xfrm xmlns:a="http://schemas.openxmlformats.org/drawingml/2006/main">
            <a:off x="10953750" y="6334125"/>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5C6D6B"/>
                </a:solidFill>
                <a:latin typeface="DejaVu Sans"/>
                <a:ea typeface="DejaVu Sans"/>
                <a:cs typeface="DejaVu Sans"/>
              </a:defRPr>
            </a:defPPr>
          </a:lstStyle>
          <a:p xmlns:a="http://schemas.openxmlformats.org/drawingml/2006/main">
            <a:pPr>
              <a:defRPr sz="1275" b="0">
                <a:solidFill>
                  <a:srgbClr val="5C6D6B"/>
                </a:solidFill>
                <a:latin typeface="DejaVu Sans"/>
                <a:ea typeface="DejaVu Sans"/>
                <a:cs typeface="DejaVu Sans"/>
              </a:defRPr>
            </a:pPr>
            <a:r>
              <a:rPr sz="1275" b="0">
                <a:solidFill>
                  <a:srgbClr val="5C6D6B"/>
                </a:solidFill>
                <a:latin typeface="DejaVu Sans"/>
                <a:ea typeface="DejaVu Sans"/>
                <a:cs typeface="DejaVu Sans"/>
              </a:rPr>
              <a:t>12</a:t>
            </a:r>
          </a:p>
        </p:txBody>
      </p:sp>
      <p:sp>
        <p:nvSpPr>
          <p:cNvPr id="4" name="text-3">
            <a:extLst xmlns:a="http://schemas.openxmlformats.org/drawingml/2006/main">
              <a:ext uri="{FF2B5EF4-FFF2-40B4-BE49-F238E27FC236}">
                <a16:creationId xmlns:a16="http://schemas.microsoft.com/office/drawing/2014/main" id="{7451DB8F-882B-4756-89D3-D391D346A09B}"/>
              </a:ext>
            </a:extLst>
          </p:cNvPr>
          <p:cNvSpPr>
            <a:spLocks xmlns:a="http://schemas.openxmlformats.org/drawingml/2006/main" noGrp="1"/>
          </p:cNvSpPr>
          <p:nvPr/>
        </p:nvSpPr>
        <p:spPr>
          <a:xfrm xmlns:a="http://schemas.openxmlformats.org/drawingml/2006/main">
            <a:off x="704850" y="2571750"/>
            <a:ext cx="3238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6300" b="1">
                <a:solidFill>
                  <a:srgbClr val="00796E"/>
                </a:solidFill>
                <a:latin typeface="DejaVu Sans"/>
                <a:ea typeface="DejaVu Sans"/>
                <a:cs typeface="DejaVu Sans"/>
              </a:defRPr>
            </a:defPPr>
          </a:lstStyle>
          <a:p xmlns:a="http://schemas.openxmlformats.org/drawingml/2006/main">
            <a:pPr>
              <a:defRPr sz="6300" b="1">
                <a:solidFill>
                  <a:srgbClr val="00796E"/>
                </a:solidFill>
                <a:latin typeface="DejaVu Sans"/>
                <a:ea typeface="DejaVu Sans"/>
                <a:cs typeface="DejaVu Sans"/>
              </a:defRPr>
            </a:pPr>
            <a:r>
              <a:rPr sz="6300" b="1">
                <a:solidFill>
                  <a:srgbClr val="00796E"/>
                </a:solidFill>
                <a:latin typeface="DejaVu Sans"/>
                <a:ea typeface="DejaVu Sans"/>
                <a:cs typeface="DejaVu Sans"/>
              </a:rPr>
              <a:t>999</a:t>
            </a:r>
          </a:p>
        </p:txBody>
      </p:sp>
      <p:sp>
        <p:nvSpPr>
          <p:cNvPr id="5" name="text-4">
            <a:extLst xmlns:a="http://schemas.openxmlformats.org/drawingml/2006/main">
              <a:ext uri="{FF2B5EF4-FFF2-40B4-BE49-F238E27FC236}">
                <a16:creationId xmlns:a16="http://schemas.microsoft.com/office/drawing/2014/main" id="{42737A32-DA1F-4080-AD76-3FE9C1FCD2AA}"/>
              </a:ext>
            </a:extLst>
          </p:cNvPr>
          <p:cNvSpPr>
            <a:spLocks xmlns:a="http://schemas.openxmlformats.org/drawingml/2006/main" noGrp="1"/>
          </p:cNvSpPr>
          <p:nvPr/>
        </p:nvSpPr>
        <p:spPr>
          <a:xfrm xmlns:a="http://schemas.openxmlformats.org/drawingml/2006/main">
            <a:off x="742950" y="3857625"/>
            <a:ext cx="3143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0">
                <a:solidFill>
                  <a:srgbClr val="112D32"/>
                </a:solidFill>
                <a:latin typeface="DejaVu Sans"/>
                <a:ea typeface="DejaVu Sans"/>
                <a:cs typeface="DejaVu Sans"/>
              </a:defRPr>
            </a:defPPr>
          </a:lstStyle>
          <a:p xmlns:a="http://schemas.openxmlformats.org/drawingml/2006/main">
            <a:pPr>
              <a:defRPr sz="2175" b="0">
                <a:solidFill>
                  <a:srgbClr val="112D32"/>
                </a:solidFill>
                <a:latin typeface="DejaVu Sans"/>
                <a:ea typeface="DejaVu Sans"/>
                <a:cs typeface="DejaVu Sans"/>
              </a:defRPr>
            </a:pPr>
            <a:r>
              <a:rPr sz="2175" b="0">
                <a:solidFill>
                  <a:srgbClr val="112D32"/>
                </a:solidFill>
                <a:latin typeface="DejaVu Sans"/>
                <a:ea typeface="DejaVu Sans"/>
                <a:cs typeface="DejaVu Sans"/>
              </a:rPr>
              <a:t>selling price</a:t>
            </a:r>
          </a:p>
        </p:txBody>
      </p:sp>
      <p:sp>
        <p:nvSpPr>
          <p:cNvPr id="6" name="text-5">
            <a:extLst xmlns:a="http://schemas.openxmlformats.org/drawingml/2006/main">
              <a:ext uri="{FF2B5EF4-FFF2-40B4-BE49-F238E27FC236}">
                <a16:creationId xmlns:a16="http://schemas.microsoft.com/office/drawing/2014/main" id="{45F32FE8-1A5F-4501-9B57-2705C0AE4AF7}"/>
              </a:ext>
            </a:extLst>
          </p:cNvPr>
          <p:cNvSpPr>
            <a:spLocks xmlns:a="http://schemas.openxmlformats.org/drawingml/2006/main" noGrp="1"/>
          </p:cNvSpPr>
          <p:nvPr/>
        </p:nvSpPr>
        <p:spPr>
          <a:xfrm xmlns:a="http://schemas.openxmlformats.org/drawingml/2006/main">
            <a:off x="4476750" y="2571750"/>
            <a:ext cx="3238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6300" b="1">
                <a:solidFill>
                  <a:srgbClr val="112D32"/>
                </a:solidFill>
                <a:latin typeface="DejaVu Sans"/>
                <a:ea typeface="DejaVu Sans"/>
                <a:cs typeface="DejaVu Sans"/>
              </a:defRPr>
            </a:defPPr>
          </a:lstStyle>
          <a:p xmlns:a="http://schemas.openxmlformats.org/drawingml/2006/main">
            <a:pPr>
              <a:defRPr sz="6300" b="1">
                <a:solidFill>
                  <a:srgbClr val="112D32"/>
                </a:solidFill>
                <a:latin typeface="DejaVu Sans"/>
                <a:ea typeface="DejaVu Sans"/>
                <a:cs typeface="DejaVu Sans"/>
              </a:defRPr>
            </a:pPr>
            <a:r>
              <a:rPr sz="6300" b="1">
                <a:solidFill>
                  <a:srgbClr val="112D32"/>
                </a:solidFill>
                <a:latin typeface="DejaVu Sans"/>
                <a:ea typeface="DejaVu Sans"/>
                <a:cs typeface="DejaVu Sans"/>
              </a:rPr>
              <a:t>602</a:t>
            </a:r>
          </a:p>
        </p:txBody>
      </p:sp>
      <p:sp>
        <p:nvSpPr>
          <p:cNvPr id="7" name="text-6">
            <a:extLst xmlns:a="http://schemas.openxmlformats.org/drawingml/2006/main">
              <a:ext uri="{FF2B5EF4-FFF2-40B4-BE49-F238E27FC236}">
                <a16:creationId xmlns:a16="http://schemas.microsoft.com/office/drawing/2014/main" id="{6206E41A-8FD4-4B52-B989-2443EC38775A}"/>
              </a:ext>
            </a:extLst>
          </p:cNvPr>
          <p:cNvSpPr>
            <a:spLocks xmlns:a="http://schemas.openxmlformats.org/drawingml/2006/main" noGrp="1"/>
          </p:cNvSpPr>
          <p:nvPr/>
        </p:nvSpPr>
        <p:spPr>
          <a:xfrm xmlns:a="http://schemas.openxmlformats.org/drawingml/2006/main">
            <a:off x="4514850" y="3857625"/>
            <a:ext cx="3143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0">
                <a:solidFill>
                  <a:srgbClr val="112D32"/>
                </a:solidFill>
                <a:latin typeface="DejaVu Sans"/>
                <a:ea typeface="DejaVu Sans"/>
                <a:cs typeface="DejaVu Sans"/>
              </a:defRPr>
            </a:defPPr>
          </a:lstStyle>
          <a:p xmlns:a="http://schemas.openxmlformats.org/drawingml/2006/main">
            <a:pPr>
              <a:defRPr sz="2175" b="0">
                <a:solidFill>
                  <a:srgbClr val="112D32"/>
                </a:solidFill>
                <a:latin typeface="DejaVu Sans"/>
                <a:ea typeface="DejaVu Sans"/>
                <a:cs typeface="DejaVu Sans"/>
              </a:defRPr>
            </a:pPr>
            <a:r>
              <a:rPr sz="2175" b="0">
                <a:solidFill>
                  <a:srgbClr val="112D32"/>
                </a:solidFill>
                <a:latin typeface="DejaVu Sans"/>
                <a:ea typeface="DejaVu Sans"/>
                <a:cs typeface="DejaVu Sans"/>
              </a:rPr>
              <a:t>variable cost</a:t>
            </a:r>
          </a:p>
        </p:txBody>
      </p:sp>
      <p:sp>
        <p:nvSpPr>
          <p:cNvPr id="8" name="text-7">
            <a:extLst xmlns:a="http://schemas.openxmlformats.org/drawingml/2006/main">
              <a:ext uri="{FF2B5EF4-FFF2-40B4-BE49-F238E27FC236}">
                <a16:creationId xmlns:a16="http://schemas.microsoft.com/office/drawing/2014/main" id="{E319E2BC-BB36-463F-B07F-A0F100D6A319}"/>
              </a:ext>
            </a:extLst>
          </p:cNvPr>
          <p:cNvSpPr>
            <a:spLocks xmlns:a="http://schemas.openxmlformats.org/drawingml/2006/main" noGrp="1"/>
          </p:cNvSpPr>
          <p:nvPr/>
        </p:nvSpPr>
        <p:spPr>
          <a:xfrm xmlns:a="http://schemas.openxmlformats.org/drawingml/2006/main">
            <a:off x="8248650" y="2571750"/>
            <a:ext cx="32575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6300" b="1">
                <a:solidFill>
                  <a:srgbClr val="00796E"/>
                </a:solidFill>
                <a:latin typeface="DejaVu Sans"/>
                <a:ea typeface="DejaVu Sans"/>
                <a:cs typeface="DejaVu Sans"/>
              </a:defRPr>
            </a:defPPr>
          </a:lstStyle>
          <a:p xmlns:a="http://schemas.openxmlformats.org/drawingml/2006/main">
            <a:pPr>
              <a:defRPr sz="6300" b="1">
                <a:solidFill>
                  <a:srgbClr val="00796E"/>
                </a:solidFill>
                <a:latin typeface="DejaVu Sans"/>
                <a:ea typeface="DejaVu Sans"/>
                <a:cs typeface="DejaVu Sans"/>
              </a:defRPr>
            </a:pPr>
            <a:r>
              <a:rPr sz="6300" b="1">
                <a:solidFill>
                  <a:srgbClr val="00796E"/>
                </a:solidFill>
                <a:latin typeface="DejaVu Sans"/>
                <a:ea typeface="DejaVu Sans"/>
                <a:cs typeface="DejaVu Sans"/>
              </a:rPr>
              <a:t>397</a:t>
            </a:r>
          </a:p>
        </p:txBody>
      </p:sp>
      <p:sp>
        <p:nvSpPr>
          <p:cNvPr id="9" name="text-8">
            <a:extLst xmlns:a="http://schemas.openxmlformats.org/drawingml/2006/main">
              <a:ext uri="{FF2B5EF4-FFF2-40B4-BE49-F238E27FC236}">
                <a16:creationId xmlns:a16="http://schemas.microsoft.com/office/drawing/2014/main" id="{5895171E-7286-4CFB-8C23-0D0DA306A9FC}"/>
              </a:ext>
            </a:extLst>
          </p:cNvPr>
          <p:cNvSpPr>
            <a:spLocks xmlns:a="http://schemas.openxmlformats.org/drawingml/2006/main" noGrp="1"/>
          </p:cNvSpPr>
          <p:nvPr/>
        </p:nvSpPr>
        <p:spPr>
          <a:xfrm xmlns:a="http://schemas.openxmlformats.org/drawingml/2006/main">
            <a:off x="8286750" y="3857625"/>
            <a:ext cx="3219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0">
                <a:solidFill>
                  <a:srgbClr val="112D32"/>
                </a:solidFill>
                <a:latin typeface="DejaVu Sans"/>
                <a:ea typeface="DejaVu Sans"/>
                <a:cs typeface="DejaVu Sans"/>
              </a:defRPr>
            </a:defPPr>
          </a:lstStyle>
          <a:p xmlns:a="http://schemas.openxmlformats.org/drawingml/2006/main">
            <a:pPr>
              <a:defRPr sz="2175" b="0">
                <a:solidFill>
                  <a:srgbClr val="112D32"/>
                </a:solidFill>
                <a:latin typeface="DejaVu Sans"/>
                <a:ea typeface="DejaVu Sans"/>
                <a:cs typeface="DejaVu Sans"/>
              </a:defRPr>
            </a:pPr>
            <a:r>
              <a:rPr sz="2175" b="0">
                <a:solidFill>
                  <a:srgbClr val="112D32"/>
                </a:solidFill>
                <a:latin typeface="DejaVu Sans"/>
                <a:ea typeface="DejaVu Sans"/>
                <a:cs typeface="DejaVu Sans"/>
              </a:rPr>
              <a:t>contribution</a:t>
            </a:r>
          </a:p>
        </p:txBody>
      </p:sp>
      <p:sp>
        <p:nvSpPr>
          <p:cNvPr id="10" name="text-9">
            <a:extLst xmlns:a="http://schemas.openxmlformats.org/drawingml/2006/main">
              <a:ext uri="{FF2B5EF4-FFF2-40B4-BE49-F238E27FC236}">
                <a16:creationId xmlns:a16="http://schemas.microsoft.com/office/drawing/2014/main" id="{DA141C17-3B13-42B4-BB82-D8F20E339063}"/>
              </a:ext>
            </a:extLst>
          </p:cNvPr>
          <p:cNvSpPr>
            <a:spLocks xmlns:a="http://schemas.openxmlformats.org/drawingml/2006/main" noGrp="1"/>
          </p:cNvSpPr>
          <p:nvPr/>
        </p:nvSpPr>
        <p:spPr>
          <a:xfrm xmlns:a="http://schemas.openxmlformats.org/drawingml/2006/main">
            <a:off x="742950" y="5000625"/>
            <a:ext cx="104775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112D32"/>
                </a:solidFill>
                <a:latin typeface="DejaVu Sans"/>
                <a:ea typeface="DejaVu Sans"/>
                <a:cs typeface="DejaVu Sans"/>
              </a:defRPr>
            </a:defPPr>
          </a:lstStyle>
          <a:p xmlns:a="http://schemas.openxmlformats.org/drawingml/2006/main">
            <a:pPr>
              <a:defRPr sz="1950" b="0">
                <a:solidFill>
                  <a:srgbClr val="112D32"/>
                </a:solidFill>
                <a:latin typeface="DejaVu Sans"/>
                <a:ea typeface="DejaVu Sans"/>
                <a:cs typeface="DejaVu Sans"/>
              </a:defRPr>
            </a:pPr>
            <a:r>
              <a:rPr sz="1950" b="0">
                <a:solidFill>
                  <a:srgbClr val="112D32"/>
                </a:solidFill>
                <a:latin typeface="DejaVu Sans"/>
                <a:ea typeface="DejaVu Sans"/>
                <a:cs typeface="DejaVu Sans"/>
              </a:rPr>
              <a:t>Higher acquisition and delivery costs reduce contribution to PKR 177.</a:t>
            </a:r>
          </a:p>
        </p:txBody>
      </p:sp>
      <p:sp>
        <p:nvSpPr>
          <p:cNvPr id="11" name="text-10">
            <a:extLst xmlns:a="http://schemas.openxmlformats.org/drawingml/2006/main">
              <a:ext uri="{FF2B5EF4-FFF2-40B4-BE49-F238E27FC236}">
                <a16:creationId xmlns:a16="http://schemas.microsoft.com/office/drawing/2014/main" id="{F42CC79A-E346-4BA9-BAC0-B96C7D09A28E}"/>
              </a:ext>
            </a:extLst>
          </p:cNvPr>
          <p:cNvSpPr>
            <a:spLocks xmlns:a="http://schemas.openxmlformats.org/drawingml/2006/main" noGrp="1"/>
          </p:cNvSpPr>
          <p:nvPr/>
        </p:nvSpPr>
        <p:spPr>
          <a:xfrm xmlns:a="http://schemas.openxmlformats.org/drawingml/2006/main">
            <a:off x="704850" y="5886450"/>
            <a:ext cx="10382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5C6D6B"/>
                </a:solidFill>
                <a:latin typeface="DejaVu Sans"/>
                <a:ea typeface="DejaVu Sans"/>
                <a:cs typeface="DejaVu Sans"/>
              </a:defRPr>
            </a:defPPr>
          </a:lstStyle>
          <a:p xmlns:a="http://schemas.openxmlformats.org/drawingml/2006/main">
            <a:pPr>
              <a:defRPr sz="1275" b="0">
                <a:solidFill>
                  <a:srgbClr val="5C6D6B"/>
                </a:solidFill>
                <a:latin typeface="DejaVu Sans"/>
                <a:ea typeface="DejaVu Sans"/>
                <a:cs typeface="DejaVu Sans"/>
              </a:defRPr>
            </a:pPr>
            <a:r>
              <a:rPr sz="1275" b="0">
                <a:solidFill>
                  <a:srgbClr val="5C6D6B"/>
                </a:solidFill>
                <a:latin typeface="DejaVu Sans"/>
                <a:ea typeface="DejaVu Sans"/>
                <a:cs typeface="DejaVu Sans"/>
              </a:rPr>
              <a:t>Excludes salaries, taxes, fixed costs and future service liabilities. Voice costs remain unquoted.</a:t>
            </a:r>
          </a:p>
        </p:txBody>
      </p:sp>
    </p:spTree>
    <p:extLst>
      <p:ext uri="{BB962C8B-B14F-4D97-AF65-F5344CB8AC3E}">
        <p14:creationId xmlns:p14="http://schemas.microsoft.com/office/powerpoint/2010/main" val="611331157"/>
      </p:ext>
    </p:extLst>
  </p:cSld>
</p:sld>
</file>

<file path=ppt/slides/slide13.xml><?xml version="1.0" encoding="utf-8"?>
<p:sld xmlns:p="http://schemas.openxmlformats.org/presentationml/2006/main">
  <p:cSld>
    <p:bg>
      <p:bgPr>
        <a:solidFill xmlns:a="http://schemas.openxmlformats.org/drawingml/2006/main">
          <a:srgbClr val="112D32"/>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FCBB7B29-4E96-4718-BC81-07833483EC2A}"/>
              </a:ext>
            </a:extLst>
          </p:cNvPr>
          <p:cNvSpPr>
            <a:spLocks xmlns:a="http://schemas.openxmlformats.org/drawingml/2006/main" noGrp="1"/>
          </p:cNvSpPr>
          <p:nvPr/>
        </p:nvSpPr>
        <p:spPr>
          <a:xfrm xmlns:a="http://schemas.openxmlformats.org/drawingml/2006/main">
            <a:off x="685800" y="581025"/>
            <a:ext cx="108204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600" b="1">
                <a:solidFill>
                  <a:srgbClr val="F5F2E9"/>
                </a:solidFill>
                <a:latin typeface="DejaVu Sans"/>
                <a:ea typeface="DejaVu Sans"/>
                <a:cs typeface="DejaVu Sans"/>
              </a:defRPr>
            </a:defPPr>
          </a:lstStyle>
          <a:p xmlns:a="http://schemas.openxmlformats.org/drawingml/2006/main">
            <a:pPr>
              <a:defRPr sz="3600" b="1">
                <a:solidFill>
                  <a:srgbClr val="F5F2E9"/>
                </a:solidFill>
                <a:latin typeface="DejaVu Sans"/>
                <a:ea typeface="DejaVu Sans"/>
                <a:cs typeface="DejaVu Sans"/>
              </a:defRPr>
            </a:pPr>
            <a:r>
              <a:rPr sz="3600" b="1">
                <a:solidFill>
                  <a:srgbClr val="F5F2E9"/>
                </a:solidFill>
                <a:latin typeface="DejaVu Sans"/>
                <a:ea typeface="DejaVu Sans"/>
                <a:cs typeface="DejaVu Sans"/>
              </a:rPr>
              <a:t>A bottom-up market test</a:t>
            </a:r>
          </a:p>
        </p:txBody>
      </p:sp>
      <p:sp>
        <p:nvSpPr>
          <p:cNvPr id="2" name="text-1">
            <a:extLst xmlns:a="http://schemas.openxmlformats.org/drawingml/2006/main">
              <a:ext uri="{FF2B5EF4-FFF2-40B4-BE49-F238E27FC236}">
                <a16:creationId xmlns:a16="http://schemas.microsoft.com/office/drawing/2014/main" id="{E7CD70E5-64A7-4B16-B801-CF2120FCBC62}"/>
              </a:ext>
            </a:extLst>
          </p:cNvPr>
          <p:cNvSpPr>
            <a:spLocks xmlns:a="http://schemas.openxmlformats.org/drawingml/2006/main" noGrp="1"/>
          </p:cNvSpPr>
          <p:nvPr/>
        </p:nvSpPr>
        <p:spPr>
          <a:xfrm xmlns:a="http://schemas.openxmlformats.org/drawingml/2006/main">
            <a:off x="704850" y="1619250"/>
            <a:ext cx="10668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B9F3D4"/>
                </a:solidFill>
                <a:latin typeface="DejaVu Sans"/>
                <a:ea typeface="DejaVu Sans"/>
                <a:cs typeface="DejaVu Sans"/>
              </a:defRPr>
            </a:defPPr>
          </a:lstStyle>
          <a:p xmlns:a="http://schemas.openxmlformats.org/drawingml/2006/main">
            <a:pPr>
              <a:defRPr sz="1725" b="0">
                <a:solidFill>
                  <a:srgbClr val="B9F3D4"/>
                </a:solidFill>
                <a:latin typeface="DejaVu Sans"/>
                <a:ea typeface="DejaVu Sans"/>
                <a:cs typeface="DejaVu Sans"/>
              </a:defRPr>
            </a:pPr>
            <a:r>
              <a:rPr sz="1725" b="0">
                <a:solidFill>
                  <a:srgbClr val="B9F3D4"/>
                </a:solidFill>
                <a:latin typeface="DejaVu Sans"/>
                <a:ea typeface="DejaVu Sans"/>
                <a:cs typeface="DejaVu Sans"/>
              </a:rPr>
              <a:t>A reachable cohort is more useful than an invented national TAM.</a:t>
            </a:r>
          </a:p>
        </p:txBody>
      </p:sp>
      <p:sp>
        <p:nvSpPr>
          <p:cNvPr id="3" name="text-2">
            <a:extLst xmlns:a="http://schemas.openxmlformats.org/drawingml/2006/main">
              <a:ext uri="{FF2B5EF4-FFF2-40B4-BE49-F238E27FC236}">
                <a16:creationId xmlns:a16="http://schemas.microsoft.com/office/drawing/2014/main" id="{D267860A-DFC2-4312-A35A-2A59568EF018}"/>
              </a:ext>
            </a:extLst>
          </p:cNvPr>
          <p:cNvSpPr>
            <a:spLocks xmlns:a="http://schemas.openxmlformats.org/drawingml/2006/main" noGrp="1"/>
          </p:cNvSpPr>
          <p:nvPr/>
        </p:nvSpPr>
        <p:spPr>
          <a:xfrm xmlns:a="http://schemas.openxmlformats.org/drawingml/2006/main">
            <a:off x="10953750" y="6334125"/>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B9F3D4"/>
                </a:solidFill>
                <a:latin typeface="DejaVu Sans"/>
                <a:ea typeface="DejaVu Sans"/>
                <a:cs typeface="DejaVu Sans"/>
              </a:defRPr>
            </a:defPPr>
          </a:lstStyle>
          <a:p xmlns:a="http://schemas.openxmlformats.org/drawingml/2006/main">
            <a:pPr>
              <a:defRPr sz="1275" b="0">
                <a:solidFill>
                  <a:srgbClr val="B9F3D4"/>
                </a:solidFill>
                <a:latin typeface="DejaVu Sans"/>
                <a:ea typeface="DejaVu Sans"/>
                <a:cs typeface="DejaVu Sans"/>
              </a:defRPr>
            </a:pPr>
            <a:r>
              <a:rPr sz="1275" b="0">
                <a:solidFill>
                  <a:srgbClr val="B9F3D4"/>
                </a:solidFill>
                <a:latin typeface="DejaVu Sans"/>
                <a:ea typeface="DejaVu Sans"/>
                <a:cs typeface="DejaVu Sans"/>
              </a:rPr>
              <a:t>13</a:t>
            </a:r>
          </a:p>
        </p:txBody>
      </p:sp>
      <p:sp>
        <p:nvSpPr>
          <p:cNvPr id="4" name="text-3">
            <a:extLst xmlns:a="http://schemas.openxmlformats.org/drawingml/2006/main">
              <a:ext uri="{FF2B5EF4-FFF2-40B4-BE49-F238E27FC236}">
                <a16:creationId xmlns:a16="http://schemas.microsoft.com/office/drawing/2014/main" id="{6EDF22F8-DA98-4DA5-911D-6A63AAEB685C}"/>
              </a:ext>
            </a:extLst>
          </p:cNvPr>
          <p:cNvSpPr>
            <a:spLocks xmlns:a="http://schemas.openxmlformats.org/drawingml/2006/main" noGrp="1"/>
          </p:cNvSpPr>
          <p:nvPr/>
        </p:nvSpPr>
        <p:spPr>
          <a:xfrm xmlns:a="http://schemas.openxmlformats.org/drawingml/2006/main">
            <a:off x="723900" y="2476500"/>
            <a:ext cx="57150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800" b="1">
                <a:solidFill>
                  <a:srgbClr val="B9F3D4"/>
                </a:solidFill>
                <a:latin typeface="DejaVu Sans"/>
                <a:ea typeface="DejaVu Sans"/>
                <a:cs typeface="DejaVu Sans"/>
              </a:defRPr>
            </a:defPPr>
          </a:lstStyle>
          <a:p xmlns:a="http://schemas.openxmlformats.org/drawingml/2006/main">
            <a:pPr>
              <a:defRPr sz="7800" b="1">
                <a:solidFill>
                  <a:srgbClr val="B9F3D4"/>
                </a:solidFill>
                <a:latin typeface="DejaVu Sans"/>
                <a:ea typeface="DejaVu Sans"/>
                <a:cs typeface="DejaVu Sans"/>
              </a:defRPr>
            </a:pPr>
            <a:r>
              <a:rPr sz="7800" b="1">
                <a:solidFill>
                  <a:srgbClr val="B9F3D4"/>
                </a:solidFill>
                <a:latin typeface="DejaVu Sans"/>
                <a:ea typeface="DejaVu Sans"/>
                <a:cs typeface="DejaVu Sans"/>
              </a:rPr>
              <a:t>1,000</a:t>
            </a:r>
          </a:p>
        </p:txBody>
      </p:sp>
      <p:sp>
        <p:nvSpPr>
          <p:cNvPr id="5" name="text-4">
            <a:extLst xmlns:a="http://schemas.openxmlformats.org/drawingml/2006/main">
              <a:ext uri="{FF2B5EF4-FFF2-40B4-BE49-F238E27FC236}">
                <a16:creationId xmlns:a16="http://schemas.microsoft.com/office/drawing/2014/main" id="{ADC52AA5-435F-4432-853D-9350B70F2C74}"/>
              </a:ext>
            </a:extLst>
          </p:cNvPr>
          <p:cNvSpPr>
            <a:spLocks xmlns:a="http://schemas.openxmlformats.org/drawingml/2006/main" noGrp="1"/>
          </p:cNvSpPr>
          <p:nvPr/>
        </p:nvSpPr>
        <p:spPr>
          <a:xfrm xmlns:a="http://schemas.openxmlformats.org/drawingml/2006/main">
            <a:off x="781050" y="3867150"/>
            <a:ext cx="6286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400" b="0">
                <a:solidFill>
                  <a:srgbClr val="F5F2E9"/>
                </a:solidFill>
                <a:latin typeface="DejaVu Sans"/>
                <a:ea typeface="DejaVu Sans"/>
                <a:cs typeface="DejaVu Sans"/>
              </a:defRPr>
            </a:defPPr>
          </a:lstStyle>
          <a:p xmlns:a="http://schemas.openxmlformats.org/drawingml/2006/main">
            <a:pPr>
              <a:defRPr sz="2400" b="0">
                <a:solidFill>
                  <a:srgbClr val="F5F2E9"/>
                </a:solidFill>
                <a:latin typeface="DejaVu Sans"/>
                <a:ea typeface="DejaVu Sans"/>
                <a:cs typeface="DejaVu Sans"/>
              </a:defRPr>
            </a:pPr>
            <a:r>
              <a:rPr sz="2400" b="0">
                <a:solidFill>
                  <a:srgbClr val="F5F2E9"/>
                </a:solidFill>
                <a:latin typeface="DejaVu Sans"/>
                <a:ea typeface="DejaVu Sans"/>
                <a:cs typeface="DejaVu Sans"/>
              </a:rPr>
              <a:t>potential activated tags</a:t>
            </a:r>
          </a:p>
        </p:txBody>
      </p:sp>
      <p:sp>
        <p:nvSpPr>
          <p:cNvPr id="6" name="text-5">
            <a:extLst xmlns:a="http://schemas.openxmlformats.org/drawingml/2006/main">
              <a:ext uri="{FF2B5EF4-FFF2-40B4-BE49-F238E27FC236}">
                <a16:creationId xmlns:a16="http://schemas.microsoft.com/office/drawing/2014/main" id="{BC0CFEA1-F041-4185-B1BE-F51DFD6F5BCA}"/>
              </a:ext>
            </a:extLst>
          </p:cNvPr>
          <p:cNvSpPr>
            <a:spLocks xmlns:a="http://schemas.openxmlformats.org/drawingml/2006/main" noGrp="1"/>
          </p:cNvSpPr>
          <p:nvPr/>
        </p:nvSpPr>
        <p:spPr>
          <a:xfrm xmlns:a="http://schemas.openxmlformats.org/drawingml/2006/main">
            <a:off x="7524750" y="2571750"/>
            <a:ext cx="3952875"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0">
                <a:solidFill>
                  <a:srgbClr val="F5F2E9"/>
                </a:solidFill>
                <a:latin typeface="DejaVu Sans"/>
                <a:ea typeface="DejaVu Sans"/>
                <a:cs typeface="DejaVu Sans"/>
              </a:defRPr>
            </a:defPPr>
          </a:lstStyle>
          <a:p xmlns:a="http://schemas.openxmlformats.org/drawingml/2006/main">
            <a:pPr>
              <a:defRPr sz="2325" b="0">
                <a:solidFill>
                  <a:srgbClr val="F5F2E9"/>
                </a:solidFill>
                <a:latin typeface="DejaVu Sans"/>
                <a:ea typeface="DejaVu Sans"/>
                <a:cs typeface="DejaVu Sans"/>
              </a:defRPr>
            </a:pPr>
            <a:r>
              <a:rPr sz="2325" b="0">
                <a:solidFill>
                  <a:srgbClr val="F5F2E9"/>
                </a:solidFill>
                <a:latin typeface="DejaVu Sans"/>
                <a:ea typeface="DejaVu Sans"/>
                <a:cs typeface="DejaVu Sans"/>
              </a:rPr>
              <a:t>10 sites</a:t>
            </a:r>
          </a:p>
          <a:p xmlns:a="http://schemas.openxmlformats.org/drawingml/2006/main">
            <a:pPr>
              <a:defRPr sz="2325" b="0">
                <a:solidFill>
                  <a:srgbClr val="F5F2E9"/>
                </a:solidFill>
                <a:latin typeface="DejaVu Sans"/>
                <a:ea typeface="DejaVu Sans"/>
                <a:cs typeface="DejaVu Sans"/>
              </a:defRPr>
            </a:pPr>
            <a:r>
              <a:rPr sz="2325" b="0">
                <a:solidFill>
                  <a:srgbClr val="F5F2E9"/>
                </a:solidFill>
                <a:latin typeface="DejaVu Sans"/>
                <a:ea typeface="DejaVu Sans"/>
                <a:cs typeface="DejaVu Sans"/>
              </a:rPr>
              <a:t>200 vehicles per site</a:t>
            </a:r>
          </a:p>
          <a:p xmlns:a="http://schemas.openxmlformats.org/drawingml/2006/main">
            <a:pPr>
              <a:defRPr sz="2325" b="0">
                <a:solidFill>
                  <a:srgbClr val="F5F2E9"/>
                </a:solidFill>
                <a:latin typeface="DejaVu Sans"/>
                <a:ea typeface="DejaVu Sans"/>
                <a:cs typeface="DejaVu Sans"/>
              </a:defRPr>
            </a:pPr>
            <a:r>
              <a:rPr sz="2325" b="0">
                <a:solidFill>
                  <a:srgbClr val="F5F2E9"/>
                </a:solidFill>
                <a:latin typeface="DejaVu Sans"/>
                <a:ea typeface="DejaVu Sans"/>
                <a:cs typeface="DejaVu Sans"/>
              </a:rPr>
              <a:t>50% opt-in</a:t>
            </a:r>
          </a:p>
        </p:txBody>
      </p:sp>
      <p:sp>
        <p:nvSpPr>
          <p:cNvPr id="7" name="text-6">
            <a:extLst xmlns:a="http://schemas.openxmlformats.org/drawingml/2006/main">
              <a:ext uri="{FF2B5EF4-FFF2-40B4-BE49-F238E27FC236}">
                <a16:creationId xmlns:a16="http://schemas.microsoft.com/office/drawing/2014/main" id="{3D9D72B1-3667-4BCB-B06F-1A0442AA68B9}"/>
              </a:ext>
            </a:extLst>
          </p:cNvPr>
          <p:cNvSpPr>
            <a:spLocks xmlns:a="http://schemas.openxmlformats.org/drawingml/2006/main" noGrp="1"/>
          </p:cNvSpPr>
          <p:nvPr/>
        </p:nvSpPr>
        <p:spPr>
          <a:xfrm xmlns:a="http://schemas.openxmlformats.org/drawingml/2006/main">
            <a:off x="762000" y="5143500"/>
            <a:ext cx="10668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0">
                <a:solidFill>
                  <a:srgbClr val="F5F2E9"/>
                </a:solidFill>
                <a:latin typeface="DejaVu Sans"/>
                <a:ea typeface="DejaVu Sans"/>
                <a:cs typeface="DejaVu Sans"/>
              </a:defRPr>
            </a:defPPr>
          </a:lstStyle>
          <a:p xmlns:a="http://schemas.openxmlformats.org/drawingml/2006/main">
            <a:pPr>
              <a:defRPr sz="2100" b="0">
                <a:solidFill>
                  <a:srgbClr val="F5F2E9"/>
                </a:solidFill>
                <a:latin typeface="DejaVu Sans"/>
                <a:ea typeface="DejaVu Sans"/>
                <a:cs typeface="DejaVu Sans"/>
              </a:defRPr>
            </a:pPr>
            <a:r>
              <a:rPr sz="2100" b="0">
                <a:solidFill>
                  <a:srgbClr val="F5F2E9"/>
                </a:solidFill>
                <a:latin typeface="DejaVu Sans"/>
                <a:ea typeface="DejaVu Sans"/>
                <a:cs typeface="DejaVu Sans"/>
              </a:rPr>
              <a:t>Illustrative PKR 80 per tag/month = PKR 80,000 gross MRR</a:t>
            </a:r>
          </a:p>
        </p:txBody>
      </p:sp>
      <p:sp>
        <p:nvSpPr>
          <p:cNvPr id="8" name="text-7">
            <a:extLst xmlns:a="http://schemas.openxmlformats.org/drawingml/2006/main">
              <a:ext uri="{FF2B5EF4-FFF2-40B4-BE49-F238E27FC236}">
                <a16:creationId xmlns:a16="http://schemas.microsoft.com/office/drawing/2014/main" id="{89FF1993-1CF2-4D53-BE69-896E739F0B18}"/>
              </a:ext>
            </a:extLst>
          </p:cNvPr>
          <p:cNvSpPr>
            <a:spLocks xmlns:a="http://schemas.openxmlformats.org/drawingml/2006/main" noGrp="1"/>
          </p:cNvSpPr>
          <p:nvPr/>
        </p:nvSpPr>
        <p:spPr>
          <a:xfrm xmlns:a="http://schemas.openxmlformats.org/drawingml/2006/main">
            <a:off x="704850" y="5886450"/>
            <a:ext cx="10382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B9F3D4"/>
                </a:solidFill>
                <a:latin typeface="DejaVu Sans"/>
                <a:ea typeface="DejaVu Sans"/>
                <a:cs typeface="DejaVu Sans"/>
              </a:defRPr>
            </a:defPPr>
          </a:lstStyle>
          <a:p xmlns:a="http://schemas.openxmlformats.org/drawingml/2006/main">
            <a:pPr>
              <a:defRPr sz="1275" b="0">
                <a:solidFill>
                  <a:srgbClr val="B9F3D4"/>
                </a:solidFill>
                <a:latin typeface="DejaVu Sans"/>
                <a:ea typeface="DejaVu Sans"/>
                <a:cs typeface="DejaVu Sans"/>
              </a:defRPr>
            </a:pPr>
            <a:r>
              <a:rPr sz="1275" b="0">
                <a:solidFill>
                  <a:srgbClr val="B9F3D4"/>
                </a:solidFill>
                <a:latin typeface="DejaVu Sans"/>
                <a:ea typeface="DejaVu Sans"/>
                <a:cs typeface="DejaVu Sans"/>
              </a:rPr>
              <a:t>Scenario assumptions. No traction, conversion or recurring revenue claimed.</a:t>
            </a:r>
          </a:p>
        </p:txBody>
      </p:sp>
    </p:spTree>
    <p:extLst>
      <p:ext uri="{BB962C8B-B14F-4D97-AF65-F5344CB8AC3E}">
        <p14:creationId xmlns:p14="http://schemas.microsoft.com/office/powerpoint/2010/main" val="16766519"/>
      </p:ext>
    </p:extLst>
  </p:cSld>
</p:sld>
</file>

<file path=ppt/slides/slide14.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3ECF1CDD-8CE3-43B9-858A-7B1CAD3BDEC3}"/>
              </a:ext>
            </a:extLst>
          </p:cNvPr>
          <p:cNvSpPr>
            <a:spLocks xmlns:a="http://schemas.openxmlformats.org/drawingml/2006/main" noGrp="1"/>
          </p:cNvSpPr>
          <p:nvPr/>
        </p:nvSpPr>
        <p:spPr>
          <a:xfrm xmlns:a="http://schemas.openxmlformats.org/drawingml/2006/main">
            <a:off x="685800" y="581025"/>
            <a:ext cx="108204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600" b="1">
                <a:solidFill>
                  <a:srgbClr val="112D32"/>
                </a:solidFill>
                <a:latin typeface="DejaVu Sans"/>
                <a:ea typeface="DejaVu Sans"/>
                <a:cs typeface="DejaVu Sans"/>
              </a:defRPr>
            </a:defPPr>
          </a:lstStyle>
          <a:p xmlns:a="http://schemas.openxmlformats.org/drawingml/2006/main">
            <a:pPr>
              <a:defRPr sz="3600" b="1">
                <a:solidFill>
                  <a:srgbClr val="112D32"/>
                </a:solidFill>
                <a:latin typeface="DejaVu Sans"/>
                <a:ea typeface="DejaVu Sans"/>
                <a:cs typeface="DejaVu Sans"/>
              </a:defRPr>
            </a:pPr>
            <a:r>
              <a:rPr sz="3600" b="1">
                <a:solidFill>
                  <a:srgbClr val="112D32"/>
                </a:solidFill>
                <a:latin typeface="DejaVu Sans"/>
                <a:ea typeface="DejaVu Sans"/>
                <a:cs typeface="DejaVu Sans"/>
              </a:rPr>
              <a:t>Two, four and eight weeks</a:t>
            </a:r>
          </a:p>
        </p:txBody>
      </p:sp>
      <p:sp>
        <p:nvSpPr>
          <p:cNvPr id="2" name="text-1">
            <a:extLst xmlns:a="http://schemas.openxmlformats.org/drawingml/2006/main">
              <a:ext uri="{FF2B5EF4-FFF2-40B4-BE49-F238E27FC236}">
                <a16:creationId xmlns:a16="http://schemas.microsoft.com/office/drawing/2014/main" id="{76D4BD57-4E62-4E21-B277-538CFABB5E6B}"/>
              </a:ext>
            </a:extLst>
          </p:cNvPr>
          <p:cNvSpPr>
            <a:spLocks xmlns:a="http://schemas.openxmlformats.org/drawingml/2006/main" noGrp="1"/>
          </p:cNvSpPr>
          <p:nvPr/>
        </p:nvSpPr>
        <p:spPr>
          <a:xfrm xmlns:a="http://schemas.openxmlformats.org/drawingml/2006/main">
            <a:off x="704850" y="1619250"/>
            <a:ext cx="10668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5C6D6B"/>
                </a:solidFill>
                <a:latin typeface="DejaVu Sans"/>
                <a:ea typeface="DejaVu Sans"/>
                <a:cs typeface="DejaVu Sans"/>
              </a:defRPr>
            </a:defPPr>
          </a:lstStyle>
          <a:p xmlns:a="http://schemas.openxmlformats.org/drawingml/2006/main">
            <a:pPr>
              <a:defRPr sz="1725" b="0">
                <a:solidFill>
                  <a:srgbClr val="5C6D6B"/>
                </a:solidFill>
                <a:latin typeface="DejaVu Sans"/>
                <a:ea typeface="DejaVu Sans"/>
                <a:cs typeface="DejaVu Sans"/>
              </a:defRPr>
            </a:pPr>
            <a:r>
              <a:rPr sz="1725" b="0">
                <a:solidFill>
                  <a:srgbClr val="5C6D6B"/>
                </a:solidFill>
                <a:latin typeface="DejaVu Sans"/>
                <a:ea typeface="DejaVu Sans"/>
                <a:cs typeface="DejaVu Sans"/>
              </a:rPr>
              <a:t>Baseline: two developers at 20 focused hours each per week</a:t>
            </a:r>
          </a:p>
        </p:txBody>
      </p:sp>
      <p:sp>
        <p:nvSpPr>
          <p:cNvPr id="3" name="text-2">
            <a:extLst xmlns:a="http://schemas.openxmlformats.org/drawingml/2006/main">
              <a:ext uri="{FF2B5EF4-FFF2-40B4-BE49-F238E27FC236}">
                <a16:creationId xmlns:a16="http://schemas.microsoft.com/office/drawing/2014/main" id="{A516DB75-48E6-4D4C-B236-C1476D12F270}"/>
              </a:ext>
            </a:extLst>
          </p:cNvPr>
          <p:cNvSpPr>
            <a:spLocks xmlns:a="http://schemas.openxmlformats.org/drawingml/2006/main" noGrp="1"/>
          </p:cNvSpPr>
          <p:nvPr/>
        </p:nvSpPr>
        <p:spPr>
          <a:xfrm xmlns:a="http://schemas.openxmlformats.org/drawingml/2006/main">
            <a:off x="10953750" y="6334125"/>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5C6D6B"/>
                </a:solidFill>
                <a:latin typeface="DejaVu Sans"/>
                <a:ea typeface="DejaVu Sans"/>
                <a:cs typeface="DejaVu Sans"/>
              </a:defRPr>
            </a:defPPr>
          </a:lstStyle>
          <a:p xmlns:a="http://schemas.openxmlformats.org/drawingml/2006/main">
            <a:pPr>
              <a:defRPr sz="1275" b="0">
                <a:solidFill>
                  <a:srgbClr val="5C6D6B"/>
                </a:solidFill>
                <a:latin typeface="DejaVu Sans"/>
                <a:ea typeface="DejaVu Sans"/>
                <a:cs typeface="DejaVu Sans"/>
              </a:defRPr>
            </a:pPr>
            <a:r>
              <a:rPr sz="1275" b="0">
                <a:solidFill>
                  <a:srgbClr val="5C6D6B"/>
                </a:solidFill>
                <a:latin typeface="DejaVu Sans"/>
                <a:ea typeface="DejaVu Sans"/>
                <a:cs typeface="DejaVu Sans"/>
              </a:rPr>
              <a:t>14</a:t>
            </a:r>
          </a:p>
        </p:txBody>
      </p:sp>
      <p:sp>
        <p:nvSpPr>
          <p:cNvPr id="4" name="text-3">
            <a:extLst xmlns:a="http://schemas.openxmlformats.org/drawingml/2006/main">
              <a:ext uri="{FF2B5EF4-FFF2-40B4-BE49-F238E27FC236}">
                <a16:creationId xmlns:a16="http://schemas.microsoft.com/office/drawing/2014/main" id="{A999BDA3-95C9-44AB-9956-51E1566D9DBB}"/>
              </a:ext>
            </a:extLst>
          </p:cNvPr>
          <p:cNvSpPr>
            <a:spLocks xmlns:a="http://schemas.openxmlformats.org/drawingml/2006/main" noGrp="1"/>
          </p:cNvSpPr>
          <p:nvPr/>
        </p:nvSpPr>
        <p:spPr>
          <a:xfrm xmlns:a="http://schemas.openxmlformats.org/drawingml/2006/main">
            <a:off x="704850" y="2571750"/>
            <a:ext cx="3143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1">
                <a:solidFill>
                  <a:srgbClr val="00796E"/>
                </a:solidFill>
                <a:latin typeface="DejaVu Sans"/>
                <a:ea typeface="DejaVu Sans"/>
                <a:cs typeface="DejaVu Sans"/>
              </a:defRPr>
            </a:defPPr>
          </a:lstStyle>
          <a:p xmlns:a="http://schemas.openxmlformats.org/drawingml/2006/main">
            <a:pPr>
              <a:defRPr sz="2250" b="1">
                <a:solidFill>
                  <a:srgbClr val="00796E"/>
                </a:solidFill>
                <a:latin typeface="DejaVu Sans"/>
                <a:ea typeface="DejaVu Sans"/>
                <a:cs typeface="DejaVu Sans"/>
              </a:defRPr>
            </a:pPr>
            <a:r>
              <a:rPr sz="2250" b="1">
                <a:solidFill>
                  <a:srgbClr val="00796E"/>
                </a:solidFill>
                <a:latin typeface="DejaVu Sans"/>
                <a:ea typeface="DejaVu Sans"/>
                <a:cs typeface="DejaVu Sans"/>
              </a:rPr>
              <a:t>2 weeks</a:t>
            </a:r>
          </a:p>
        </p:txBody>
      </p:sp>
      <p:sp>
        <p:nvSpPr>
          <p:cNvPr id="5" name="text-4">
            <a:extLst xmlns:a="http://schemas.openxmlformats.org/drawingml/2006/main">
              <a:ext uri="{FF2B5EF4-FFF2-40B4-BE49-F238E27FC236}">
                <a16:creationId xmlns:a16="http://schemas.microsoft.com/office/drawing/2014/main" id="{4A4C0572-C066-4F0B-B5B6-87023AB7FC52}"/>
              </a:ext>
            </a:extLst>
          </p:cNvPr>
          <p:cNvSpPr>
            <a:spLocks xmlns:a="http://schemas.openxmlformats.org/drawingml/2006/main" noGrp="1"/>
          </p:cNvSpPr>
          <p:nvPr/>
        </p:nvSpPr>
        <p:spPr>
          <a:xfrm xmlns:a="http://schemas.openxmlformats.org/drawingml/2006/main">
            <a:off x="4133850" y="2571750"/>
            <a:ext cx="7239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112D32"/>
                </a:solidFill>
                <a:latin typeface="DejaVu Sans"/>
                <a:ea typeface="DejaVu Sans"/>
                <a:cs typeface="DejaVu Sans"/>
              </a:defRPr>
            </a:defPPr>
          </a:lstStyle>
          <a:p xmlns:a="http://schemas.openxmlformats.org/drawingml/2006/main">
            <a:pPr>
              <a:defRPr sz="2025" b="0">
                <a:solidFill>
                  <a:srgbClr val="112D32"/>
                </a:solidFill>
                <a:latin typeface="DejaVu Sans"/>
                <a:ea typeface="DejaVu Sans"/>
                <a:cs typeface="DejaVu Sans"/>
              </a:defRPr>
            </a:pPr>
            <a:r>
              <a:rPr sz="2025" b="0">
                <a:solidFill>
                  <a:srgbClr val="112D32"/>
                </a:solidFill>
                <a:latin typeface="DejaVu Sans"/>
                <a:ea typeface="DejaVu Sans"/>
                <a:cs typeface="DejaVu Sans"/>
              </a:rPr>
              <a:t>Demonstration, secure core flow and provider feasibility.</a:t>
            </a:r>
          </a:p>
        </p:txBody>
      </p:sp>
      <p:sp>
        <p:nvSpPr>
          <p:cNvPr id="6" name="text-5">
            <a:extLst xmlns:a="http://schemas.openxmlformats.org/drawingml/2006/main">
              <a:ext uri="{FF2B5EF4-FFF2-40B4-BE49-F238E27FC236}">
                <a16:creationId xmlns:a16="http://schemas.microsoft.com/office/drawing/2014/main" id="{5F48B2D6-4738-4AAA-903A-66A8F3341331}"/>
              </a:ext>
            </a:extLst>
          </p:cNvPr>
          <p:cNvSpPr>
            <a:spLocks xmlns:a="http://schemas.openxmlformats.org/drawingml/2006/main" noGrp="1"/>
          </p:cNvSpPr>
          <p:nvPr/>
        </p:nvSpPr>
        <p:spPr>
          <a:xfrm xmlns:a="http://schemas.openxmlformats.org/drawingml/2006/main">
            <a:off x="704850" y="3762375"/>
            <a:ext cx="3143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1">
                <a:solidFill>
                  <a:srgbClr val="00796E"/>
                </a:solidFill>
                <a:latin typeface="DejaVu Sans"/>
                <a:ea typeface="DejaVu Sans"/>
                <a:cs typeface="DejaVu Sans"/>
              </a:defRPr>
            </a:defPPr>
          </a:lstStyle>
          <a:p xmlns:a="http://schemas.openxmlformats.org/drawingml/2006/main">
            <a:pPr>
              <a:defRPr sz="2250" b="1">
                <a:solidFill>
                  <a:srgbClr val="00796E"/>
                </a:solidFill>
                <a:latin typeface="DejaVu Sans"/>
                <a:ea typeface="DejaVu Sans"/>
                <a:cs typeface="DejaVu Sans"/>
              </a:defRPr>
            </a:pPr>
            <a:r>
              <a:rPr sz="2250" b="1">
                <a:solidFill>
                  <a:srgbClr val="00796E"/>
                </a:solidFill>
                <a:latin typeface="DejaVu Sans"/>
                <a:ea typeface="DejaVu Sans"/>
                <a:cs typeface="DejaVu Sans"/>
              </a:rPr>
              <a:t>4 weeks</a:t>
            </a:r>
          </a:p>
        </p:txBody>
      </p:sp>
      <p:sp>
        <p:nvSpPr>
          <p:cNvPr id="7" name="text-6">
            <a:extLst xmlns:a="http://schemas.openxmlformats.org/drawingml/2006/main">
              <a:ext uri="{FF2B5EF4-FFF2-40B4-BE49-F238E27FC236}">
                <a16:creationId xmlns:a16="http://schemas.microsoft.com/office/drawing/2014/main" id="{D18966BA-5066-474C-85C9-2016B9E6C6FD}"/>
              </a:ext>
            </a:extLst>
          </p:cNvPr>
          <p:cNvSpPr>
            <a:spLocks xmlns:a="http://schemas.openxmlformats.org/drawingml/2006/main" noGrp="1"/>
          </p:cNvSpPr>
          <p:nvPr/>
        </p:nvSpPr>
        <p:spPr>
          <a:xfrm xmlns:a="http://schemas.openxmlformats.org/drawingml/2006/main">
            <a:off x="4133850" y="3762375"/>
            <a:ext cx="7239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112D32"/>
                </a:solidFill>
                <a:latin typeface="DejaVu Sans"/>
                <a:ea typeface="DejaVu Sans"/>
                <a:cs typeface="DejaVu Sans"/>
              </a:defRPr>
            </a:defPPr>
          </a:lstStyle>
          <a:p xmlns:a="http://schemas.openxmlformats.org/drawingml/2006/main">
            <a:pPr>
              <a:defRPr sz="2025" b="0">
                <a:solidFill>
                  <a:srgbClr val="112D32"/>
                </a:solidFill>
                <a:latin typeface="DejaVu Sans"/>
                <a:ea typeface="DejaVu Sans"/>
                <a:cs typeface="DejaVu Sans"/>
              </a:defRPr>
            </a:pPr>
            <a:r>
              <a:rPr sz="2025" b="0">
                <a:solidFill>
                  <a:srgbClr val="112D32"/>
                </a:solidFill>
                <a:latin typeface="DejaVu Sans"/>
                <a:ea typeface="DejaVu Sans"/>
                <a:cs typeface="DejaVu Sans"/>
              </a:rPr>
              <a:t>Controlled Phase A pilot if messaging and safety gates pass.</a:t>
            </a:r>
          </a:p>
        </p:txBody>
      </p:sp>
      <p:sp>
        <p:nvSpPr>
          <p:cNvPr id="8" name="text-7">
            <a:extLst xmlns:a="http://schemas.openxmlformats.org/drawingml/2006/main">
              <a:ext uri="{FF2B5EF4-FFF2-40B4-BE49-F238E27FC236}">
                <a16:creationId xmlns:a16="http://schemas.microsoft.com/office/drawing/2014/main" id="{71022742-E11E-40CF-A2F7-033B978C9818}"/>
              </a:ext>
            </a:extLst>
          </p:cNvPr>
          <p:cNvSpPr>
            <a:spLocks xmlns:a="http://schemas.openxmlformats.org/drawingml/2006/main" noGrp="1"/>
          </p:cNvSpPr>
          <p:nvPr/>
        </p:nvSpPr>
        <p:spPr>
          <a:xfrm xmlns:a="http://schemas.openxmlformats.org/drawingml/2006/main">
            <a:off x="704850" y="4953000"/>
            <a:ext cx="3143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1">
                <a:solidFill>
                  <a:srgbClr val="00796E"/>
                </a:solidFill>
                <a:latin typeface="DejaVu Sans"/>
                <a:ea typeface="DejaVu Sans"/>
                <a:cs typeface="DejaVu Sans"/>
              </a:defRPr>
            </a:defPPr>
          </a:lstStyle>
          <a:p xmlns:a="http://schemas.openxmlformats.org/drawingml/2006/main">
            <a:pPr>
              <a:defRPr sz="2250" b="1">
                <a:solidFill>
                  <a:srgbClr val="00796E"/>
                </a:solidFill>
                <a:latin typeface="DejaVu Sans"/>
                <a:ea typeface="DejaVu Sans"/>
                <a:cs typeface="DejaVu Sans"/>
              </a:defRPr>
            </a:pPr>
            <a:r>
              <a:rPr sz="2250" b="1">
                <a:solidFill>
                  <a:srgbClr val="00796E"/>
                </a:solidFill>
                <a:latin typeface="DejaVu Sans"/>
                <a:ea typeface="DejaVu Sans"/>
                <a:cs typeface="DejaVu Sans"/>
              </a:rPr>
              <a:t>8 weeks</a:t>
            </a:r>
          </a:p>
        </p:txBody>
      </p:sp>
      <p:sp>
        <p:nvSpPr>
          <p:cNvPr id="9" name="text-8">
            <a:extLst xmlns:a="http://schemas.openxmlformats.org/drawingml/2006/main">
              <a:ext uri="{FF2B5EF4-FFF2-40B4-BE49-F238E27FC236}">
                <a16:creationId xmlns:a16="http://schemas.microsoft.com/office/drawing/2014/main" id="{52127F3E-EA85-4385-95AA-91014E1790C2}"/>
              </a:ext>
            </a:extLst>
          </p:cNvPr>
          <p:cNvSpPr>
            <a:spLocks xmlns:a="http://schemas.openxmlformats.org/drawingml/2006/main" noGrp="1"/>
          </p:cNvSpPr>
          <p:nvPr/>
        </p:nvSpPr>
        <p:spPr>
          <a:xfrm xmlns:a="http://schemas.openxmlformats.org/drawingml/2006/main">
            <a:off x="4133850" y="4953000"/>
            <a:ext cx="7239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112D32"/>
                </a:solidFill>
                <a:latin typeface="DejaVu Sans"/>
                <a:ea typeface="DejaVu Sans"/>
                <a:cs typeface="DejaVu Sans"/>
              </a:defRPr>
            </a:defPPr>
          </a:lstStyle>
          <a:p xmlns:a="http://schemas.openxmlformats.org/drawingml/2006/main">
            <a:pPr>
              <a:defRPr sz="2025" b="0">
                <a:solidFill>
                  <a:srgbClr val="112D32"/>
                </a:solidFill>
                <a:latin typeface="DejaVu Sans"/>
                <a:ea typeface="DejaVu Sans"/>
                <a:cs typeface="DejaVu Sans"/>
              </a:defRPr>
            </a:pPr>
            <a:r>
              <a:rPr sz="2025" b="0">
                <a:solidFill>
                  <a:srgbClr val="112D32"/>
                </a:solidFill>
                <a:latin typeface="DejaVu Sans"/>
                <a:ea typeface="DejaVu Sans"/>
                <a:cs typeface="DejaVu Sans"/>
              </a:rPr>
              <a:t>Pilot hardening and conditional Phase B local calls.</a:t>
            </a:r>
          </a:p>
        </p:txBody>
      </p:sp>
    </p:spTree>
    <p:extLst>
      <p:ext uri="{BB962C8B-B14F-4D97-AF65-F5344CB8AC3E}">
        <p14:creationId xmlns:p14="http://schemas.microsoft.com/office/powerpoint/2010/main" val="521412982"/>
      </p:ext>
    </p:extLst>
  </p:cSld>
</p:sld>
</file>

<file path=ppt/slides/slide15.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D1507C04-6F06-46A3-B117-F5B4BE3C7979}"/>
              </a:ext>
            </a:extLst>
          </p:cNvPr>
          <p:cNvSpPr>
            <a:spLocks xmlns:a="http://schemas.openxmlformats.org/drawingml/2006/main" noGrp="1"/>
          </p:cNvSpPr>
          <p:nvPr/>
        </p:nvSpPr>
        <p:spPr>
          <a:xfrm xmlns:a="http://schemas.openxmlformats.org/drawingml/2006/main">
            <a:off x="685800" y="581025"/>
            <a:ext cx="108204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600" b="1">
                <a:solidFill>
                  <a:srgbClr val="112D32"/>
                </a:solidFill>
                <a:latin typeface="DejaVu Sans"/>
                <a:ea typeface="DejaVu Sans"/>
                <a:cs typeface="DejaVu Sans"/>
              </a:defRPr>
            </a:defPPr>
          </a:lstStyle>
          <a:p xmlns:a="http://schemas.openxmlformats.org/drawingml/2006/main">
            <a:pPr>
              <a:defRPr sz="3600" b="1">
                <a:solidFill>
                  <a:srgbClr val="112D32"/>
                </a:solidFill>
                <a:latin typeface="DejaVu Sans"/>
                <a:ea typeface="DejaVu Sans"/>
                <a:cs typeface="DejaVu Sans"/>
              </a:defRPr>
            </a:pPr>
            <a:r>
              <a:rPr sz="3600" b="1">
                <a:solidFill>
                  <a:srgbClr val="112D32"/>
                </a:solidFill>
                <a:latin typeface="DejaVu Sans"/>
                <a:ea typeface="DejaVu Sans"/>
                <a:cs typeface="DejaVu Sans"/>
              </a:rPr>
              <a:t>The pilot evidence we need</a:t>
            </a:r>
          </a:p>
        </p:txBody>
      </p:sp>
      <p:sp>
        <p:nvSpPr>
          <p:cNvPr id="2" name="text-1">
            <a:extLst xmlns:a="http://schemas.openxmlformats.org/drawingml/2006/main">
              <a:ext uri="{FF2B5EF4-FFF2-40B4-BE49-F238E27FC236}">
                <a16:creationId xmlns:a16="http://schemas.microsoft.com/office/drawing/2014/main" id="{0A0C4FE5-DB9E-44E4-9EB2-C3612C88DF1A}"/>
              </a:ext>
            </a:extLst>
          </p:cNvPr>
          <p:cNvSpPr>
            <a:spLocks xmlns:a="http://schemas.openxmlformats.org/drawingml/2006/main" noGrp="1"/>
          </p:cNvSpPr>
          <p:nvPr/>
        </p:nvSpPr>
        <p:spPr>
          <a:xfrm xmlns:a="http://schemas.openxmlformats.org/drawingml/2006/main">
            <a:off x="704850" y="1619250"/>
            <a:ext cx="10668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5C6D6B"/>
                </a:solidFill>
                <a:latin typeface="DejaVu Sans"/>
                <a:ea typeface="DejaVu Sans"/>
                <a:cs typeface="DejaVu Sans"/>
              </a:defRPr>
            </a:defPPr>
          </a:lstStyle>
          <a:p xmlns:a="http://schemas.openxmlformats.org/drawingml/2006/main">
            <a:pPr>
              <a:defRPr sz="1725" b="0">
                <a:solidFill>
                  <a:srgbClr val="5C6D6B"/>
                </a:solidFill>
                <a:latin typeface="DejaVu Sans"/>
                <a:ea typeface="DejaVu Sans"/>
                <a:cs typeface="DejaVu Sans"/>
              </a:defRPr>
            </a:pPr>
            <a:r>
              <a:rPr sz="1725" b="0">
                <a:solidFill>
                  <a:srgbClr val="5C6D6B"/>
                </a:solidFill>
                <a:latin typeface="DejaVu Sans"/>
                <a:ea typeface="DejaVu Sans"/>
                <a:cs typeface="DejaVu Sans"/>
              </a:rPr>
              <a:t>Targets for learning, not current performance</a:t>
            </a:r>
          </a:p>
        </p:txBody>
      </p:sp>
      <p:sp>
        <p:nvSpPr>
          <p:cNvPr id="3" name="text-2">
            <a:extLst xmlns:a="http://schemas.openxmlformats.org/drawingml/2006/main">
              <a:ext uri="{FF2B5EF4-FFF2-40B4-BE49-F238E27FC236}">
                <a16:creationId xmlns:a16="http://schemas.microsoft.com/office/drawing/2014/main" id="{A4D05045-9F06-44EA-8223-55E3AA8E8089}"/>
              </a:ext>
            </a:extLst>
          </p:cNvPr>
          <p:cNvSpPr>
            <a:spLocks xmlns:a="http://schemas.openxmlformats.org/drawingml/2006/main" noGrp="1"/>
          </p:cNvSpPr>
          <p:nvPr/>
        </p:nvSpPr>
        <p:spPr>
          <a:xfrm xmlns:a="http://schemas.openxmlformats.org/drawingml/2006/main">
            <a:off x="10953750" y="6334125"/>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5C6D6B"/>
                </a:solidFill>
                <a:latin typeface="DejaVu Sans"/>
                <a:ea typeface="DejaVu Sans"/>
                <a:cs typeface="DejaVu Sans"/>
              </a:defRPr>
            </a:defPPr>
          </a:lstStyle>
          <a:p xmlns:a="http://schemas.openxmlformats.org/drawingml/2006/main">
            <a:pPr>
              <a:defRPr sz="1275" b="0">
                <a:solidFill>
                  <a:srgbClr val="5C6D6B"/>
                </a:solidFill>
                <a:latin typeface="DejaVu Sans"/>
                <a:ea typeface="DejaVu Sans"/>
                <a:cs typeface="DejaVu Sans"/>
              </a:defRPr>
            </a:pPr>
            <a:r>
              <a:rPr sz="1275" b="0">
                <a:solidFill>
                  <a:srgbClr val="5C6D6B"/>
                </a:solidFill>
                <a:latin typeface="DejaVu Sans"/>
                <a:ea typeface="DejaVu Sans"/>
                <a:cs typeface="DejaVu Sans"/>
              </a:rPr>
              <a:t>15</a:t>
            </a:r>
          </a:p>
        </p:txBody>
      </p:sp>
      <p:graphicFrame>
        <p:nvGraphicFramePr>
          <p:cNvPr id="4" name="">
            <a:extLst xmlns:a="http://schemas.openxmlformats.org/drawingml/2006/main">
              <a:ext uri="{FF2B5EF4-FFF2-40B4-BE49-F238E27FC236}">
                <a16:creationId xmlns:a16="http://schemas.microsoft.com/office/drawing/2014/main" id="{18F10AB8-C3A9-4404-881B-94C8B1FEF6CA}"/>
              </a:ext>
            </a:extLst>
          </p:cNvPr>
          <p:cNvGraphicFramePr/>
          <p:nvPr/>
        </p:nvGraphicFramePr>
        <p:xfrm>
          <a:off xmlns:a="http://schemas.openxmlformats.org/drawingml/2006/main" x="685800" y="2362200"/>
          <a:ext xmlns:a="http://schemas.openxmlformats.org/drawingml/2006/main" cx="10820400" cy="2952750"/>
        </p:xfrm>
        <a:graphic xmlns:a="http://schemas.openxmlformats.org/drawingml/2006/main">
          <a:graphicData uri="http://schemas.openxmlformats.org/drawingml/2006/table">
            <a:tbl>
              <a:tblPr/>
              <a:tblGrid>
                <a:gridCol w="3714750"/>
                <a:gridCol w="7105650"/>
              </a:tblGrid>
              <a:tr h="590550">
                <a:tc>
                  <a:txBody>
                    <a:bodyPr lIns="114300" tIns="114300" rIns="114300" bIns="114300"/>
                    <a:lstStyle/>
                    <a:p>
                      <a:r>
                        <a:rPr sz="1800" b="1">
                          <a:solidFill>
                            <a:srgbClr val="F5F2E9"/>
                          </a:solidFill>
                          <a:latin typeface="DejaVu Sans"/>
                          <a:ea typeface="DejaVu Sans"/>
                          <a:cs typeface="DejaVu Sans"/>
                        </a:rPr>
                        <a:t>Measure</a:t>
                      </a:r>
                    </a:p>
                  </a:txBody>
                  <a:tcPr marL="91440" marR="91440" marT="45720" marB="45720">
                    <a:lnL w="9525">
                      <a:solidFill>
                        <a:srgbClr val="D4DDD5"/>
                      </a:solidFill>
                      <a:prstDash val="solid"/>
                    </a:lnL>
                    <a:lnR w="9525">
                      <a:solidFill>
                        <a:srgbClr val="D4DDD5"/>
                      </a:solidFill>
                      <a:prstDash val="solid"/>
                    </a:lnR>
                    <a:lnT w="9525">
                      <a:solidFill>
                        <a:srgbClr val="D4DDD5"/>
                      </a:solidFill>
                      <a:prstDash val="solid"/>
                    </a:lnT>
                    <a:lnB w="9525">
                      <a:solidFill>
                        <a:srgbClr val="D4DDD5"/>
                      </a:solidFill>
                      <a:prstDash val="solid"/>
                    </a:lnB>
                    <a:solidFill>
                      <a:srgbClr val="112D32"/>
                    </a:solidFill>
                  </a:tcPr>
                </a:tc>
                <a:tc>
                  <a:txBody>
                    <a:bodyPr lIns="114300" tIns="114300" rIns="114300" bIns="114300"/>
                    <a:lstStyle/>
                    <a:p>
                      <a:r>
                        <a:rPr sz="1800" b="1">
                          <a:solidFill>
                            <a:srgbClr val="F5F2E9"/>
                          </a:solidFill>
                          <a:latin typeface="DejaVu Sans"/>
                          <a:ea typeface="DejaVu Sans"/>
                          <a:cs typeface="DejaVu Sans"/>
                        </a:rPr>
                        <a:t>Proposed target</a:t>
                      </a:r>
                    </a:p>
                  </a:txBody>
                  <a:tcPr marL="91440" marR="91440" marT="45720" marB="45720">
                    <a:lnR w="9525">
                      <a:solidFill>
                        <a:srgbClr val="D4DDD5"/>
                      </a:solidFill>
                      <a:prstDash val="solid"/>
                    </a:lnR>
                    <a:lnT w="9525">
                      <a:solidFill>
                        <a:srgbClr val="D4DDD5"/>
                      </a:solidFill>
                      <a:prstDash val="solid"/>
                    </a:lnT>
                    <a:lnB w="9525">
                      <a:solidFill>
                        <a:srgbClr val="D4DDD5"/>
                      </a:solidFill>
                      <a:prstDash val="solid"/>
                    </a:lnB>
                    <a:solidFill>
                      <a:srgbClr val="112D32"/>
                    </a:solidFill>
                  </a:tcPr>
                </a:tc>
              </a:tr>
              <a:tr h="590550">
                <a:tc>
                  <a:txBody>
                    <a:bodyPr lIns="114300" tIns="114300" rIns="114300" bIns="114300"/>
                    <a:lstStyle/>
                    <a:p>
                      <a:r>
                        <a:rPr sz="1800" b="0">
                          <a:solidFill>
                            <a:srgbClr val="112D32"/>
                          </a:solidFill>
                          <a:latin typeface="DejaVu Sans"/>
                          <a:ea typeface="DejaVu Sans"/>
                          <a:cs typeface="DejaVu Sans"/>
                        </a:rPr>
                        <a:t>Tag activation</a:t>
                      </a:r>
                    </a:p>
                  </a:txBody>
                  <a:tcPr marL="91440" marR="91440" marT="45720" marB="45720">
                    <a:lnL w="9525">
                      <a:solidFill>
                        <a:srgbClr val="D4DDD5"/>
                      </a:solidFill>
                      <a:prstDash val="solid"/>
                    </a:lnL>
                    <a:lnR w="9525">
                      <a:solidFill>
                        <a:srgbClr val="D4DDD5"/>
                      </a:solidFill>
                      <a:prstDash val="solid"/>
                    </a:lnR>
                    <a:lnB w="9525">
                      <a:solidFill>
                        <a:srgbClr val="D4DDD5"/>
                      </a:solidFill>
                      <a:prstDash val="solid"/>
                    </a:lnB>
                    <a:solidFill>
                      <a:srgbClr val="FFFFFF"/>
                    </a:solidFill>
                  </a:tcPr>
                </a:tc>
                <a:tc>
                  <a:txBody>
                    <a:bodyPr lIns="114300" tIns="114300" rIns="114300" bIns="114300"/>
                    <a:lstStyle/>
                    <a:p>
                      <a:r>
                        <a:rPr sz="1800" b="0">
                          <a:solidFill>
                            <a:srgbClr val="112D32"/>
                          </a:solidFill>
                          <a:latin typeface="DejaVu Sans"/>
                          <a:ea typeface="DejaVu Sans"/>
                          <a:cs typeface="DejaVu Sans"/>
                        </a:rPr>
                        <a:t>At least 70% of distributed tags</a:t>
                      </a:r>
                    </a:p>
                  </a:txBody>
                  <a:tcPr marL="91440" marR="91440" marT="45720" marB="45720">
                    <a:lnR w="9525">
                      <a:solidFill>
                        <a:srgbClr val="D4DDD5"/>
                      </a:solidFill>
                      <a:prstDash val="solid"/>
                    </a:lnR>
                    <a:lnB w="9525">
                      <a:solidFill>
                        <a:srgbClr val="D4DDD5"/>
                      </a:solidFill>
                      <a:prstDash val="solid"/>
                    </a:lnB>
                    <a:solidFill>
                      <a:srgbClr val="FFFFFF"/>
                    </a:solidFill>
                  </a:tcPr>
                </a:tc>
              </a:tr>
              <a:tr h="590550">
                <a:tc>
                  <a:txBody>
                    <a:bodyPr lIns="114300" tIns="114300" rIns="114300" bIns="114300"/>
                    <a:lstStyle/>
                    <a:p>
                      <a:r>
                        <a:rPr sz="1800" b="0">
                          <a:solidFill>
                            <a:srgbClr val="112D32"/>
                          </a:solidFill>
                          <a:latin typeface="DejaVu Sans"/>
                          <a:ea typeface="DejaVu Sans"/>
                          <a:cs typeface="DejaVu Sans"/>
                        </a:rPr>
                        <a:t>Owner acknowledgement</a:t>
                      </a:r>
                    </a:p>
                  </a:txBody>
                  <a:tcPr marL="91440" marR="91440" marT="45720" marB="45720">
                    <a:lnL w="9525">
                      <a:solidFill>
                        <a:srgbClr val="D4DDD5"/>
                      </a:solidFill>
                      <a:prstDash val="solid"/>
                    </a:lnL>
                    <a:lnR w="9525">
                      <a:solidFill>
                        <a:srgbClr val="D4DDD5"/>
                      </a:solidFill>
                      <a:prstDash val="solid"/>
                    </a:lnR>
                    <a:lnB w="9525">
                      <a:solidFill>
                        <a:srgbClr val="D4DDD5"/>
                      </a:solidFill>
                      <a:prstDash val="solid"/>
                    </a:lnB>
                    <a:solidFill>
                      <a:srgbClr val="F5F2E9"/>
                    </a:solidFill>
                  </a:tcPr>
                </a:tc>
                <a:tc>
                  <a:txBody>
                    <a:bodyPr lIns="114300" tIns="114300" rIns="114300" bIns="114300"/>
                    <a:lstStyle/>
                    <a:p>
                      <a:r>
                        <a:rPr sz="1800" b="0">
                          <a:solidFill>
                            <a:srgbClr val="112D32"/>
                          </a:solidFill>
                          <a:latin typeface="DejaVu Sans"/>
                          <a:ea typeface="DejaVu Sans"/>
                          <a:cs typeface="DejaVu Sans"/>
                        </a:rPr>
                        <a:t>80% within 3 minutes in controlled incidents</a:t>
                      </a:r>
                    </a:p>
                  </a:txBody>
                  <a:tcPr marL="91440" marR="91440" marT="45720" marB="45720">
                    <a:lnR w="9525">
                      <a:solidFill>
                        <a:srgbClr val="D4DDD5"/>
                      </a:solidFill>
                      <a:prstDash val="solid"/>
                    </a:lnR>
                    <a:lnB w="9525">
                      <a:solidFill>
                        <a:srgbClr val="D4DDD5"/>
                      </a:solidFill>
                      <a:prstDash val="solid"/>
                    </a:lnB>
                    <a:solidFill>
                      <a:srgbClr val="F5F2E9"/>
                    </a:solidFill>
                  </a:tcPr>
                </a:tc>
              </a:tr>
              <a:tr h="590550">
                <a:tc>
                  <a:txBody>
                    <a:bodyPr lIns="114300" tIns="114300" rIns="114300" bIns="114300"/>
                    <a:lstStyle/>
                    <a:p>
                      <a:r>
                        <a:rPr sz="1800" b="0">
                          <a:solidFill>
                            <a:srgbClr val="112D32"/>
                          </a:solidFill>
                          <a:latin typeface="DejaVu Sans"/>
                          <a:ea typeface="DejaVu Sans"/>
                          <a:cs typeface="DejaVu Sans"/>
                        </a:rPr>
                        <a:t>Privacy test</a:t>
                      </a:r>
                    </a:p>
                  </a:txBody>
                  <a:tcPr marL="91440" marR="91440" marT="45720" marB="45720">
                    <a:lnL w="9525">
                      <a:solidFill>
                        <a:srgbClr val="D4DDD5"/>
                      </a:solidFill>
                      <a:prstDash val="solid"/>
                    </a:lnL>
                    <a:lnR w="9525">
                      <a:solidFill>
                        <a:srgbClr val="D4DDD5"/>
                      </a:solidFill>
                      <a:prstDash val="solid"/>
                    </a:lnR>
                    <a:lnB w="9525">
                      <a:solidFill>
                        <a:srgbClr val="D4DDD5"/>
                      </a:solidFill>
                      <a:prstDash val="solid"/>
                    </a:lnB>
                    <a:solidFill>
                      <a:srgbClr val="FFFFFF"/>
                    </a:solidFill>
                  </a:tcPr>
                </a:tc>
                <a:tc>
                  <a:txBody>
                    <a:bodyPr lIns="114300" tIns="114300" rIns="114300" bIns="114300"/>
                    <a:lstStyle/>
                    <a:p>
                      <a:r>
                        <a:rPr sz="1800" b="0">
                          <a:solidFill>
                            <a:srgbClr val="112D32"/>
                          </a:solidFill>
                          <a:latin typeface="DejaVu Sans"/>
                          <a:ea typeface="DejaVu Sans"/>
                          <a:cs typeface="DejaVu Sans"/>
                        </a:rPr>
                        <a:t>Zero public phone leaks in defined checks</a:t>
                      </a:r>
                    </a:p>
                  </a:txBody>
                  <a:tcPr marL="91440" marR="91440" marT="45720" marB="45720">
                    <a:lnR w="9525">
                      <a:solidFill>
                        <a:srgbClr val="D4DDD5"/>
                      </a:solidFill>
                      <a:prstDash val="solid"/>
                    </a:lnR>
                    <a:lnB w="9525">
                      <a:solidFill>
                        <a:srgbClr val="D4DDD5"/>
                      </a:solidFill>
                      <a:prstDash val="solid"/>
                    </a:lnB>
                    <a:solidFill>
                      <a:srgbClr val="FFFFFF"/>
                    </a:solidFill>
                  </a:tcPr>
                </a:tc>
              </a:tr>
              <a:tr h="590550">
                <a:tc>
                  <a:txBody>
                    <a:bodyPr lIns="114300" tIns="114300" rIns="114300" bIns="114300"/>
                    <a:lstStyle/>
                    <a:p>
                      <a:r>
                        <a:rPr sz="1800" b="0">
                          <a:solidFill>
                            <a:srgbClr val="112D32"/>
                          </a:solidFill>
                          <a:latin typeface="DejaVu Sans"/>
                          <a:ea typeface="DejaVu Sans"/>
                          <a:cs typeface="DejaVu Sans"/>
                        </a:rPr>
                        <a:t>Commercial evidence</a:t>
                      </a:r>
                    </a:p>
                  </a:txBody>
                  <a:tcPr marL="91440" marR="91440" marT="45720" marB="45720">
                    <a:lnL w="9525">
                      <a:solidFill>
                        <a:srgbClr val="D4DDD5"/>
                      </a:solidFill>
                      <a:prstDash val="solid"/>
                    </a:lnL>
                    <a:lnR w="9525">
                      <a:solidFill>
                        <a:srgbClr val="D4DDD5"/>
                      </a:solidFill>
                      <a:prstDash val="solid"/>
                    </a:lnR>
                    <a:lnB w="9525">
                      <a:solidFill>
                        <a:srgbClr val="D4DDD5"/>
                      </a:solidFill>
                      <a:prstDash val="solid"/>
                    </a:lnB>
                    <a:solidFill>
                      <a:srgbClr val="F5F2E9"/>
                    </a:solidFill>
                  </a:tcPr>
                </a:tc>
                <a:tc>
                  <a:txBody>
                    <a:bodyPr lIns="114300" tIns="114300" rIns="114300" bIns="114300"/>
                    <a:lstStyle/>
                    <a:p>
                      <a:r>
                        <a:rPr sz="1800" b="0">
                          <a:solidFill>
                            <a:srgbClr val="112D32"/>
                          </a:solidFill>
                          <a:latin typeface="DejaVu Sans"/>
                          <a:ea typeface="DejaVu Sans"/>
                          <a:cs typeface="DejaVu Sans"/>
                        </a:rPr>
                        <a:t>Two site buyers discuss paid continuation</a:t>
                      </a:r>
                    </a:p>
                  </a:txBody>
                  <a:tcPr marL="91440" marR="91440" marT="45720" marB="45720">
                    <a:lnR w="9525">
                      <a:solidFill>
                        <a:srgbClr val="D4DDD5"/>
                      </a:solidFill>
                      <a:prstDash val="solid"/>
                    </a:lnR>
                    <a:lnB w="9525">
                      <a:solidFill>
                        <a:srgbClr val="D4DDD5"/>
                      </a:solidFill>
                      <a:prstDash val="solid"/>
                    </a:lnB>
                    <a:solidFill>
                      <a:srgbClr val="F5F2E9"/>
                    </a:solidFill>
                  </a:tcPr>
                </a:tc>
              </a:tr>
            </a:tbl>
          </a:graphicData>
        </a:graphic>
      </p:graphicFrame>
      <p:sp>
        <p:nvSpPr>
          <p:cNvPr id="5" name="text-3">
            <a:extLst xmlns:a="http://schemas.openxmlformats.org/drawingml/2006/main">
              <a:ext uri="{FF2B5EF4-FFF2-40B4-BE49-F238E27FC236}">
                <a16:creationId xmlns:a16="http://schemas.microsoft.com/office/drawing/2014/main" id="{7DCA8DCC-9B4E-4F6B-80CA-3622FBFAA5DD}"/>
              </a:ext>
            </a:extLst>
          </p:cNvPr>
          <p:cNvSpPr>
            <a:spLocks xmlns:a="http://schemas.openxmlformats.org/drawingml/2006/main" noGrp="1"/>
          </p:cNvSpPr>
          <p:nvPr/>
        </p:nvSpPr>
        <p:spPr>
          <a:xfrm xmlns:a="http://schemas.openxmlformats.org/drawingml/2006/main">
            <a:off x="704850" y="5886450"/>
            <a:ext cx="10382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5C6D6B"/>
                </a:solidFill>
                <a:latin typeface="DejaVu Sans"/>
                <a:ea typeface="DejaVu Sans"/>
                <a:cs typeface="DejaVu Sans"/>
              </a:defRPr>
            </a:defPPr>
          </a:lstStyle>
          <a:p xmlns:a="http://schemas.openxmlformats.org/drawingml/2006/main">
            <a:pPr>
              <a:defRPr sz="1275" b="0">
                <a:solidFill>
                  <a:srgbClr val="5C6D6B"/>
                </a:solidFill>
                <a:latin typeface="DejaVu Sans"/>
                <a:ea typeface="DejaVu Sans"/>
                <a:cs typeface="DejaVu Sans"/>
              </a:defRPr>
            </a:pPr>
            <a:r>
              <a:rPr sz="1275" b="0">
                <a:solidFill>
                  <a:srgbClr val="5C6D6B"/>
                </a:solidFill>
                <a:latin typeface="DejaVu Sans"/>
                <a:ea typeface="DejaVu Sans"/>
                <a:cs typeface="DejaVu Sans"/>
              </a:rPr>
              <a:t>Report sample size, failures, network conditions and drills separately.</a:t>
            </a:r>
          </a:p>
        </p:txBody>
      </p:sp>
    </p:spTree>
    <p:extLst>
      <p:ext uri="{BB962C8B-B14F-4D97-AF65-F5344CB8AC3E}">
        <p14:creationId xmlns:p14="http://schemas.microsoft.com/office/powerpoint/2010/main" val="2006682575"/>
      </p:ext>
    </p:extLst>
  </p:cSld>
</p:sld>
</file>

<file path=ppt/slides/slide16.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41BF9125-8C12-4910-9D5C-AA8F14230117}"/>
              </a:ext>
            </a:extLst>
          </p:cNvPr>
          <p:cNvSpPr>
            <a:spLocks xmlns:a="http://schemas.openxmlformats.org/drawingml/2006/main" noGrp="1"/>
          </p:cNvSpPr>
          <p:nvPr/>
        </p:nvSpPr>
        <p:spPr>
          <a:xfrm xmlns:a="http://schemas.openxmlformats.org/drawingml/2006/main">
            <a:off x="685800" y="581025"/>
            <a:ext cx="108204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600" b="1">
                <a:solidFill>
                  <a:srgbClr val="112D32"/>
                </a:solidFill>
                <a:latin typeface="DejaVu Sans"/>
                <a:ea typeface="DejaVu Sans"/>
                <a:cs typeface="DejaVu Sans"/>
              </a:defRPr>
            </a:defPPr>
          </a:lstStyle>
          <a:p xmlns:a="http://schemas.openxmlformats.org/drawingml/2006/main">
            <a:pPr>
              <a:defRPr sz="3600" b="1">
                <a:solidFill>
                  <a:srgbClr val="112D32"/>
                </a:solidFill>
                <a:latin typeface="DejaVu Sans"/>
                <a:ea typeface="DejaVu Sans"/>
                <a:cs typeface="DejaVu Sans"/>
              </a:defRPr>
            </a:pPr>
            <a:r>
              <a:rPr sz="3600" b="1">
                <a:solidFill>
                  <a:srgbClr val="112D32"/>
                </a:solidFill>
                <a:latin typeface="DejaVu Sans"/>
                <a:ea typeface="DejaVu Sans"/>
                <a:cs typeface="DejaVu Sans"/>
              </a:rPr>
              <a:t>Risks that can change the plan</a:t>
            </a:r>
          </a:p>
        </p:txBody>
      </p:sp>
      <p:sp>
        <p:nvSpPr>
          <p:cNvPr id="2" name="text-1">
            <a:extLst xmlns:a="http://schemas.openxmlformats.org/drawingml/2006/main">
              <a:ext uri="{FF2B5EF4-FFF2-40B4-BE49-F238E27FC236}">
                <a16:creationId xmlns:a16="http://schemas.microsoft.com/office/drawing/2014/main" id="{B2F72122-15B8-4608-B1F8-01FFA06FC02F}"/>
              </a:ext>
            </a:extLst>
          </p:cNvPr>
          <p:cNvSpPr>
            <a:spLocks xmlns:a="http://schemas.openxmlformats.org/drawingml/2006/main" noGrp="1"/>
          </p:cNvSpPr>
          <p:nvPr/>
        </p:nvSpPr>
        <p:spPr>
          <a:xfrm xmlns:a="http://schemas.openxmlformats.org/drawingml/2006/main">
            <a:off x="704850" y="1619250"/>
            <a:ext cx="10668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5C6D6B"/>
                </a:solidFill>
                <a:latin typeface="DejaVu Sans"/>
                <a:ea typeface="DejaVu Sans"/>
                <a:cs typeface="DejaVu Sans"/>
              </a:defRPr>
            </a:defPPr>
          </a:lstStyle>
          <a:p xmlns:a="http://schemas.openxmlformats.org/drawingml/2006/main">
            <a:pPr>
              <a:defRPr sz="1725" b="0">
                <a:solidFill>
                  <a:srgbClr val="5C6D6B"/>
                </a:solidFill>
                <a:latin typeface="DejaVu Sans"/>
                <a:ea typeface="DejaVu Sans"/>
                <a:cs typeface="DejaVu Sans"/>
              </a:defRPr>
            </a:pPr>
            <a:r>
              <a:rPr sz="1725" b="0">
                <a:solidFill>
                  <a:srgbClr val="5C6D6B"/>
                </a:solidFill>
                <a:latin typeface="DejaVu Sans"/>
                <a:ea typeface="DejaVu Sans"/>
                <a:cs typeface="DejaVu Sans"/>
              </a:rPr>
              <a:t>Development effort is only one part of launch readiness.</a:t>
            </a:r>
          </a:p>
        </p:txBody>
      </p:sp>
      <p:sp>
        <p:nvSpPr>
          <p:cNvPr id="3" name="text-2">
            <a:extLst xmlns:a="http://schemas.openxmlformats.org/drawingml/2006/main">
              <a:ext uri="{FF2B5EF4-FFF2-40B4-BE49-F238E27FC236}">
                <a16:creationId xmlns:a16="http://schemas.microsoft.com/office/drawing/2014/main" id="{FBC3DCE0-EC50-4479-902A-D82E4645D05A}"/>
              </a:ext>
            </a:extLst>
          </p:cNvPr>
          <p:cNvSpPr>
            <a:spLocks xmlns:a="http://schemas.openxmlformats.org/drawingml/2006/main" noGrp="1"/>
          </p:cNvSpPr>
          <p:nvPr/>
        </p:nvSpPr>
        <p:spPr>
          <a:xfrm xmlns:a="http://schemas.openxmlformats.org/drawingml/2006/main">
            <a:off x="10953750" y="6334125"/>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5C6D6B"/>
                </a:solidFill>
                <a:latin typeface="DejaVu Sans"/>
                <a:ea typeface="DejaVu Sans"/>
                <a:cs typeface="DejaVu Sans"/>
              </a:defRPr>
            </a:defPPr>
          </a:lstStyle>
          <a:p xmlns:a="http://schemas.openxmlformats.org/drawingml/2006/main">
            <a:pPr>
              <a:defRPr sz="1275" b="0">
                <a:solidFill>
                  <a:srgbClr val="5C6D6B"/>
                </a:solidFill>
                <a:latin typeface="DejaVu Sans"/>
                <a:ea typeface="DejaVu Sans"/>
                <a:cs typeface="DejaVu Sans"/>
              </a:defRPr>
            </a:pPr>
            <a:r>
              <a:rPr sz="1275" b="0">
                <a:solidFill>
                  <a:srgbClr val="5C6D6B"/>
                </a:solidFill>
                <a:latin typeface="DejaVu Sans"/>
                <a:ea typeface="DejaVu Sans"/>
                <a:cs typeface="DejaVu Sans"/>
              </a:rPr>
              <a:t>16</a:t>
            </a:r>
          </a:p>
        </p:txBody>
      </p:sp>
      <p:sp>
        <p:nvSpPr>
          <p:cNvPr id="4" name="text-3">
            <a:extLst xmlns:a="http://schemas.openxmlformats.org/drawingml/2006/main">
              <a:ext uri="{FF2B5EF4-FFF2-40B4-BE49-F238E27FC236}">
                <a16:creationId xmlns:a16="http://schemas.microsoft.com/office/drawing/2014/main" id="{9187FBE4-0672-481E-8227-7544B8A61149}"/>
              </a:ext>
            </a:extLst>
          </p:cNvPr>
          <p:cNvSpPr>
            <a:spLocks xmlns:a="http://schemas.openxmlformats.org/drawingml/2006/main" noGrp="1"/>
          </p:cNvSpPr>
          <p:nvPr/>
        </p:nvSpPr>
        <p:spPr>
          <a:xfrm xmlns:a="http://schemas.openxmlformats.org/drawingml/2006/main">
            <a:off x="704850" y="2524125"/>
            <a:ext cx="3143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1">
                <a:solidFill>
                  <a:srgbClr val="00796E"/>
                </a:solidFill>
                <a:latin typeface="DejaVu Sans"/>
                <a:ea typeface="DejaVu Sans"/>
                <a:cs typeface="DejaVu Sans"/>
              </a:defRPr>
            </a:defPPr>
          </a:lstStyle>
          <a:p xmlns:a="http://schemas.openxmlformats.org/drawingml/2006/main">
            <a:pPr>
              <a:defRPr sz="2250" b="1">
                <a:solidFill>
                  <a:srgbClr val="00796E"/>
                </a:solidFill>
                <a:latin typeface="DejaVu Sans"/>
                <a:ea typeface="DejaVu Sans"/>
                <a:cs typeface="DejaVu Sans"/>
              </a:defRPr>
            </a:pPr>
            <a:r>
              <a:rPr sz="2250" b="1">
                <a:solidFill>
                  <a:srgbClr val="00796E"/>
                </a:solidFill>
                <a:latin typeface="DejaVu Sans"/>
                <a:ea typeface="DejaVu Sans"/>
                <a:cs typeface="DejaVu Sans"/>
              </a:rPr>
              <a:t>Provider dependency</a:t>
            </a:r>
          </a:p>
        </p:txBody>
      </p:sp>
      <p:sp>
        <p:nvSpPr>
          <p:cNvPr id="5" name="text-4">
            <a:extLst xmlns:a="http://schemas.openxmlformats.org/drawingml/2006/main">
              <a:ext uri="{FF2B5EF4-FFF2-40B4-BE49-F238E27FC236}">
                <a16:creationId xmlns:a16="http://schemas.microsoft.com/office/drawing/2014/main" id="{574391D9-ABA3-4E52-96B8-2155FDBC1DD3}"/>
              </a:ext>
            </a:extLst>
          </p:cNvPr>
          <p:cNvSpPr>
            <a:spLocks xmlns:a="http://schemas.openxmlformats.org/drawingml/2006/main" noGrp="1"/>
          </p:cNvSpPr>
          <p:nvPr/>
        </p:nvSpPr>
        <p:spPr>
          <a:xfrm xmlns:a="http://schemas.openxmlformats.org/drawingml/2006/main">
            <a:off x="4133850" y="2524125"/>
            <a:ext cx="7239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112D32"/>
                </a:solidFill>
                <a:latin typeface="DejaVu Sans"/>
                <a:ea typeface="DejaVu Sans"/>
                <a:cs typeface="DejaVu Sans"/>
              </a:defRPr>
            </a:defPPr>
          </a:lstStyle>
          <a:p xmlns:a="http://schemas.openxmlformats.org/drawingml/2006/main">
            <a:pPr>
              <a:defRPr sz="2025" b="0">
                <a:solidFill>
                  <a:srgbClr val="112D32"/>
                </a:solidFill>
                <a:latin typeface="DejaVu Sans"/>
                <a:ea typeface="DejaVu Sans"/>
                <a:cs typeface="DejaVu Sans"/>
              </a:defRPr>
            </a:pPr>
            <a:r>
              <a:rPr sz="2025" b="0">
                <a:solidFill>
                  <a:srgbClr val="112D32"/>
                </a:solidFill>
                <a:latin typeface="DejaVu Sans"/>
                <a:ea typeface="DejaVu Sans"/>
                <a:cs typeface="DejaVu Sans"/>
              </a:rPr>
              <a:t>Validate SMS, templates and local caller ID before promises.</a:t>
            </a:r>
          </a:p>
        </p:txBody>
      </p:sp>
      <p:sp>
        <p:nvSpPr>
          <p:cNvPr id="6" name="text-5">
            <a:extLst xmlns:a="http://schemas.openxmlformats.org/drawingml/2006/main">
              <a:ext uri="{FF2B5EF4-FFF2-40B4-BE49-F238E27FC236}">
                <a16:creationId xmlns:a16="http://schemas.microsoft.com/office/drawing/2014/main" id="{B2638644-290D-4063-8EF8-73138AB72A01}"/>
              </a:ext>
            </a:extLst>
          </p:cNvPr>
          <p:cNvSpPr>
            <a:spLocks xmlns:a="http://schemas.openxmlformats.org/drawingml/2006/main" noGrp="1"/>
          </p:cNvSpPr>
          <p:nvPr/>
        </p:nvSpPr>
        <p:spPr>
          <a:xfrm xmlns:a="http://schemas.openxmlformats.org/drawingml/2006/main">
            <a:off x="704850" y="3714750"/>
            <a:ext cx="3143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1">
                <a:solidFill>
                  <a:srgbClr val="00796E"/>
                </a:solidFill>
                <a:latin typeface="DejaVu Sans"/>
                <a:ea typeface="DejaVu Sans"/>
                <a:cs typeface="DejaVu Sans"/>
              </a:defRPr>
            </a:defPPr>
          </a:lstStyle>
          <a:p xmlns:a="http://schemas.openxmlformats.org/drawingml/2006/main">
            <a:pPr>
              <a:defRPr sz="2250" b="1">
                <a:solidFill>
                  <a:srgbClr val="00796E"/>
                </a:solidFill>
                <a:latin typeface="DejaVu Sans"/>
                <a:ea typeface="DejaVu Sans"/>
                <a:cs typeface="DejaVu Sans"/>
              </a:defRPr>
            </a:pPr>
            <a:r>
              <a:rPr sz="2250" b="1">
                <a:solidFill>
                  <a:srgbClr val="00796E"/>
                </a:solidFill>
                <a:latin typeface="DejaVu Sans"/>
                <a:ea typeface="DejaVu Sans"/>
                <a:cs typeface="DejaVu Sans"/>
              </a:rPr>
              <a:t>Privacy and abuse</a:t>
            </a:r>
          </a:p>
        </p:txBody>
      </p:sp>
      <p:sp>
        <p:nvSpPr>
          <p:cNvPr id="7" name="text-6">
            <a:extLst xmlns:a="http://schemas.openxmlformats.org/drawingml/2006/main">
              <a:ext uri="{FF2B5EF4-FFF2-40B4-BE49-F238E27FC236}">
                <a16:creationId xmlns:a16="http://schemas.microsoft.com/office/drawing/2014/main" id="{D806380A-411D-4C79-920A-BFBA85E6A225}"/>
              </a:ext>
            </a:extLst>
          </p:cNvPr>
          <p:cNvSpPr>
            <a:spLocks xmlns:a="http://schemas.openxmlformats.org/drawingml/2006/main" noGrp="1"/>
          </p:cNvSpPr>
          <p:nvPr/>
        </p:nvSpPr>
        <p:spPr>
          <a:xfrm xmlns:a="http://schemas.openxmlformats.org/drawingml/2006/main">
            <a:off x="4133850" y="3714750"/>
            <a:ext cx="7239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112D32"/>
                </a:solidFill>
                <a:latin typeface="DejaVu Sans"/>
                <a:ea typeface="DejaVu Sans"/>
                <a:cs typeface="DejaVu Sans"/>
              </a:defRPr>
            </a:defPPr>
          </a:lstStyle>
          <a:p xmlns:a="http://schemas.openxmlformats.org/drawingml/2006/main">
            <a:pPr>
              <a:defRPr sz="2025" b="0">
                <a:solidFill>
                  <a:srgbClr val="112D32"/>
                </a:solidFill>
                <a:latin typeface="DejaVu Sans"/>
                <a:ea typeface="DejaVu Sans"/>
                <a:cs typeface="DejaVu Sans"/>
              </a:defRPr>
            </a:pPr>
            <a:r>
              <a:rPr sz="2025" b="0">
                <a:solidFill>
                  <a:srgbClr val="112D32"/>
                </a:solidFill>
                <a:latin typeface="DejaVu Sans"/>
                <a:ea typeface="DejaVu Sans"/>
                <a:cs typeface="DejaVu Sans"/>
              </a:rPr>
              <a:t>Audit public data, limit contact attempts and cap spend.</a:t>
            </a:r>
          </a:p>
        </p:txBody>
      </p:sp>
      <p:sp>
        <p:nvSpPr>
          <p:cNvPr id="8" name="text-7">
            <a:extLst xmlns:a="http://schemas.openxmlformats.org/drawingml/2006/main">
              <a:ext uri="{FF2B5EF4-FFF2-40B4-BE49-F238E27FC236}">
                <a16:creationId xmlns:a16="http://schemas.microsoft.com/office/drawing/2014/main" id="{9C219835-8C58-4EAD-8F58-0A05567B7688}"/>
              </a:ext>
            </a:extLst>
          </p:cNvPr>
          <p:cNvSpPr>
            <a:spLocks xmlns:a="http://schemas.openxmlformats.org/drawingml/2006/main" noGrp="1"/>
          </p:cNvSpPr>
          <p:nvPr/>
        </p:nvSpPr>
        <p:spPr>
          <a:xfrm xmlns:a="http://schemas.openxmlformats.org/drawingml/2006/main">
            <a:off x="704850" y="4905375"/>
            <a:ext cx="3143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1">
                <a:solidFill>
                  <a:srgbClr val="00796E"/>
                </a:solidFill>
                <a:latin typeface="DejaVu Sans"/>
                <a:ea typeface="DejaVu Sans"/>
                <a:cs typeface="DejaVu Sans"/>
              </a:defRPr>
            </a:defPPr>
          </a:lstStyle>
          <a:p xmlns:a="http://schemas.openxmlformats.org/drawingml/2006/main">
            <a:pPr>
              <a:defRPr sz="2250" b="1">
                <a:solidFill>
                  <a:srgbClr val="00796E"/>
                </a:solidFill>
                <a:latin typeface="DejaVu Sans"/>
                <a:ea typeface="DejaVu Sans"/>
                <a:cs typeface="DejaVu Sans"/>
              </a:defRPr>
            </a:pPr>
            <a:r>
              <a:rPr sz="2250" b="1">
                <a:solidFill>
                  <a:srgbClr val="00796E"/>
                </a:solidFill>
                <a:latin typeface="DejaVu Sans"/>
                <a:ea typeface="DejaVu Sans"/>
                <a:cs typeface="DejaVu Sans"/>
              </a:rPr>
              <a:t>Business viability</a:t>
            </a:r>
          </a:p>
        </p:txBody>
      </p:sp>
      <p:sp>
        <p:nvSpPr>
          <p:cNvPr id="9" name="text-8">
            <a:extLst xmlns:a="http://schemas.openxmlformats.org/drawingml/2006/main">
              <a:ext uri="{FF2B5EF4-FFF2-40B4-BE49-F238E27FC236}">
                <a16:creationId xmlns:a16="http://schemas.microsoft.com/office/drawing/2014/main" id="{7389C01F-D383-4A0A-B3DF-283F5D9E626A}"/>
              </a:ext>
            </a:extLst>
          </p:cNvPr>
          <p:cNvSpPr>
            <a:spLocks xmlns:a="http://schemas.openxmlformats.org/drawingml/2006/main" noGrp="1"/>
          </p:cNvSpPr>
          <p:nvPr/>
        </p:nvSpPr>
        <p:spPr>
          <a:xfrm xmlns:a="http://schemas.openxmlformats.org/drawingml/2006/main">
            <a:off x="4133850" y="4905375"/>
            <a:ext cx="7239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112D32"/>
                </a:solidFill>
                <a:latin typeface="DejaVu Sans"/>
                <a:ea typeface="DejaVu Sans"/>
                <a:cs typeface="DejaVu Sans"/>
              </a:defRPr>
            </a:defPPr>
          </a:lstStyle>
          <a:p xmlns:a="http://schemas.openxmlformats.org/drawingml/2006/main">
            <a:pPr>
              <a:defRPr sz="2025" b="0">
                <a:solidFill>
                  <a:srgbClr val="112D32"/>
                </a:solidFill>
                <a:latin typeface="DejaVu Sans"/>
                <a:ea typeface="DejaVu Sans"/>
                <a:cs typeface="DejaVu Sans"/>
              </a:defRPr>
            </a:pPr>
            <a:r>
              <a:rPr sz="2025" b="0">
                <a:solidFill>
                  <a:srgbClr val="112D32"/>
                </a:solidFill>
                <a:latin typeface="DejaVu Sans"/>
                <a:ea typeface="DejaVu Sans"/>
                <a:cs typeface="DejaVu Sans"/>
              </a:rPr>
              <a:t>Test renewal willingness and actual support cost.</a:t>
            </a:r>
          </a:p>
        </p:txBody>
      </p:sp>
    </p:spTree>
    <p:extLst>
      <p:ext uri="{BB962C8B-B14F-4D97-AF65-F5344CB8AC3E}">
        <p14:creationId xmlns:p14="http://schemas.microsoft.com/office/powerpoint/2010/main" val="1387821888"/>
      </p:ext>
    </p:extLst>
  </p:cSld>
</p:sld>
</file>

<file path=ppt/slides/slide17.xml><?xml version="1.0" encoding="utf-8"?>
<p:sld xmlns:p="http://schemas.openxmlformats.org/presentationml/2006/main">
  <p:cSld>
    <p:bg>
      <p:bgPr>
        <a:solidFill xmlns:a="http://schemas.openxmlformats.org/drawingml/2006/main">
          <a:srgbClr val="112D32"/>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D59BC7F5-02F9-4FEC-B1BC-82850F7A7D14}"/>
              </a:ext>
            </a:extLst>
          </p:cNvPr>
          <p:cNvSpPr>
            <a:spLocks xmlns:a="http://schemas.openxmlformats.org/drawingml/2006/main" noGrp="1"/>
          </p:cNvSpPr>
          <p:nvPr/>
        </p:nvSpPr>
        <p:spPr>
          <a:xfrm xmlns:a="http://schemas.openxmlformats.org/drawingml/2006/main">
            <a:off x="685800" y="581025"/>
            <a:ext cx="108204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600" b="1">
                <a:solidFill>
                  <a:srgbClr val="F5F2E9"/>
                </a:solidFill>
                <a:latin typeface="DejaVu Sans"/>
                <a:ea typeface="DejaVu Sans"/>
                <a:cs typeface="DejaVu Sans"/>
              </a:defRPr>
            </a:defPPr>
          </a:lstStyle>
          <a:p xmlns:a="http://schemas.openxmlformats.org/drawingml/2006/main">
            <a:pPr>
              <a:defRPr sz="3600" b="1">
                <a:solidFill>
                  <a:srgbClr val="F5F2E9"/>
                </a:solidFill>
                <a:latin typeface="DejaVu Sans"/>
                <a:ea typeface="DejaVu Sans"/>
                <a:cs typeface="DejaVu Sans"/>
              </a:defRPr>
            </a:pPr>
            <a:r>
              <a:rPr sz="3600" b="1">
                <a:solidFill>
                  <a:srgbClr val="F5F2E9"/>
                </a:solidFill>
                <a:latin typeface="DejaVu Sans"/>
                <a:ea typeface="DejaVu Sans"/>
                <a:cs typeface="DejaVu Sans"/>
              </a:rPr>
              <a:t>The pilot partnership request</a:t>
            </a:r>
          </a:p>
        </p:txBody>
      </p:sp>
      <p:sp>
        <p:nvSpPr>
          <p:cNvPr id="2" name="text-1">
            <a:extLst xmlns:a="http://schemas.openxmlformats.org/drawingml/2006/main">
              <a:ext uri="{FF2B5EF4-FFF2-40B4-BE49-F238E27FC236}">
                <a16:creationId xmlns:a16="http://schemas.microsoft.com/office/drawing/2014/main" id="{1FFDB347-3CD7-4F4E-A39B-A4EA6C9D1462}"/>
              </a:ext>
            </a:extLst>
          </p:cNvPr>
          <p:cNvSpPr>
            <a:spLocks xmlns:a="http://schemas.openxmlformats.org/drawingml/2006/main" noGrp="1"/>
          </p:cNvSpPr>
          <p:nvPr/>
        </p:nvSpPr>
        <p:spPr>
          <a:xfrm xmlns:a="http://schemas.openxmlformats.org/drawingml/2006/main">
            <a:off x="704850" y="1619250"/>
            <a:ext cx="10668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B9F3D4"/>
                </a:solidFill>
                <a:latin typeface="DejaVu Sans"/>
                <a:ea typeface="DejaVu Sans"/>
                <a:cs typeface="DejaVu Sans"/>
              </a:defRPr>
            </a:defPPr>
          </a:lstStyle>
          <a:p xmlns:a="http://schemas.openxmlformats.org/drawingml/2006/main">
            <a:pPr>
              <a:defRPr sz="1725" b="0">
                <a:solidFill>
                  <a:srgbClr val="B9F3D4"/>
                </a:solidFill>
                <a:latin typeface="DejaVu Sans"/>
                <a:ea typeface="DejaVu Sans"/>
                <a:cs typeface="DejaVu Sans"/>
              </a:defRPr>
            </a:pPr>
            <a:r>
              <a:rPr sz="1725" b="0">
                <a:solidFill>
                  <a:srgbClr val="B9F3D4"/>
                </a:solidFill>
                <a:latin typeface="DejaVu Sans"/>
                <a:ea typeface="DejaVu Sans"/>
                <a:cs typeface="DejaVu Sans"/>
              </a:rPr>
              <a:t>A site sponsor, a small consenting cohort and measured results</a:t>
            </a:r>
          </a:p>
        </p:txBody>
      </p:sp>
      <p:sp>
        <p:nvSpPr>
          <p:cNvPr id="3" name="text-2">
            <a:extLst xmlns:a="http://schemas.openxmlformats.org/drawingml/2006/main">
              <a:ext uri="{FF2B5EF4-FFF2-40B4-BE49-F238E27FC236}">
                <a16:creationId xmlns:a16="http://schemas.microsoft.com/office/drawing/2014/main" id="{41002A08-CC8A-4D34-B3BA-1201DB339596}"/>
              </a:ext>
            </a:extLst>
          </p:cNvPr>
          <p:cNvSpPr>
            <a:spLocks xmlns:a="http://schemas.openxmlformats.org/drawingml/2006/main" noGrp="1"/>
          </p:cNvSpPr>
          <p:nvPr/>
        </p:nvSpPr>
        <p:spPr>
          <a:xfrm xmlns:a="http://schemas.openxmlformats.org/drawingml/2006/main">
            <a:off x="10953750" y="6334125"/>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B9F3D4"/>
                </a:solidFill>
                <a:latin typeface="DejaVu Sans"/>
                <a:ea typeface="DejaVu Sans"/>
                <a:cs typeface="DejaVu Sans"/>
              </a:defRPr>
            </a:defPPr>
          </a:lstStyle>
          <a:p xmlns:a="http://schemas.openxmlformats.org/drawingml/2006/main">
            <a:pPr>
              <a:defRPr sz="1275" b="0">
                <a:solidFill>
                  <a:srgbClr val="B9F3D4"/>
                </a:solidFill>
                <a:latin typeface="DejaVu Sans"/>
                <a:ea typeface="DejaVu Sans"/>
                <a:cs typeface="DejaVu Sans"/>
              </a:defRPr>
            </a:pPr>
            <a:r>
              <a:rPr sz="1275" b="0">
                <a:solidFill>
                  <a:srgbClr val="B9F3D4"/>
                </a:solidFill>
                <a:latin typeface="DejaVu Sans"/>
                <a:ea typeface="DejaVu Sans"/>
                <a:cs typeface="DejaVu Sans"/>
              </a:rPr>
              <a:t>17</a:t>
            </a:r>
          </a:p>
        </p:txBody>
      </p:sp>
      <p:sp>
        <p:nvSpPr>
          <p:cNvPr id="4" name="text-3">
            <a:extLst xmlns:a="http://schemas.openxmlformats.org/drawingml/2006/main">
              <a:ext uri="{FF2B5EF4-FFF2-40B4-BE49-F238E27FC236}">
                <a16:creationId xmlns:a16="http://schemas.microsoft.com/office/drawing/2014/main" id="{E480348E-82FA-4AF4-9180-2A5F568B9B3B}"/>
              </a:ext>
            </a:extLst>
          </p:cNvPr>
          <p:cNvSpPr>
            <a:spLocks xmlns:a="http://schemas.openxmlformats.org/drawingml/2006/main" noGrp="1"/>
          </p:cNvSpPr>
          <p:nvPr/>
        </p:nvSpPr>
        <p:spPr>
          <a:xfrm xmlns:a="http://schemas.openxmlformats.org/drawingml/2006/main">
            <a:off x="723900" y="2571750"/>
            <a:ext cx="10382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4950" b="1">
                <a:solidFill>
                  <a:srgbClr val="B9F3D4"/>
                </a:solidFill>
                <a:latin typeface="DejaVu Sans"/>
                <a:ea typeface="DejaVu Sans"/>
                <a:cs typeface="DejaVu Sans"/>
              </a:defRPr>
            </a:defPPr>
          </a:lstStyle>
          <a:p xmlns:a="http://schemas.openxmlformats.org/drawingml/2006/main">
            <a:pPr>
              <a:defRPr sz="4950" b="1">
                <a:solidFill>
                  <a:srgbClr val="B9F3D4"/>
                </a:solidFill>
                <a:latin typeface="DejaVu Sans"/>
                <a:ea typeface="DejaVu Sans"/>
                <a:cs typeface="DejaVu Sans"/>
              </a:defRPr>
            </a:pPr>
            <a:r>
              <a:rPr sz="4950" b="1">
                <a:solidFill>
                  <a:srgbClr val="B9F3D4"/>
                </a:solidFill>
                <a:latin typeface="DejaVu Sans"/>
                <a:ea typeface="DejaVu Sans"/>
                <a:cs typeface="DejaVu Sans"/>
              </a:rPr>
              <a:t>1 site sponsor</a:t>
            </a:r>
          </a:p>
        </p:txBody>
      </p:sp>
      <p:sp>
        <p:nvSpPr>
          <p:cNvPr id="5" name="text-4">
            <a:extLst xmlns:a="http://schemas.openxmlformats.org/drawingml/2006/main">
              <a:ext uri="{FF2B5EF4-FFF2-40B4-BE49-F238E27FC236}">
                <a16:creationId xmlns:a16="http://schemas.microsoft.com/office/drawing/2014/main" id="{1E01B934-2209-4E34-A478-AEAA2145AFA1}"/>
              </a:ext>
            </a:extLst>
          </p:cNvPr>
          <p:cNvSpPr>
            <a:spLocks xmlns:a="http://schemas.openxmlformats.org/drawingml/2006/main" noGrp="1"/>
          </p:cNvSpPr>
          <p:nvPr/>
        </p:nvSpPr>
        <p:spPr>
          <a:xfrm xmlns:a="http://schemas.openxmlformats.org/drawingml/2006/main">
            <a:off x="762000" y="3667125"/>
            <a:ext cx="10382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150" b="0">
                <a:solidFill>
                  <a:srgbClr val="F5F2E9"/>
                </a:solidFill>
                <a:latin typeface="DejaVu Sans"/>
                <a:ea typeface="DejaVu Sans"/>
                <a:cs typeface="DejaVu Sans"/>
              </a:defRPr>
            </a:defPPr>
          </a:lstStyle>
          <a:p xmlns:a="http://schemas.openxmlformats.org/drawingml/2006/main">
            <a:pPr>
              <a:defRPr sz="3150" b="0">
                <a:solidFill>
                  <a:srgbClr val="F5F2E9"/>
                </a:solidFill>
                <a:latin typeface="DejaVu Sans"/>
                <a:ea typeface="DejaVu Sans"/>
                <a:cs typeface="DejaVu Sans"/>
              </a:defRPr>
            </a:pPr>
            <a:r>
              <a:rPr sz="3150" b="0">
                <a:solidFill>
                  <a:srgbClr val="F5F2E9"/>
                </a:solidFill>
                <a:latin typeface="DejaVu Sans"/>
                <a:ea typeface="DejaVu Sans"/>
                <a:cs typeface="DejaVu Sans"/>
              </a:rPr>
              <a:t>50–100 consenting owners</a:t>
            </a:r>
          </a:p>
        </p:txBody>
      </p:sp>
      <p:sp>
        <p:nvSpPr>
          <p:cNvPr id="6" name="text-5">
            <a:extLst xmlns:a="http://schemas.openxmlformats.org/drawingml/2006/main">
              <a:ext uri="{FF2B5EF4-FFF2-40B4-BE49-F238E27FC236}">
                <a16:creationId xmlns:a16="http://schemas.microsoft.com/office/drawing/2014/main" id="{3168D7E2-819D-49EC-B7D5-DCC02ADFC263}"/>
              </a:ext>
            </a:extLst>
          </p:cNvPr>
          <p:cNvSpPr>
            <a:spLocks xmlns:a="http://schemas.openxmlformats.org/drawingml/2006/main" noGrp="1"/>
          </p:cNvSpPr>
          <p:nvPr/>
        </p:nvSpPr>
        <p:spPr>
          <a:xfrm xmlns:a="http://schemas.openxmlformats.org/drawingml/2006/main">
            <a:off x="762000" y="4857750"/>
            <a:ext cx="10477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0">
                <a:solidFill>
                  <a:srgbClr val="F5F2E9"/>
                </a:solidFill>
                <a:latin typeface="DejaVu Sans"/>
                <a:ea typeface="DejaVu Sans"/>
                <a:cs typeface="DejaVu Sans"/>
              </a:defRPr>
            </a:defPPr>
          </a:lstStyle>
          <a:p xmlns:a="http://schemas.openxmlformats.org/drawingml/2006/main">
            <a:pPr>
              <a:defRPr sz="2175" b="0">
                <a:solidFill>
                  <a:srgbClr val="F5F2E9"/>
                </a:solidFill>
                <a:latin typeface="DejaVu Sans"/>
                <a:ea typeface="DejaVu Sans"/>
                <a:cs typeface="DejaVu Sans"/>
              </a:defRPr>
            </a:pPr>
            <a:r>
              <a:rPr sz="2175" b="0">
                <a:solidFill>
                  <a:srgbClr val="F5F2E9"/>
                </a:solidFill>
                <a:latin typeface="DejaVu Sans"/>
                <a:ea typeface="DejaVu Sans"/>
                <a:cs typeface="DejaVu Sans"/>
              </a:rPr>
              <a:t>Proposed Phase A cash envelope: PKR 42,000–114,000</a:t>
            </a:r>
          </a:p>
        </p:txBody>
      </p:sp>
      <p:sp>
        <p:nvSpPr>
          <p:cNvPr id="7" name="text-6">
            <a:extLst xmlns:a="http://schemas.openxmlformats.org/drawingml/2006/main">
              <a:ext uri="{FF2B5EF4-FFF2-40B4-BE49-F238E27FC236}">
                <a16:creationId xmlns:a16="http://schemas.microsoft.com/office/drawing/2014/main" id="{7F20DADD-B876-464E-9F04-5EEE8E8D64B7}"/>
              </a:ext>
            </a:extLst>
          </p:cNvPr>
          <p:cNvSpPr>
            <a:spLocks xmlns:a="http://schemas.openxmlformats.org/drawingml/2006/main" noGrp="1"/>
          </p:cNvSpPr>
          <p:nvPr/>
        </p:nvSpPr>
        <p:spPr>
          <a:xfrm xmlns:a="http://schemas.openxmlformats.org/drawingml/2006/main">
            <a:off x="704850" y="5886450"/>
            <a:ext cx="10382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B9F3D4"/>
                </a:solidFill>
                <a:latin typeface="DejaVu Sans"/>
                <a:ea typeface="DejaVu Sans"/>
                <a:cs typeface="DejaVu Sans"/>
              </a:defRPr>
            </a:defPPr>
          </a:lstStyle>
          <a:p xmlns:a="http://schemas.openxmlformats.org/drawingml/2006/main">
            <a:pPr>
              <a:defRPr sz="1275" b="0">
                <a:solidFill>
                  <a:srgbClr val="B9F3D4"/>
                </a:solidFill>
                <a:latin typeface="DejaVu Sans"/>
                <a:ea typeface="DejaVu Sans"/>
                <a:cs typeface="DejaVu Sans"/>
              </a:defRPr>
            </a:pPr>
            <a:r>
              <a:rPr sz="1275" b="0">
                <a:solidFill>
                  <a:srgbClr val="B9F3D4"/>
                </a:solidFill>
                <a:latin typeface="DejaVu Sans"/>
                <a:ea typeface="DejaVu Sans"/>
                <a:cs typeface="DejaVu Sans"/>
              </a:rPr>
              <a:t>Planning range only. Founder salaries and Phase B carrier deposits excluded.</a:t>
            </a:r>
          </a:p>
        </p:txBody>
      </p:sp>
    </p:spTree>
    <p:extLst>
      <p:ext uri="{BB962C8B-B14F-4D97-AF65-F5344CB8AC3E}">
        <p14:creationId xmlns:p14="http://schemas.microsoft.com/office/powerpoint/2010/main" val="314003459"/>
      </p:ext>
    </p:extLst>
  </p:cSld>
</p:sld>
</file>

<file path=ppt/slides/slide18.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1F4CB22B-247C-4A9F-B701-E6AB13E47295}"/>
              </a:ext>
            </a:extLst>
          </p:cNvPr>
          <p:cNvSpPr>
            <a:spLocks xmlns:a="http://schemas.openxmlformats.org/drawingml/2006/main" noGrp="1"/>
          </p:cNvSpPr>
          <p:nvPr/>
        </p:nvSpPr>
        <p:spPr>
          <a:xfrm xmlns:a="http://schemas.openxmlformats.org/drawingml/2006/main">
            <a:off x="685800" y="581025"/>
            <a:ext cx="108204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600" b="1">
                <a:solidFill>
                  <a:srgbClr val="112D32"/>
                </a:solidFill>
                <a:latin typeface="DejaVu Sans"/>
                <a:ea typeface="DejaVu Sans"/>
                <a:cs typeface="DejaVu Sans"/>
              </a:defRPr>
            </a:defPPr>
          </a:lstStyle>
          <a:p xmlns:a="http://schemas.openxmlformats.org/drawingml/2006/main">
            <a:pPr>
              <a:defRPr sz="3600" b="1">
                <a:solidFill>
                  <a:srgbClr val="112D32"/>
                </a:solidFill>
                <a:latin typeface="DejaVu Sans"/>
                <a:ea typeface="DejaVu Sans"/>
                <a:cs typeface="DejaVu Sans"/>
              </a:defRPr>
            </a:pPr>
            <a:r>
              <a:rPr sz="3600" b="1">
                <a:solidFill>
                  <a:srgbClr val="112D32"/>
                </a:solidFill>
                <a:latin typeface="DejaVu Sans"/>
                <a:ea typeface="DejaVu Sans"/>
                <a:cs typeface="DejaVu Sans"/>
              </a:rPr>
              <a:t>Appendix · Roles and permissions</a:t>
            </a:r>
          </a:p>
        </p:txBody>
      </p:sp>
      <p:sp>
        <p:nvSpPr>
          <p:cNvPr id="2" name="text-1">
            <a:extLst xmlns:a="http://schemas.openxmlformats.org/drawingml/2006/main">
              <a:ext uri="{FF2B5EF4-FFF2-40B4-BE49-F238E27FC236}">
                <a16:creationId xmlns:a16="http://schemas.microsoft.com/office/drawing/2014/main" id="{28D92C49-8F4C-413B-9644-648F02BB449B}"/>
              </a:ext>
            </a:extLst>
          </p:cNvPr>
          <p:cNvSpPr>
            <a:spLocks xmlns:a="http://schemas.openxmlformats.org/drawingml/2006/main" noGrp="1"/>
          </p:cNvSpPr>
          <p:nvPr/>
        </p:nvSpPr>
        <p:spPr>
          <a:xfrm xmlns:a="http://schemas.openxmlformats.org/drawingml/2006/main">
            <a:off x="704850" y="1619250"/>
            <a:ext cx="10668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5C6D6B"/>
                </a:solidFill>
                <a:latin typeface="DejaVu Sans"/>
                <a:ea typeface="DejaVu Sans"/>
                <a:cs typeface="DejaVu Sans"/>
              </a:defRPr>
            </a:defPPr>
          </a:lstStyle>
          <a:p xmlns:a="http://schemas.openxmlformats.org/drawingml/2006/main">
            <a:pPr>
              <a:defRPr sz="1725" b="0">
                <a:solidFill>
                  <a:srgbClr val="5C6D6B"/>
                </a:solidFill>
                <a:latin typeface="DejaVu Sans"/>
                <a:ea typeface="DejaVu Sans"/>
                <a:cs typeface="DejaVu Sans"/>
              </a:defRPr>
            </a:pPr>
            <a:r>
              <a:rPr sz="1725" b="0">
                <a:solidFill>
                  <a:srgbClr val="5C6D6B"/>
                </a:solidFill>
                <a:latin typeface="DejaVu Sans"/>
                <a:ea typeface="DejaVu Sans"/>
                <a:cs typeface="DejaVu Sans"/>
              </a:rPr>
              <a:t>Six roles, with separate support and fulfilment permissions</a:t>
            </a:r>
          </a:p>
        </p:txBody>
      </p:sp>
      <p:sp>
        <p:nvSpPr>
          <p:cNvPr id="3" name="text-2">
            <a:extLst xmlns:a="http://schemas.openxmlformats.org/drawingml/2006/main">
              <a:ext uri="{FF2B5EF4-FFF2-40B4-BE49-F238E27FC236}">
                <a16:creationId xmlns:a16="http://schemas.microsoft.com/office/drawing/2014/main" id="{5DE21C16-2A51-47C8-AFF7-5FA8A143AF34}"/>
              </a:ext>
            </a:extLst>
          </p:cNvPr>
          <p:cNvSpPr>
            <a:spLocks xmlns:a="http://schemas.openxmlformats.org/drawingml/2006/main" noGrp="1"/>
          </p:cNvSpPr>
          <p:nvPr/>
        </p:nvSpPr>
        <p:spPr>
          <a:xfrm xmlns:a="http://schemas.openxmlformats.org/drawingml/2006/main">
            <a:off x="10953750" y="6334125"/>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5C6D6B"/>
                </a:solidFill>
                <a:latin typeface="DejaVu Sans"/>
                <a:ea typeface="DejaVu Sans"/>
                <a:cs typeface="DejaVu Sans"/>
              </a:defRPr>
            </a:defPPr>
          </a:lstStyle>
          <a:p xmlns:a="http://schemas.openxmlformats.org/drawingml/2006/main">
            <a:pPr>
              <a:defRPr sz="1275" b="0">
                <a:solidFill>
                  <a:srgbClr val="5C6D6B"/>
                </a:solidFill>
                <a:latin typeface="DejaVu Sans"/>
                <a:ea typeface="DejaVu Sans"/>
                <a:cs typeface="DejaVu Sans"/>
              </a:defRPr>
            </a:pPr>
            <a:r>
              <a:rPr sz="1275" b="0">
                <a:solidFill>
                  <a:srgbClr val="5C6D6B"/>
                </a:solidFill>
                <a:latin typeface="DejaVu Sans"/>
                <a:ea typeface="DejaVu Sans"/>
                <a:cs typeface="DejaVu Sans"/>
              </a:rPr>
              <a:t>18</a:t>
            </a:r>
          </a:p>
        </p:txBody>
      </p:sp>
      <p:graphicFrame>
        <p:nvGraphicFramePr>
          <p:cNvPr id="4" name="">
            <a:extLst xmlns:a="http://schemas.openxmlformats.org/drawingml/2006/main">
              <a:ext uri="{FF2B5EF4-FFF2-40B4-BE49-F238E27FC236}">
                <a16:creationId xmlns:a16="http://schemas.microsoft.com/office/drawing/2014/main" id="{0D17EA9E-212D-48A5-A97E-BFA054B42450}"/>
              </a:ext>
            </a:extLst>
          </p:cNvPr>
          <p:cNvGraphicFramePr/>
          <p:nvPr/>
        </p:nvGraphicFramePr>
        <p:xfrm>
          <a:off xmlns:a="http://schemas.openxmlformats.org/drawingml/2006/main" x="685800" y="2238375"/>
          <a:ext xmlns:a="http://schemas.openxmlformats.org/drawingml/2006/main" cx="10820400" cy="3600450"/>
        </p:xfrm>
        <a:graphic xmlns:a="http://schemas.openxmlformats.org/drawingml/2006/main">
          <a:graphicData uri="http://schemas.openxmlformats.org/drawingml/2006/table">
            <a:tbl>
              <a:tblPr/>
              <a:tblGrid>
                <a:gridCol w="3810000"/>
                <a:gridCol w="7010400"/>
              </a:tblGrid>
              <a:tr h="514350">
                <a:tc>
                  <a:txBody>
                    <a:bodyPr lIns="114300" tIns="114300" rIns="114300" bIns="114300"/>
                    <a:lstStyle/>
                    <a:p>
                      <a:r>
                        <a:rPr sz="1725" b="1">
                          <a:solidFill>
                            <a:srgbClr val="F5F2E9"/>
                          </a:solidFill>
                          <a:latin typeface="DejaVu Sans"/>
                          <a:ea typeface="DejaVu Sans"/>
                          <a:cs typeface="DejaVu Sans"/>
                        </a:rPr>
                        <a:t>Role</a:t>
                      </a:r>
                    </a:p>
                  </a:txBody>
                  <a:tcPr marL="91440" marR="91440" marT="45720" marB="45720">
                    <a:lnL w="9525">
                      <a:solidFill>
                        <a:srgbClr val="D4DDD5"/>
                      </a:solidFill>
                      <a:prstDash val="solid"/>
                    </a:lnL>
                    <a:lnR w="9525">
                      <a:solidFill>
                        <a:srgbClr val="D4DDD5"/>
                      </a:solidFill>
                      <a:prstDash val="solid"/>
                    </a:lnR>
                    <a:lnT w="9525">
                      <a:solidFill>
                        <a:srgbClr val="D4DDD5"/>
                      </a:solidFill>
                      <a:prstDash val="solid"/>
                    </a:lnT>
                    <a:lnB w="9525">
                      <a:solidFill>
                        <a:srgbClr val="D4DDD5"/>
                      </a:solidFill>
                      <a:prstDash val="solid"/>
                    </a:lnB>
                    <a:solidFill>
                      <a:srgbClr val="112D32"/>
                    </a:solidFill>
                  </a:tcPr>
                </a:tc>
                <a:tc>
                  <a:txBody>
                    <a:bodyPr lIns="114300" tIns="114300" rIns="114300" bIns="114300"/>
                    <a:lstStyle/>
                    <a:p>
                      <a:r>
                        <a:rPr sz="1725" b="1">
                          <a:solidFill>
                            <a:srgbClr val="F5F2E9"/>
                          </a:solidFill>
                          <a:latin typeface="DejaVu Sans"/>
                          <a:ea typeface="DejaVu Sans"/>
                          <a:cs typeface="DejaVu Sans"/>
                        </a:rPr>
                        <a:t>Core responsibility</a:t>
                      </a:r>
                    </a:p>
                  </a:txBody>
                  <a:tcPr marL="91440" marR="91440" marT="45720" marB="45720">
                    <a:lnR w="9525">
                      <a:solidFill>
                        <a:srgbClr val="D4DDD5"/>
                      </a:solidFill>
                      <a:prstDash val="solid"/>
                    </a:lnR>
                    <a:lnT w="9525">
                      <a:solidFill>
                        <a:srgbClr val="D4DDD5"/>
                      </a:solidFill>
                      <a:prstDash val="solid"/>
                    </a:lnT>
                    <a:lnB w="9525">
                      <a:solidFill>
                        <a:srgbClr val="D4DDD5"/>
                      </a:solidFill>
                      <a:prstDash val="solid"/>
                    </a:lnB>
                    <a:solidFill>
                      <a:srgbClr val="112D32"/>
                    </a:solidFill>
                  </a:tcPr>
                </a:tc>
              </a:tr>
              <a:tr h="514350">
                <a:tc>
                  <a:txBody>
                    <a:bodyPr lIns="114300" tIns="114300" rIns="114300" bIns="114300"/>
                    <a:lstStyle/>
                    <a:p>
                      <a:r>
                        <a:rPr sz="1725" b="0">
                          <a:solidFill>
                            <a:srgbClr val="112D32"/>
                          </a:solidFill>
                          <a:latin typeface="DejaVu Sans"/>
                          <a:ea typeface="DejaVu Sans"/>
                          <a:cs typeface="DejaVu Sans"/>
                        </a:rPr>
                        <a:t>Scanner</a:t>
                      </a:r>
                    </a:p>
                  </a:txBody>
                  <a:tcPr marL="91440" marR="91440" marT="45720" marB="45720">
                    <a:lnL w="9525">
                      <a:solidFill>
                        <a:srgbClr val="D4DDD5"/>
                      </a:solidFill>
                      <a:prstDash val="solid"/>
                    </a:lnL>
                    <a:lnR w="9525">
                      <a:solidFill>
                        <a:srgbClr val="D4DDD5"/>
                      </a:solidFill>
                      <a:prstDash val="solid"/>
                    </a:lnR>
                    <a:lnB w="9525">
                      <a:solidFill>
                        <a:srgbClr val="D4DDD5"/>
                      </a:solidFill>
                      <a:prstDash val="solid"/>
                    </a:lnB>
                    <a:solidFill>
                      <a:srgbClr val="FFFFFF"/>
                    </a:solidFill>
                  </a:tcPr>
                </a:tc>
                <a:tc>
                  <a:txBody>
                    <a:bodyPr lIns="114300" tIns="114300" rIns="114300" bIns="114300"/>
                    <a:lstStyle/>
                    <a:p>
                      <a:r>
                        <a:rPr sz="1725" b="0">
                          <a:solidFill>
                            <a:srgbClr val="112D32"/>
                          </a:solidFill>
                          <a:latin typeface="DejaVu Sans"/>
                          <a:ea typeface="DejaVu Sans"/>
                          <a:cs typeface="DejaVu Sans"/>
                        </a:rPr>
                        <a:t>Submit and follow their own request</a:t>
                      </a:r>
                    </a:p>
                  </a:txBody>
                  <a:tcPr marL="91440" marR="91440" marT="45720" marB="45720">
                    <a:lnR w="9525">
                      <a:solidFill>
                        <a:srgbClr val="D4DDD5"/>
                      </a:solidFill>
                      <a:prstDash val="solid"/>
                    </a:lnR>
                    <a:lnB w="9525">
                      <a:solidFill>
                        <a:srgbClr val="D4DDD5"/>
                      </a:solidFill>
                      <a:prstDash val="solid"/>
                    </a:lnB>
                    <a:solidFill>
                      <a:srgbClr val="FFFFFF"/>
                    </a:solidFill>
                  </a:tcPr>
                </a:tc>
              </a:tr>
              <a:tr h="514350">
                <a:tc>
                  <a:txBody>
                    <a:bodyPr lIns="114300" tIns="114300" rIns="114300" bIns="114300"/>
                    <a:lstStyle/>
                    <a:p>
                      <a:r>
                        <a:rPr sz="1725" b="0">
                          <a:solidFill>
                            <a:srgbClr val="112D32"/>
                          </a:solidFill>
                          <a:latin typeface="DejaVu Sans"/>
                          <a:ea typeface="DejaVu Sans"/>
                          <a:cs typeface="DejaVu Sans"/>
                        </a:rPr>
                        <a:t>Owner / driver</a:t>
                      </a:r>
                    </a:p>
                  </a:txBody>
                  <a:tcPr marL="91440" marR="91440" marT="45720" marB="45720">
                    <a:lnL w="9525">
                      <a:solidFill>
                        <a:srgbClr val="D4DDD5"/>
                      </a:solidFill>
                      <a:prstDash val="solid"/>
                    </a:lnL>
                    <a:lnR w="9525">
                      <a:solidFill>
                        <a:srgbClr val="D4DDD5"/>
                      </a:solidFill>
                      <a:prstDash val="solid"/>
                    </a:lnR>
                    <a:lnB w="9525">
                      <a:solidFill>
                        <a:srgbClr val="D4DDD5"/>
                      </a:solidFill>
                      <a:prstDash val="solid"/>
                    </a:lnB>
                    <a:solidFill>
                      <a:srgbClr val="F5F2E9"/>
                    </a:solidFill>
                  </a:tcPr>
                </a:tc>
                <a:tc>
                  <a:txBody>
                    <a:bodyPr lIns="114300" tIns="114300" rIns="114300" bIns="114300"/>
                    <a:lstStyle/>
                    <a:p>
                      <a:r>
                        <a:rPr sz="1725" b="0">
                          <a:solidFill>
                            <a:srgbClr val="112D32"/>
                          </a:solidFill>
                          <a:latin typeface="DejaVu Sans"/>
                          <a:ea typeface="DejaVu Sans"/>
                          <a:cs typeface="DejaVu Sans"/>
                        </a:rPr>
                        <a:t>Claim tag, manage contacts, acknowledge</a:t>
                      </a:r>
                    </a:p>
                  </a:txBody>
                  <a:tcPr marL="91440" marR="91440" marT="45720" marB="45720">
                    <a:lnR w="9525">
                      <a:solidFill>
                        <a:srgbClr val="D4DDD5"/>
                      </a:solidFill>
                      <a:prstDash val="solid"/>
                    </a:lnR>
                    <a:lnB w="9525">
                      <a:solidFill>
                        <a:srgbClr val="D4DDD5"/>
                      </a:solidFill>
                      <a:prstDash val="solid"/>
                    </a:lnB>
                    <a:solidFill>
                      <a:srgbClr val="F5F2E9"/>
                    </a:solidFill>
                  </a:tcPr>
                </a:tc>
              </a:tr>
              <a:tr h="514350">
                <a:tc>
                  <a:txBody>
                    <a:bodyPr lIns="114300" tIns="114300" rIns="114300" bIns="114300"/>
                    <a:lstStyle/>
                    <a:p>
                      <a:r>
                        <a:rPr sz="1725" b="0">
                          <a:solidFill>
                            <a:srgbClr val="112D32"/>
                          </a:solidFill>
                          <a:latin typeface="DejaVu Sans"/>
                          <a:ea typeface="DejaVu Sans"/>
                          <a:cs typeface="DejaVu Sans"/>
                        </a:rPr>
                        <a:t>Backup contact</a:t>
                      </a:r>
                    </a:p>
                  </a:txBody>
                  <a:tcPr marL="91440" marR="91440" marT="45720" marB="45720">
                    <a:lnL w="9525">
                      <a:solidFill>
                        <a:srgbClr val="D4DDD5"/>
                      </a:solidFill>
                      <a:prstDash val="solid"/>
                    </a:lnL>
                    <a:lnR w="9525">
                      <a:solidFill>
                        <a:srgbClr val="D4DDD5"/>
                      </a:solidFill>
                      <a:prstDash val="solid"/>
                    </a:lnR>
                    <a:lnB w="9525">
                      <a:solidFill>
                        <a:srgbClr val="D4DDD5"/>
                      </a:solidFill>
                      <a:prstDash val="solid"/>
                    </a:lnB>
                    <a:solidFill>
                      <a:srgbClr val="FFFFFF"/>
                    </a:solidFill>
                  </a:tcPr>
                </a:tc>
                <a:tc>
                  <a:txBody>
                    <a:bodyPr lIns="114300" tIns="114300" rIns="114300" bIns="114300"/>
                    <a:lstStyle/>
                    <a:p>
                      <a:r>
                        <a:rPr sz="1725" b="0">
                          <a:solidFill>
                            <a:srgbClr val="112D32"/>
                          </a:solidFill>
                          <a:latin typeface="DejaVu Sans"/>
                          <a:ea typeface="DejaVu Sans"/>
                          <a:cs typeface="DejaVu Sans"/>
                        </a:rPr>
                        <a:t>Receive only agreed escalations</a:t>
                      </a:r>
                    </a:p>
                  </a:txBody>
                  <a:tcPr marL="91440" marR="91440" marT="45720" marB="45720">
                    <a:lnR w="9525">
                      <a:solidFill>
                        <a:srgbClr val="D4DDD5"/>
                      </a:solidFill>
                      <a:prstDash val="solid"/>
                    </a:lnR>
                    <a:lnB w="9525">
                      <a:solidFill>
                        <a:srgbClr val="D4DDD5"/>
                      </a:solidFill>
                      <a:prstDash val="solid"/>
                    </a:lnB>
                    <a:solidFill>
                      <a:srgbClr val="FFFFFF"/>
                    </a:solidFill>
                  </a:tcPr>
                </a:tc>
              </a:tr>
              <a:tr h="514350">
                <a:tc>
                  <a:txBody>
                    <a:bodyPr lIns="114300" tIns="114300" rIns="114300" bIns="114300"/>
                    <a:lstStyle/>
                    <a:p>
                      <a:r>
                        <a:rPr sz="1725" b="0">
                          <a:solidFill>
                            <a:srgbClr val="112D32"/>
                          </a:solidFill>
                          <a:latin typeface="DejaVu Sans"/>
                          <a:ea typeface="DejaVu Sans"/>
                          <a:cs typeface="DejaVu Sans"/>
                        </a:rPr>
                        <a:t>Guard / site operator</a:t>
                      </a:r>
                    </a:p>
                  </a:txBody>
                  <a:tcPr marL="91440" marR="91440" marT="45720" marB="45720">
                    <a:lnL w="9525">
                      <a:solidFill>
                        <a:srgbClr val="D4DDD5"/>
                      </a:solidFill>
                      <a:prstDash val="solid"/>
                    </a:lnL>
                    <a:lnR w="9525">
                      <a:solidFill>
                        <a:srgbClr val="D4DDD5"/>
                      </a:solidFill>
                      <a:prstDash val="solid"/>
                    </a:lnR>
                    <a:lnB w="9525">
                      <a:solidFill>
                        <a:srgbClr val="D4DDD5"/>
                      </a:solidFill>
                      <a:prstDash val="solid"/>
                    </a:lnB>
                    <a:solidFill>
                      <a:srgbClr val="F5F2E9"/>
                    </a:solidFill>
                  </a:tcPr>
                </a:tc>
                <a:tc>
                  <a:txBody>
                    <a:bodyPr lIns="114300" tIns="114300" rIns="114300" bIns="114300"/>
                    <a:lstStyle/>
                    <a:p>
                      <a:r>
                        <a:rPr sz="1725" b="0">
                          <a:solidFill>
                            <a:srgbClr val="112D32"/>
                          </a:solidFill>
                          <a:latin typeface="DejaVu Sans"/>
                          <a:ea typeface="DejaVu Sans"/>
                          <a:cs typeface="DejaVu Sans"/>
                        </a:rPr>
                        <a:t>Assist with site incidents</a:t>
                      </a:r>
                    </a:p>
                  </a:txBody>
                  <a:tcPr marL="91440" marR="91440" marT="45720" marB="45720">
                    <a:lnR w="9525">
                      <a:solidFill>
                        <a:srgbClr val="D4DDD5"/>
                      </a:solidFill>
                      <a:prstDash val="solid"/>
                    </a:lnR>
                    <a:lnB w="9525">
                      <a:solidFill>
                        <a:srgbClr val="D4DDD5"/>
                      </a:solidFill>
                      <a:prstDash val="solid"/>
                    </a:lnB>
                    <a:solidFill>
                      <a:srgbClr val="F5F2E9"/>
                    </a:solidFill>
                  </a:tcPr>
                </a:tc>
              </a:tr>
              <a:tr h="514350">
                <a:tc>
                  <a:txBody>
                    <a:bodyPr lIns="114300" tIns="114300" rIns="114300" bIns="114300"/>
                    <a:lstStyle/>
                    <a:p>
                      <a:r>
                        <a:rPr sz="1725" b="0">
                          <a:solidFill>
                            <a:srgbClr val="112D32"/>
                          </a:solidFill>
                          <a:latin typeface="DejaVu Sans"/>
                          <a:ea typeface="DejaVu Sans"/>
                          <a:cs typeface="DejaVu Sans"/>
                        </a:rPr>
                        <a:t>Site administrator</a:t>
                      </a:r>
                    </a:p>
                  </a:txBody>
                  <a:tcPr marL="91440" marR="91440" marT="45720" marB="45720">
                    <a:lnL w="9525">
                      <a:solidFill>
                        <a:srgbClr val="D4DDD5"/>
                      </a:solidFill>
                      <a:prstDash val="solid"/>
                    </a:lnL>
                    <a:lnR w="9525">
                      <a:solidFill>
                        <a:srgbClr val="D4DDD5"/>
                      </a:solidFill>
                      <a:prstDash val="solid"/>
                    </a:lnR>
                    <a:lnB w="9525">
                      <a:solidFill>
                        <a:srgbClr val="D4DDD5"/>
                      </a:solidFill>
                      <a:prstDash val="solid"/>
                    </a:lnB>
                    <a:solidFill>
                      <a:srgbClr val="FFFFFF"/>
                    </a:solidFill>
                  </a:tcPr>
                </a:tc>
                <a:tc>
                  <a:txBody>
                    <a:bodyPr lIns="114300" tIns="114300" rIns="114300" bIns="114300"/>
                    <a:lstStyle/>
                    <a:p>
                      <a:r>
                        <a:rPr sz="1725" b="0">
                          <a:solidFill>
                            <a:srgbClr val="112D32"/>
                          </a:solidFill>
                          <a:latin typeface="DejaVu Sans"/>
                          <a:ea typeface="DejaVu Sans"/>
                          <a:cs typeface="DejaVu Sans"/>
                        </a:rPr>
                        <a:t>Manage staff and aggregate site outcomes</a:t>
                      </a:r>
                    </a:p>
                  </a:txBody>
                  <a:tcPr marL="91440" marR="91440" marT="45720" marB="45720">
                    <a:lnR w="9525">
                      <a:solidFill>
                        <a:srgbClr val="D4DDD5"/>
                      </a:solidFill>
                      <a:prstDash val="solid"/>
                    </a:lnR>
                    <a:lnB w="9525">
                      <a:solidFill>
                        <a:srgbClr val="D4DDD5"/>
                      </a:solidFill>
                      <a:prstDash val="solid"/>
                    </a:lnB>
                    <a:solidFill>
                      <a:srgbClr val="FFFFFF"/>
                    </a:solidFill>
                  </a:tcPr>
                </a:tc>
              </a:tr>
              <a:tr h="514350">
                <a:tc>
                  <a:txBody>
                    <a:bodyPr lIns="114300" tIns="114300" rIns="114300" bIns="114300"/>
                    <a:lstStyle/>
                    <a:p>
                      <a:r>
                        <a:rPr sz="1725" b="0">
                          <a:solidFill>
                            <a:srgbClr val="112D32"/>
                          </a:solidFill>
                          <a:latin typeface="DejaVu Sans"/>
                          <a:ea typeface="DejaVu Sans"/>
                          <a:cs typeface="DejaVu Sans"/>
                        </a:rPr>
                        <a:t>Platform administrator</a:t>
                      </a:r>
                    </a:p>
                  </a:txBody>
                  <a:tcPr marL="91440" marR="91440" marT="45720" marB="45720">
                    <a:lnL w="9525">
                      <a:solidFill>
                        <a:srgbClr val="D4DDD5"/>
                      </a:solidFill>
                      <a:prstDash val="solid"/>
                    </a:lnL>
                    <a:lnR w="9525">
                      <a:solidFill>
                        <a:srgbClr val="D4DDD5"/>
                      </a:solidFill>
                      <a:prstDash val="solid"/>
                    </a:lnR>
                    <a:lnB w="9525">
                      <a:solidFill>
                        <a:srgbClr val="D4DDD5"/>
                      </a:solidFill>
                      <a:prstDash val="solid"/>
                    </a:lnB>
                    <a:solidFill>
                      <a:srgbClr val="F5F2E9"/>
                    </a:solidFill>
                  </a:tcPr>
                </a:tc>
                <a:tc>
                  <a:txBody>
                    <a:bodyPr lIns="114300" tIns="114300" rIns="114300" bIns="114300"/>
                    <a:lstStyle/>
                    <a:p>
                      <a:r>
                        <a:rPr sz="1725" b="0">
                          <a:solidFill>
                            <a:srgbClr val="112D32"/>
                          </a:solidFill>
                          <a:latin typeface="DejaVu Sans"/>
                          <a:ea typeface="DejaVu Sans"/>
                          <a:cs typeface="DejaVu Sans"/>
                        </a:rPr>
                        <a:t>Fulfilment, abuse, provider health and audit</a:t>
                      </a:r>
                    </a:p>
                  </a:txBody>
                  <a:tcPr marL="91440" marR="91440" marT="45720" marB="45720">
                    <a:lnR w="9525">
                      <a:solidFill>
                        <a:srgbClr val="D4DDD5"/>
                      </a:solidFill>
                      <a:prstDash val="solid"/>
                    </a:lnR>
                    <a:lnB w="9525">
                      <a:solidFill>
                        <a:srgbClr val="D4DDD5"/>
                      </a:solidFill>
                      <a:prstDash val="solid"/>
                    </a:lnB>
                    <a:solidFill>
                      <a:srgbClr val="F5F2E9"/>
                    </a:solidFill>
                  </a:tcPr>
                </a:tc>
              </a:tr>
            </a:tbl>
          </a:graphicData>
        </a:graphic>
      </p:graphicFrame>
    </p:spTree>
    <p:extLst>
      <p:ext uri="{BB962C8B-B14F-4D97-AF65-F5344CB8AC3E}">
        <p14:creationId xmlns:p14="http://schemas.microsoft.com/office/powerpoint/2010/main" val="2032904305"/>
      </p:ext>
    </p:extLst>
  </p:cSld>
</p:sld>
</file>

<file path=ppt/slides/slide19.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0EAB165F-CB6F-4217-BA5B-4C0895090B64}"/>
              </a:ext>
            </a:extLst>
          </p:cNvPr>
          <p:cNvCxnSpPr>
            <a:stCxn xmlns:a="http://schemas.openxmlformats.org/drawingml/2006/main" id="8" idx="2"/>
            <a:endCxn xmlns:a="http://schemas.openxmlformats.org/drawingml/2006/main" id="9" idx="0"/>
          </p:cNvCxnSpPr>
          <p:nvPr/>
        </p:nvCxnSpPr>
        <p:spPr>
          <a:xfrm xmlns:a="http://schemas.openxmlformats.org/drawingml/2006/main">
            <a:off x="9929813" y="4524375"/>
            <a:ext cx="0" cy="571500"/>
          </a:xfrm>
          <a:prstGeom xmlns:a="http://schemas.openxmlformats.org/drawingml/2006/main" prst="straightConnector1">
            <a:avLst/>
          </a:prstGeom>
          <a:ln xmlns:a="http://schemas.openxmlformats.org/drawingml/2006/main" w="19050">
            <a:solidFill>
              <a:srgbClr val="00796E"/>
            </a:solidFill>
            <a:prstDash val="solid"/>
            <a:tailEnd type="arrow" w="med" len="med"/>
          </a:ln>
        </p:spPr>
      </p:cxnSp>
      <p:cxnSp>
        <p:nvCxnSpPr>
          <p:cNvPr id="13" name="">
            <a:extLst xmlns:a="http://schemas.openxmlformats.org/drawingml/2006/main">
              <a:ext uri="{FF2B5EF4-FFF2-40B4-BE49-F238E27FC236}">
                <a16:creationId xmlns:a16="http://schemas.microsoft.com/office/drawing/2014/main" id="{F4CE715A-B603-417B-80A9-8683D708AE99}"/>
              </a:ext>
            </a:extLst>
          </p:cNvPr>
          <p:cNvCxnSpPr>
            <a:stCxn xmlns:a="http://schemas.openxmlformats.org/drawingml/2006/main" id="7" idx="3"/>
            <a:endCxn xmlns:a="http://schemas.openxmlformats.org/drawingml/2006/main" id="8" idx="1"/>
          </p:cNvCxnSpPr>
          <p:nvPr/>
        </p:nvCxnSpPr>
        <p:spPr>
          <a:xfrm xmlns:a="http://schemas.openxmlformats.org/drawingml/2006/main">
            <a:off x="7677150" y="4143375"/>
            <a:ext cx="704850" cy="0"/>
          </a:xfrm>
          <a:prstGeom xmlns:a="http://schemas.openxmlformats.org/drawingml/2006/main" prst="straightConnector1">
            <a:avLst/>
          </a:prstGeom>
          <a:ln xmlns:a="http://schemas.openxmlformats.org/drawingml/2006/main" w="19050">
            <a:solidFill>
              <a:srgbClr val="00796E"/>
            </a:solidFill>
            <a:prstDash val="solid"/>
            <a:tailEnd type="arrow" w="med" len="med"/>
          </a:ln>
        </p:spPr>
      </p:cxnSp>
      <p:cxnSp>
        <p:nvCxnSpPr>
          <p:cNvPr id="12" name="">
            <a:extLst xmlns:a="http://schemas.openxmlformats.org/drawingml/2006/main">
              <a:ext uri="{FF2B5EF4-FFF2-40B4-BE49-F238E27FC236}">
                <a16:creationId xmlns:a16="http://schemas.microsoft.com/office/drawing/2014/main" id="{71DCEC85-197B-4497-BDFE-16C3318B18E6}"/>
              </a:ext>
            </a:extLst>
          </p:cNvPr>
          <p:cNvCxnSpPr>
            <a:stCxn xmlns:a="http://schemas.openxmlformats.org/drawingml/2006/main" id="6" idx="3"/>
            <a:endCxn xmlns:a="http://schemas.openxmlformats.org/drawingml/2006/main" id="7" idx="1"/>
          </p:cNvCxnSpPr>
          <p:nvPr/>
        </p:nvCxnSpPr>
        <p:spPr>
          <a:xfrm xmlns:a="http://schemas.openxmlformats.org/drawingml/2006/main">
            <a:off x="3657600" y="4143375"/>
            <a:ext cx="685800" cy="0"/>
          </a:xfrm>
          <a:prstGeom xmlns:a="http://schemas.openxmlformats.org/drawingml/2006/main" prst="straightConnector1">
            <a:avLst/>
          </a:prstGeom>
          <a:ln xmlns:a="http://schemas.openxmlformats.org/drawingml/2006/main" w="19050">
            <a:solidFill>
              <a:srgbClr val="00796E"/>
            </a:solidFill>
            <a:prstDash val="solid"/>
            <a:tailEnd type="arrow" w="med" len="med"/>
          </a:ln>
        </p:spPr>
      </p:cxnSp>
      <p:cxnSp>
        <p:nvCxnSpPr>
          <p:cNvPr id="11" name="">
            <a:extLst xmlns:a="http://schemas.openxmlformats.org/drawingml/2006/main">
              <a:ext uri="{FF2B5EF4-FFF2-40B4-BE49-F238E27FC236}">
                <a16:creationId xmlns:a16="http://schemas.microsoft.com/office/drawing/2014/main" id="{08CC8951-B047-4AF5-AD88-1CFAC3E9FBD3}"/>
              </a:ext>
            </a:extLst>
          </p:cNvPr>
          <p:cNvCxnSpPr>
            <a:stCxn xmlns:a="http://schemas.openxmlformats.org/drawingml/2006/main" id="5" idx="2"/>
            <a:endCxn xmlns:a="http://schemas.openxmlformats.org/drawingml/2006/main" id="6" idx="0"/>
          </p:cNvCxnSpPr>
          <p:nvPr/>
        </p:nvCxnSpPr>
        <p:spPr>
          <a:xfrm xmlns:a="http://schemas.openxmlformats.org/drawingml/2006/main" flipH="1">
            <a:off x="2181225" y="3190875"/>
            <a:ext cx="3829050" cy="571500"/>
          </a:xfrm>
          <a:prstGeom xmlns:a="http://schemas.openxmlformats.org/drawingml/2006/main" prst="bentConnector4">
            <a:avLst>
              <a:gd name="adj1" fmla="val 0"/>
              <a:gd name="adj2" fmla="val 50000"/>
            </a:avLst>
          </a:prstGeom>
          <a:ln xmlns:a="http://schemas.openxmlformats.org/drawingml/2006/main" w="19050">
            <a:solidFill>
              <a:srgbClr val="00796E"/>
            </a:solidFill>
            <a:prstDash val="solid"/>
            <a:tailEnd type="arrow" w="med" len="med"/>
          </a:ln>
        </p:spPr>
      </p:cxnSp>
      <p:cxnSp>
        <p:nvCxnSpPr>
          <p:cNvPr id="10" name="">
            <a:extLst xmlns:a="http://schemas.openxmlformats.org/drawingml/2006/main">
              <a:ext uri="{FF2B5EF4-FFF2-40B4-BE49-F238E27FC236}">
                <a16:creationId xmlns:a16="http://schemas.microsoft.com/office/drawing/2014/main" id="{A2212576-80ED-4BBD-92A1-E1ACD1119D69}"/>
              </a:ext>
            </a:extLst>
          </p:cNvPr>
          <p:cNvCxnSpPr>
            <a:stCxn xmlns:a="http://schemas.openxmlformats.org/drawingml/2006/main" id="4" idx="2"/>
            <a:endCxn xmlns:a="http://schemas.openxmlformats.org/drawingml/2006/main" id="6" idx="0"/>
          </p:cNvCxnSpPr>
          <p:nvPr/>
        </p:nvCxnSpPr>
        <p:spPr>
          <a:xfrm xmlns:a="http://schemas.openxmlformats.org/drawingml/2006/main">
            <a:off x="2181225" y="3190875"/>
            <a:ext cx="0" cy="571500"/>
          </a:xfrm>
          <a:prstGeom xmlns:a="http://schemas.openxmlformats.org/drawingml/2006/main" prst="straightConnector1">
            <a:avLst/>
          </a:prstGeom>
          <a:ln xmlns:a="http://schemas.openxmlformats.org/drawingml/2006/main" w="19050">
            <a:solidFill>
              <a:srgbClr val="00796E"/>
            </a:solidFill>
            <a:prstDash val="solid"/>
            <a:tailEnd type="arrow" w="med" len="med"/>
          </a:ln>
        </p:spPr>
      </p:cxnSp>
      <p:sp>
        <p:nvSpPr>
          <p:cNvPr id="16" name="text-0">
            <a:extLst xmlns:a="http://schemas.openxmlformats.org/drawingml/2006/main">
              <a:ext uri="{FF2B5EF4-FFF2-40B4-BE49-F238E27FC236}">
                <a16:creationId xmlns:a16="http://schemas.microsoft.com/office/drawing/2014/main" id="{E12DA722-C018-414D-A3F3-6A4CBBEE3547}"/>
              </a:ext>
            </a:extLst>
          </p:cNvPr>
          <p:cNvSpPr>
            <a:spLocks xmlns:a="http://schemas.openxmlformats.org/drawingml/2006/main" noGrp="1"/>
          </p:cNvSpPr>
          <p:nvPr/>
        </p:nvSpPr>
        <p:spPr>
          <a:xfrm xmlns:a="http://schemas.openxmlformats.org/drawingml/2006/main">
            <a:off x="685800" y="581025"/>
            <a:ext cx="108204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600" b="1">
                <a:solidFill>
                  <a:srgbClr val="112D32"/>
                </a:solidFill>
                <a:latin typeface="DejaVu Sans"/>
                <a:ea typeface="DejaVu Sans"/>
                <a:cs typeface="DejaVu Sans"/>
              </a:defRPr>
            </a:defPPr>
          </a:lstStyle>
          <a:p xmlns:a="http://schemas.openxmlformats.org/drawingml/2006/main">
            <a:pPr>
              <a:defRPr sz="3600" b="1">
                <a:solidFill>
                  <a:srgbClr val="112D32"/>
                </a:solidFill>
                <a:latin typeface="DejaVu Sans"/>
                <a:ea typeface="DejaVu Sans"/>
                <a:cs typeface="DejaVu Sans"/>
              </a:defRPr>
            </a:pPr>
            <a:r>
              <a:rPr sz="3600" b="1">
                <a:solidFill>
                  <a:srgbClr val="112D32"/>
                </a:solidFill>
                <a:latin typeface="DejaVu Sans"/>
                <a:ea typeface="DejaVu Sans"/>
                <a:cs typeface="DejaVu Sans"/>
              </a:rPr>
              <a:t>Appendix · System architecture</a:t>
            </a:r>
          </a:p>
        </p:txBody>
      </p:sp>
      <p:sp>
        <p:nvSpPr>
          <p:cNvPr id="2" name="text-1">
            <a:extLst xmlns:a="http://schemas.openxmlformats.org/drawingml/2006/main">
              <a:ext uri="{FF2B5EF4-FFF2-40B4-BE49-F238E27FC236}">
                <a16:creationId xmlns:a16="http://schemas.microsoft.com/office/drawing/2014/main" id="{3B4B7599-B79E-4418-A983-F5E2DD874E56}"/>
              </a:ext>
            </a:extLst>
          </p:cNvPr>
          <p:cNvSpPr>
            <a:spLocks xmlns:a="http://schemas.openxmlformats.org/drawingml/2006/main" noGrp="1"/>
          </p:cNvSpPr>
          <p:nvPr/>
        </p:nvSpPr>
        <p:spPr>
          <a:xfrm xmlns:a="http://schemas.openxmlformats.org/drawingml/2006/main">
            <a:off x="704850" y="1619250"/>
            <a:ext cx="10668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5C6D6B"/>
                </a:solidFill>
                <a:latin typeface="DejaVu Sans"/>
                <a:ea typeface="DejaVu Sans"/>
                <a:cs typeface="DejaVu Sans"/>
              </a:defRPr>
            </a:defPPr>
          </a:lstStyle>
          <a:p xmlns:a="http://schemas.openxmlformats.org/drawingml/2006/main">
            <a:pPr>
              <a:defRPr sz="1725" b="0">
                <a:solidFill>
                  <a:srgbClr val="5C6D6B"/>
                </a:solidFill>
                <a:latin typeface="DejaVu Sans"/>
                <a:ea typeface="DejaVu Sans"/>
                <a:cs typeface="DejaVu Sans"/>
              </a:defRPr>
            </a:pPr>
            <a:r>
              <a:rPr sz="1725" b="0">
                <a:solidFill>
                  <a:srgbClr val="5C6D6B"/>
                </a:solidFill>
                <a:latin typeface="DejaVu Sans"/>
                <a:ea typeface="DejaVu Sans"/>
                <a:cs typeface="DejaVu Sans"/>
              </a:rPr>
              <a:t>A modular application with a durable worker</a:t>
            </a:r>
          </a:p>
        </p:txBody>
      </p:sp>
      <p:sp>
        <p:nvSpPr>
          <p:cNvPr id="3" name="text-2">
            <a:extLst xmlns:a="http://schemas.openxmlformats.org/drawingml/2006/main">
              <a:ext uri="{FF2B5EF4-FFF2-40B4-BE49-F238E27FC236}">
                <a16:creationId xmlns:a16="http://schemas.microsoft.com/office/drawing/2014/main" id="{0FB94582-1856-4790-9CEB-C29B3B5F574B}"/>
              </a:ext>
            </a:extLst>
          </p:cNvPr>
          <p:cNvSpPr>
            <a:spLocks xmlns:a="http://schemas.openxmlformats.org/drawingml/2006/main" noGrp="1"/>
          </p:cNvSpPr>
          <p:nvPr/>
        </p:nvSpPr>
        <p:spPr>
          <a:xfrm xmlns:a="http://schemas.openxmlformats.org/drawingml/2006/main">
            <a:off x="10953750" y="6334125"/>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5C6D6B"/>
                </a:solidFill>
                <a:latin typeface="DejaVu Sans"/>
                <a:ea typeface="DejaVu Sans"/>
                <a:cs typeface="DejaVu Sans"/>
              </a:defRPr>
            </a:defPPr>
          </a:lstStyle>
          <a:p xmlns:a="http://schemas.openxmlformats.org/drawingml/2006/main">
            <a:pPr>
              <a:defRPr sz="1275" b="0">
                <a:solidFill>
                  <a:srgbClr val="5C6D6B"/>
                </a:solidFill>
                <a:latin typeface="DejaVu Sans"/>
                <a:ea typeface="DejaVu Sans"/>
                <a:cs typeface="DejaVu Sans"/>
              </a:defRPr>
            </a:pPr>
            <a:r>
              <a:rPr sz="1275" b="0">
                <a:solidFill>
                  <a:srgbClr val="5C6D6B"/>
                </a:solidFill>
                <a:latin typeface="DejaVu Sans"/>
                <a:ea typeface="DejaVu Sans"/>
                <a:cs typeface="DejaVu Sans"/>
              </a:rPr>
              <a:t>19</a:t>
            </a:r>
          </a:p>
        </p:txBody>
      </p:sp>
      <p:sp>
        <p:nvSpPr>
          <p:cNvPr id="4" name="">
            <a:extLst xmlns:a="http://schemas.openxmlformats.org/drawingml/2006/main">
              <a:ext uri="{FF2B5EF4-FFF2-40B4-BE49-F238E27FC236}">
                <a16:creationId xmlns:a16="http://schemas.microsoft.com/office/drawing/2014/main" id="{DDE737E0-981E-448C-876A-66F275C6BB73}"/>
              </a:ext>
            </a:extLst>
          </p:cNvPr>
          <p:cNvSpPr>
            <a:spLocks xmlns:a="http://schemas.openxmlformats.org/drawingml/2006/main" noGrp="1"/>
          </p:cNvSpPr>
          <p:nvPr/>
        </p:nvSpPr>
        <p:spPr>
          <a:xfrm xmlns:a="http://schemas.openxmlformats.org/drawingml/2006/main">
            <a:off x="704850" y="2428875"/>
            <a:ext cx="2952750" cy="762000"/>
          </a:xfrm>
          <a:prstGeom xmlns:a="http://schemas.openxmlformats.org/drawingml/2006/main" prst="rect">
            <a:avLst/>
          </a:prstGeom>
          <a:solidFill xmlns:a="http://schemas.openxmlformats.org/drawingml/2006/main">
            <a:srgbClr val="FFFFFF"/>
          </a:solidFill>
          <a:ln xmlns:a="http://schemas.openxmlformats.org/drawingml/2006/main" w="19050">
            <a:solidFill>
              <a:srgbClr val="00796E"/>
            </a:solidFill>
            <a:prstDash val="solid"/>
          </a:ln>
        </p:spPr>
        <p:txBody>
          <a:bodyPr xmlns:a="http://schemas.openxmlformats.org/drawingml/2006/main" lIns="76200" tIns="76200" rIns="76200" bIns="76200" anchor="ctr"/>
          <a:lstStyle xmlns:a="http://schemas.openxmlformats.org/drawingml/2006/main">
            <a:defPPr algn="ctr">
              <a:defRPr sz="1800">
                <a:solidFill>
                  <a:srgbClr val="112D32"/>
                </a:solidFill>
                <a:latin typeface="DejaVu Sans"/>
                <a:ea typeface="DejaVu Sans"/>
                <a:cs typeface="DejaVu Sans"/>
              </a:defRPr>
            </a:defPPr>
          </a:lstStyle>
          <a:p xmlns:a="http://schemas.openxmlformats.org/drawingml/2006/main">
            <a:pPr algn="ctr">
              <a:defRPr sz="1800">
                <a:solidFill>
                  <a:srgbClr val="112D32"/>
                </a:solidFill>
                <a:latin typeface="DejaVu Sans"/>
                <a:ea typeface="DejaVu Sans"/>
                <a:cs typeface="DejaVu Sans"/>
              </a:defRPr>
            </a:pPr>
            <a:r>
              <a:rPr sz="1800">
                <a:solidFill>
                  <a:srgbClr val="112D32"/>
                </a:solidFill>
                <a:latin typeface="DejaVu Sans"/>
                <a:ea typeface="DejaVu Sans"/>
                <a:cs typeface="DejaVu Sans"/>
              </a:rPr>
              <a:t>Scanner web</a:t>
            </a:r>
          </a:p>
        </p:txBody>
      </p:sp>
      <p:sp>
        <p:nvSpPr>
          <p:cNvPr id="5" name="">
            <a:extLst xmlns:a="http://schemas.openxmlformats.org/drawingml/2006/main">
              <a:ext uri="{FF2B5EF4-FFF2-40B4-BE49-F238E27FC236}">
                <a16:creationId xmlns:a16="http://schemas.microsoft.com/office/drawing/2014/main" id="{358C1EB5-2BC3-4B80-8C1F-568625E5EFBC}"/>
              </a:ext>
            </a:extLst>
          </p:cNvPr>
          <p:cNvSpPr>
            <a:spLocks xmlns:a="http://schemas.openxmlformats.org/drawingml/2006/main" noGrp="1"/>
          </p:cNvSpPr>
          <p:nvPr/>
        </p:nvSpPr>
        <p:spPr>
          <a:xfrm xmlns:a="http://schemas.openxmlformats.org/drawingml/2006/main">
            <a:off x="4343400" y="2428875"/>
            <a:ext cx="3333750" cy="762000"/>
          </a:xfrm>
          <a:prstGeom xmlns:a="http://schemas.openxmlformats.org/drawingml/2006/main" prst="rect">
            <a:avLst/>
          </a:prstGeom>
          <a:solidFill xmlns:a="http://schemas.openxmlformats.org/drawingml/2006/main">
            <a:srgbClr val="FFFFFF"/>
          </a:solidFill>
          <a:ln xmlns:a="http://schemas.openxmlformats.org/drawingml/2006/main" w="19050">
            <a:solidFill>
              <a:srgbClr val="00796E"/>
            </a:solidFill>
            <a:prstDash val="solid"/>
          </a:ln>
        </p:spPr>
        <p:txBody>
          <a:bodyPr xmlns:a="http://schemas.openxmlformats.org/drawingml/2006/main" lIns="76200" tIns="76200" rIns="76200" bIns="76200" anchor="ctr"/>
          <a:lstStyle xmlns:a="http://schemas.openxmlformats.org/drawingml/2006/main">
            <a:defPPr algn="ctr">
              <a:defRPr sz="1800">
                <a:solidFill>
                  <a:srgbClr val="112D32"/>
                </a:solidFill>
                <a:latin typeface="DejaVu Sans"/>
                <a:ea typeface="DejaVu Sans"/>
                <a:cs typeface="DejaVu Sans"/>
              </a:defRPr>
            </a:defPPr>
          </a:lstStyle>
          <a:p xmlns:a="http://schemas.openxmlformats.org/drawingml/2006/main">
            <a:pPr algn="ctr">
              <a:defRPr sz="1800">
                <a:solidFill>
                  <a:srgbClr val="112D32"/>
                </a:solidFill>
                <a:latin typeface="DejaVu Sans"/>
                <a:ea typeface="DejaVu Sans"/>
                <a:cs typeface="DejaVu Sans"/>
              </a:defRPr>
            </a:pPr>
            <a:r>
              <a:rPr sz="1800">
                <a:solidFill>
                  <a:srgbClr val="112D32"/>
                </a:solidFill>
                <a:latin typeface="DejaVu Sans"/>
                <a:ea typeface="DejaVu Sans"/>
                <a:cs typeface="DejaVu Sans"/>
              </a:rPr>
              <a:t>Owner / staff portals</a:t>
            </a:r>
          </a:p>
        </p:txBody>
      </p:sp>
      <p:sp>
        <p:nvSpPr>
          <p:cNvPr id="6" name="">
            <a:extLst xmlns:a="http://schemas.openxmlformats.org/drawingml/2006/main">
              <a:ext uri="{FF2B5EF4-FFF2-40B4-BE49-F238E27FC236}">
                <a16:creationId xmlns:a16="http://schemas.microsoft.com/office/drawing/2014/main" id="{3E7D5EC4-273F-4D90-BB85-5DECEC630F96}"/>
              </a:ext>
            </a:extLst>
          </p:cNvPr>
          <p:cNvSpPr>
            <a:spLocks xmlns:a="http://schemas.openxmlformats.org/drawingml/2006/main" noGrp="1"/>
          </p:cNvSpPr>
          <p:nvPr/>
        </p:nvSpPr>
        <p:spPr>
          <a:xfrm xmlns:a="http://schemas.openxmlformats.org/drawingml/2006/main">
            <a:off x="704850" y="3762375"/>
            <a:ext cx="2952750" cy="762000"/>
          </a:xfrm>
          <a:prstGeom xmlns:a="http://schemas.openxmlformats.org/drawingml/2006/main" prst="rect">
            <a:avLst/>
          </a:prstGeom>
          <a:solidFill xmlns:a="http://schemas.openxmlformats.org/drawingml/2006/main">
            <a:srgbClr val="FFFFFF"/>
          </a:solidFill>
          <a:ln xmlns:a="http://schemas.openxmlformats.org/drawingml/2006/main" w="19050">
            <a:solidFill>
              <a:srgbClr val="00796E"/>
            </a:solidFill>
            <a:prstDash val="solid"/>
          </a:ln>
        </p:spPr>
        <p:txBody>
          <a:bodyPr xmlns:a="http://schemas.openxmlformats.org/drawingml/2006/main" lIns="76200" tIns="76200" rIns="76200" bIns="76200" anchor="ctr"/>
          <a:lstStyle xmlns:a="http://schemas.openxmlformats.org/drawingml/2006/main">
            <a:defPPr algn="ctr">
              <a:defRPr sz="1800">
                <a:solidFill>
                  <a:srgbClr val="112D32"/>
                </a:solidFill>
                <a:latin typeface="DejaVu Sans"/>
                <a:ea typeface="DejaVu Sans"/>
                <a:cs typeface="DejaVu Sans"/>
              </a:defRPr>
            </a:defPPr>
          </a:lstStyle>
          <a:p xmlns:a="http://schemas.openxmlformats.org/drawingml/2006/main">
            <a:pPr algn="ctr">
              <a:defRPr sz="1800">
                <a:solidFill>
                  <a:srgbClr val="112D32"/>
                </a:solidFill>
                <a:latin typeface="DejaVu Sans"/>
                <a:ea typeface="DejaVu Sans"/>
                <a:cs typeface="DejaVu Sans"/>
              </a:defRPr>
            </a:pPr>
            <a:r>
              <a:rPr sz="1800">
                <a:solidFill>
                  <a:srgbClr val="112D32"/>
                </a:solidFill>
                <a:latin typeface="DejaVu Sans"/>
                <a:ea typeface="DejaVu Sans"/>
                <a:cs typeface="DejaVu Sans"/>
              </a:rPr>
              <a:t>API + domain</a:t>
            </a:r>
          </a:p>
        </p:txBody>
      </p:sp>
      <p:sp>
        <p:nvSpPr>
          <p:cNvPr id="7" name="">
            <a:extLst xmlns:a="http://schemas.openxmlformats.org/drawingml/2006/main">
              <a:ext uri="{FF2B5EF4-FFF2-40B4-BE49-F238E27FC236}">
                <a16:creationId xmlns:a16="http://schemas.microsoft.com/office/drawing/2014/main" id="{FAE3F56F-E3D0-4317-B8B0-084C118295F2}"/>
              </a:ext>
            </a:extLst>
          </p:cNvPr>
          <p:cNvSpPr>
            <a:spLocks xmlns:a="http://schemas.openxmlformats.org/drawingml/2006/main" noGrp="1"/>
          </p:cNvSpPr>
          <p:nvPr/>
        </p:nvSpPr>
        <p:spPr>
          <a:xfrm xmlns:a="http://schemas.openxmlformats.org/drawingml/2006/main">
            <a:off x="4343400" y="3762375"/>
            <a:ext cx="3333750" cy="762000"/>
          </a:xfrm>
          <a:prstGeom xmlns:a="http://schemas.openxmlformats.org/drawingml/2006/main" prst="rect">
            <a:avLst/>
          </a:prstGeom>
          <a:solidFill xmlns:a="http://schemas.openxmlformats.org/drawingml/2006/main">
            <a:srgbClr val="FFFFFF"/>
          </a:solidFill>
          <a:ln xmlns:a="http://schemas.openxmlformats.org/drawingml/2006/main" w="19050">
            <a:solidFill>
              <a:srgbClr val="00796E"/>
            </a:solidFill>
            <a:prstDash val="solid"/>
          </a:ln>
        </p:spPr>
        <p:txBody>
          <a:bodyPr xmlns:a="http://schemas.openxmlformats.org/drawingml/2006/main" lIns="76200" tIns="76200" rIns="76200" bIns="76200" anchor="ctr"/>
          <a:lstStyle xmlns:a="http://schemas.openxmlformats.org/drawingml/2006/main">
            <a:defPPr algn="ctr">
              <a:defRPr sz="1800">
                <a:solidFill>
                  <a:srgbClr val="112D32"/>
                </a:solidFill>
                <a:latin typeface="DejaVu Sans"/>
                <a:ea typeface="DejaVu Sans"/>
                <a:cs typeface="DejaVu Sans"/>
              </a:defRPr>
            </a:defPPr>
          </a:lstStyle>
          <a:p xmlns:a="http://schemas.openxmlformats.org/drawingml/2006/main">
            <a:pPr algn="ctr">
              <a:defRPr sz="1800">
                <a:solidFill>
                  <a:srgbClr val="112D32"/>
                </a:solidFill>
                <a:latin typeface="DejaVu Sans"/>
                <a:ea typeface="DejaVu Sans"/>
                <a:cs typeface="DejaVu Sans"/>
              </a:defRPr>
            </a:pPr>
            <a:r>
              <a:rPr sz="1800">
                <a:solidFill>
                  <a:srgbClr val="112D32"/>
                </a:solidFill>
                <a:latin typeface="DejaVu Sans"/>
                <a:ea typeface="DejaVu Sans"/>
                <a:cs typeface="DejaVu Sans"/>
              </a:rPr>
              <a:t>PostgreSQL + outbox</a:t>
            </a:r>
          </a:p>
        </p:txBody>
      </p:sp>
      <p:sp>
        <p:nvSpPr>
          <p:cNvPr id="8" name="">
            <a:extLst xmlns:a="http://schemas.openxmlformats.org/drawingml/2006/main">
              <a:ext uri="{FF2B5EF4-FFF2-40B4-BE49-F238E27FC236}">
                <a16:creationId xmlns:a16="http://schemas.microsoft.com/office/drawing/2014/main" id="{C151721F-F4EE-4C56-8976-F0E91404E12F}"/>
              </a:ext>
            </a:extLst>
          </p:cNvPr>
          <p:cNvSpPr>
            <a:spLocks xmlns:a="http://schemas.openxmlformats.org/drawingml/2006/main" noGrp="1"/>
          </p:cNvSpPr>
          <p:nvPr/>
        </p:nvSpPr>
        <p:spPr>
          <a:xfrm xmlns:a="http://schemas.openxmlformats.org/drawingml/2006/main">
            <a:off x="8382000" y="3762375"/>
            <a:ext cx="3095625" cy="762000"/>
          </a:xfrm>
          <a:prstGeom xmlns:a="http://schemas.openxmlformats.org/drawingml/2006/main" prst="rect">
            <a:avLst/>
          </a:prstGeom>
          <a:solidFill xmlns:a="http://schemas.openxmlformats.org/drawingml/2006/main">
            <a:srgbClr val="FFFFFF"/>
          </a:solidFill>
          <a:ln xmlns:a="http://schemas.openxmlformats.org/drawingml/2006/main" w="19050">
            <a:solidFill>
              <a:srgbClr val="00796E"/>
            </a:solidFill>
            <a:prstDash val="solid"/>
          </a:ln>
        </p:spPr>
        <p:txBody>
          <a:bodyPr xmlns:a="http://schemas.openxmlformats.org/drawingml/2006/main" lIns="76200" tIns="76200" rIns="76200" bIns="76200" anchor="ctr"/>
          <a:lstStyle xmlns:a="http://schemas.openxmlformats.org/drawingml/2006/main">
            <a:defPPr algn="ctr">
              <a:defRPr sz="1800">
                <a:solidFill>
                  <a:srgbClr val="112D32"/>
                </a:solidFill>
                <a:latin typeface="DejaVu Sans"/>
                <a:ea typeface="DejaVu Sans"/>
                <a:cs typeface="DejaVu Sans"/>
              </a:defRPr>
            </a:defPPr>
          </a:lstStyle>
          <a:p xmlns:a="http://schemas.openxmlformats.org/drawingml/2006/main">
            <a:pPr algn="ctr">
              <a:defRPr sz="1800">
                <a:solidFill>
                  <a:srgbClr val="112D32"/>
                </a:solidFill>
                <a:latin typeface="DejaVu Sans"/>
                <a:ea typeface="DejaVu Sans"/>
                <a:cs typeface="DejaVu Sans"/>
              </a:defRPr>
            </a:pPr>
            <a:r>
              <a:rPr sz="1800">
                <a:solidFill>
                  <a:srgbClr val="112D32"/>
                </a:solidFill>
                <a:latin typeface="DejaVu Sans"/>
                <a:ea typeface="DejaVu Sans"/>
                <a:cs typeface="DejaVu Sans"/>
              </a:rPr>
              <a:t>Worker + adapters</a:t>
            </a:r>
          </a:p>
        </p:txBody>
      </p:sp>
      <p:sp>
        <p:nvSpPr>
          <p:cNvPr id="9" name="">
            <a:extLst xmlns:a="http://schemas.openxmlformats.org/drawingml/2006/main">
              <a:ext uri="{FF2B5EF4-FFF2-40B4-BE49-F238E27FC236}">
                <a16:creationId xmlns:a16="http://schemas.microsoft.com/office/drawing/2014/main" id="{693E9318-3A8C-4429-88DC-F5620BEBC7B1}"/>
              </a:ext>
            </a:extLst>
          </p:cNvPr>
          <p:cNvSpPr>
            <a:spLocks xmlns:a="http://schemas.openxmlformats.org/drawingml/2006/main" noGrp="1"/>
          </p:cNvSpPr>
          <p:nvPr/>
        </p:nvSpPr>
        <p:spPr>
          <a:xfrm xmlns:a="http://schemas.openxmlformats.org/drawingml/2006/main">
            <a:off x="8382000" y="5095875"/>
            <a:ext cx="3095625" cy="762000"/>
          </a:xfrm>
          <a:prstGeom xmlns:a="http://schemas.openxmlformats.org/drawingml/2006/main" prst="rect">
            <a:avLst/>
          </a:prstGeom>
          <a:solidFill xmlns:a="http://schemas.openxmlformats.org/drawingml/2006/main">
            <a:srgbClr val="FFFFFF"/>
          </a:solidFill>
          <a:ln xmlns:a="http://schemas.openxmlformats.org/drawingml/2006/main" w="19050">
            <a:solidFill>
              <a:srgbClr val="00796E"/>
            </a:solidFill>
            <a:prstDash val="solid"/>
          </a:ln>
        </p:spPr>
        <p:txBody>
          <a:bodyPr xmlns:a="http://schemas.openxmlformats.org/drawingml/2006/main" lIns="76200" tIns="76200" rIns="76200" bIns="76200" anchor="ctr"/>
          <a:lstStyle xmlns:a="http://schemas.openxmlformats.org/drawingml/2006/main">
            <a:defPPr algn="ctr">
              <a:defRPr sz="1800">
                <a:solidFill>
                  <a:srgbClr val="112D32"/>
                </a:solidFill>
                <a:latin typeface="DejaVu Sans"/>
                <a:ea typeface="DejaVu Sans"/>
                <a:cs typeface="DejaVu Sans"/>
              </a:defRPr>
            </a:defPPr>
          </a:lstStyle>
          <a:p xmlns:a="http://schemas.openxmlformats.org/drawingml/2006/main">
            <a:pPr algn="ctr">
              <a:defRPr sz="1800">
                <a:solidFill>
                  <a:srgbClr val="112D32"/>
                </a:solidFill>
                <a:latin typeface="DejaVu Sans"/>
                <a:ea typeface="DejaVu Sans"/>
                <a:cs typeface="DejaVu Sans"/>
              </a:defRPr>
            </a:pPr>
            <a:r>
              <a:rPr sz="1800">
                <a:solidFill>
                  <a:srgbClr val="112D32"/>
                </a:solidFill>
                <a:latin typeface="DejaVu Sans"/>
                <a:ea typeface="DejaVu Sans"/>
                <a:cs typeface="DejaVu Sans"/>
              </a:rPr>
              <a:t>WhatsApp / SMS / voice</a:t>
            </a:r>
          </a:p>
        </p:txBody>
      </p:sp>
      <p:sp>
        <p:nvSpPr>
          <p:cNvPr id="15" name="text-14">
            <a:extLst xmlns:a="http://schemas.openxmlformats.org/drawingml/2006/main">
              <a:ext uri="{FF2B5EF4-FFF2-40B4-BE49-F238E27FC236}">
                <a16:creationId xmlns:a16="http://schemas.microsoft.com/office/drawing/2014/main" id="{8DA0C6A3-5A31-4447-AA48-95B1FC45E21E}"/>
              </a:ext>
            </a:extLst>
          </p:cNvPr>
          <p:cNvSpPr>
            <a:spLocks xmlns:a="http://schemas.openxmlformats.org/drawingml/2006/main" noGrp="1"/>
          </p:cNvSpPr>
          <p:nvPr/>
        </p:nvSpPr>
        <p:spPr>
          <a:xfrm xmlns:a="http://schemas.openxmlformats.org/drawingml/2006/main">
            <a:off x="723900" y="5238750"/>
            <a:ext cx="66675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0">
                <a:solidFill>
                  <a:srgbClr val="5C6D6B"/>
                </a:solidFill>
                <a:latin typeface="DejaVu Sans"/>
                <a:ea typeface="DejaVu Sans"/>
                <a:cs typeface="DejaVu Sans"/>
              </a:defRPr>
            </a:defPPr>
          </a:lstStyle>
          <a:p xmlns:a="http://schemas.openxmlformats.org/drawingml/2006/main">
            <a:pPr>
              <a:defRPr sz="1800" b="0">
                <a:solidFill>
                  <a:srgbClr val="5C6D6B"/>
                </a:solidFill>
                <a:latin typeface="DejaVu Sans"/>
                <a:ea typeface="DejaVu Sans"/>
                <a:cs typeface="DejaVu Sans"/>
              </a:defRPr>
            </a:pPr>
            <a:r>
              <a:rPr sz="1800" b="0">
                <a:solidFill>
                  <a:srgbClr val="5C6D6B"/>
                </a:solidFill>
                <a:latin typeface="DejaVu Sans"/>
                <a:ea typeface="DejaVu Sans"/>
                <a:cs typeface="DejaVu Sans"/>
              </a:rPr>
              <a:t>Verified webhooks update delivery state.</a:t>
            </a:r>
          </a:p>
          <a:p xmlns:a="http://schemas.openxmlformats.org/drawingml/2006/main">
            <a:pPr>
              <a:defRPr sz="1800" b="0">
                <a:solidFill>
                  <a:srgbClr val="5C6D6B"/>
                </a:solidFill>
                <a:latin typeface="DejaVu Sans"/>
                <a:ea typeface="DejaVu Sans"/>
                <a:cs typeface="DejaVu Sans"/>
              </a:defRPr>
            </a:pPr>
            <a:r>
              <a:rPr sz="1800" b="0">
                <a:solidFill>
                  <a:srgbClr val="5C6D6B"/>
                </a:solidFill>
                <a:latin typeface="DejaVu Sans"/>
                <a:ea typeface="DejaVu Sans"/>
                <a:cs typeface="DejaVu Sans"/>
              </a:rPr>
              <a:t>Owner acknowledgement remains a separate event.</a:t>
            </a:r>
          </a:p>
        </p:txBody>
      </p:sp>
    </p:spTree>
    <p:extLst>
      <p:ext uri="{BB962C8B-B14F-4D97-AF65-F5344CB8AC3E}">
        <p14:creationId xmlns:p14="http://schemas.microsoft.com/office/powerpoint/2010/main" val="279277302"/>
      </p:ext>
    </p:extLst>
  </p:cSld>
</p:sld>
</file>

<file path=ppt/slides/slide20.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605BBA53-AA1B-4BDD-BAA3-E3D2615CF00B}"/>
              </a:ext>
            </a:extLst>
          </p:cNvPr>
          <p:cNvSpPr>
            <a:spLocks xmlns:a="http://schemas.openxmlformats.org/drawingml/2006/main" noGrp="1"/>
          </p:cNvSpPr>
          <p:nvPr/>
        </p:nvSpPr>
        <p:spPr>
          <a:xfrm xmlns:a="http://schemas.openxmlformats.org/drawingml/2006/main">
            <a:off x="685800" y="581025"/>
            <a:ext cx="108204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600" b="1">
                <a:solidFill>
                  <a:srgbClr val="112D32"/>
                </a:solidFill>
                <a:latin typeface="DejaVu Sans"/>
                <a:ea typeface="DejaVu Sans"/>
                <a:cs typeface="DejaVu Sans"/>
              </a:defRPr>
            </a:defPPr>
          </a:lstStyle>
          <a:p xmlns:a="http://schemas.openxmlformats.org/drawingml/2006/main">
            <a:pPr>
              <a:defRPr sz="3600" b="1">
                <a:solidFill>
                  <a:srgbClr val="112D32"/>
                </a:solidFill>
                <a:latin typeface="DejaVu Sans"/>
                <a:ea typeface="DejaVu Sans"/>
                <a:cs typeface="DejaVu Sans"/>
              </a:defRPr>
            </a:pPr>
            <a:r>
              <a:rPr sz="3600" b="1">
                <a:solidFill>
                  <a:srgbClr val="112D32"/>
                </a:solidFill>
                <a:latin typeface="DejaVu Sans"/>
                <a:ea typeface="DejaVu Sans"/>
                <a:cs typeface="DejaVu Sans"/>
              </a:rPr>
              <a:t>Appendix · Technology choices</a:t>
            </a:r>
          </a:p>
        </p:txBody>
      </p:sp>
      <p:sp>
        <p:nvSpPr>
          <p:cNvPr id="2" name="text-1">
            <a:extLst xmlns:a="http://schemas.openxmlformats.org/drawingml/2006/main">
              <a:ext uri="{FF2B5EF4-FFF2-40B4-BE49-F238E27FC236}">
                <a16:creationId xmlns:a16="http://schemas.microsoft.com/office/drawing/2014/main" id="{61591EE4-DE4D-4A33-B9DF-6EFD9FB6024C}"/>
              </a:ext>
            </a:extLst>
          </p:cNvPr>
          <p:cNvSpPr>
            <a:spLocks xmlns:a="http://schemas.openxmlformats.org/drawingml/2006/main" noGrp="1"/>
          </p:cNvSpPr>
          <p:nvPr/>
        </p:nvSpPr>
        <p:spPr>
          <a:xfrm xmlns:a="http://schemas.openxmlformats.org/drawingml/2006/main">
            <a:off x="704850" y="1619250"/>
            <a:ext cx="10668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5C6D6B"/>
                </a:solidFill>
                <a:latin typeface="DejaVu Sans"/>
                <a:ea typeface="DejaVu Sans"/>
                <a:cs typeface="DejaVu Sans"/>
              </a:defRPr>
            </a:defPPr>
          </a:lstStyle>
          <a:p xmlns:a="http://schemas.openxmlformats.org/drawingml/2006/main">
            <a:pPr>
              <a:defRPr sz="1725" b="0">
                <a:solidFill>
                  <a:srgbClr val="5C6D6B"/>
                </a:solidFill>
                <a:latin typeface="DejaVu Sans"/>
                <a:ea typeface="DejaVu Sans"/>
                <a:cs typeface="DejaVu Sans"/>
              </a:defRPr>
            </a:pPr>
            <a:r>
              <a:rPr sz="1725" b="0">
                <a:solidFill>
                  <a:srgbClr val="5C6D6B"/>
                </a:solidFill>
                <a:latin typeface="DejaVu Sans"/>
                <a:ea typeface="DejaVu Sans"/>
                <a:cs typeface="DejaVu Sans"/>
              </a:rPr>
              <a:t>Small footprint, explicit boundaries</a:t>
            </a:r>
          </a:p>
        </p:txBody>
      </p:sp>
      <p:sp>
        <p:nvSpPr>
          <p:cNvPr id="3" name="text-2">
            <a:extLst xmlns:a="http://schemas.openxmlformats.org/drawingml/2006/main">
              <a:ext uri="{FF2B5EF4-FFF2-40B4-BE49-F238E27FC236}">
                <a16:creationId xmlns:a16="http://schemas.microsoft.com/office/drawing/2014/main" id="{A5C8AB03-BE3E-4DD3-81BA-804C091DE69E}"/>
              </a:ext>
            </a:extLst>
          </p:cNvPr>
          <p:cNvSpPr>
            <a:spLocks xmlns:a="http://schemas.openxmlformats.org/drawingml/2006/main" noGrp="1"/>
          </p:cNvSpPr>
          <p:nvPr/>
        </p:nvSpPr>
        <p:spPr>
          <a:xfrm xmlns:a="http://schemas.openxmlformats.org/drawingml/2006/main">
            <a:off x="10953750" y="6334125"/>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5C6D6B"/>
                </a:solidFill>
                <a:latin typeface="DejaVu Sans"/>
                <a:ea typeface="DejaVu Sans"/>
                <a:cs typeface="DejaVu Sans"/>
              </a:defRPr>
            </a:defPPr>
          </a:lstStyle>
          <a:p xmlns:a="http://schemas.openxmlformats.org/drawingml/2006/main">
            <a:pPr>
              <a:defRPr sz="1275" b="0">
                <a:solidFill>
                  <a:srgbClr val="5C6D6B"/>
                </a:solidFill>
                <a:latin typeface="DejaVu Sans"/>
                <a:ea typeface="DejaVu Sans"/>
                <a:cs typeface="DejaVu Sans"/>
              </a:defRPr>
            </a:pPr>
            <a:r>
              <a:rPr sz="1275" b="0">
                <a:solidFill>
                  <a:srgbClr val="5C6D6B"/>
                </a:solidFill>
                <a:latin typeface="DejaVu Sans"/>
                <a:ea typeface="DejaVu Sans"/>
                <a:cs typeface="DejaVu Sans"/>
              </a:rPr>
              <a:t>20</a:t>
            </a:r>
          </a:p>
        </p:txBody>
      </p:sp>
      <p:graphicFrame>
        <p:nvGraphicFramePr>
          <p:cNvPr id="4" name="">
            <a:extLst xmlns:a="http://schemas.openxmlformats.org/drawingml/2006/main">
              <a:ext uri="{FF2B5EF4-FFF2-40B4-BE49-F238E27FC236}">
                <a16:creationId xmlns:a16="http://schemas.microsoft.com/office/drawing/2014/main" id="{A3805106-0C65-4B24-B829-DC97FCBE3127}"/>
              </a:ext>
            </a:extLst>
          </p:cNvPr>
          <p:cNvGraphicFramePr/>
          <p:nvPr/>
        </p:nvGraphicFramePr>
        <p:xfrm>
          <a:off xmlns:a="http://schemas.openxmlformats.org/drawingml/2006/main" x="685800" y="2362200"/>
          <a:ext xmlns:a="http://schemas.openxmlformats.org/drawingml/2006/main" cx="10820400" cy="3257550"/>
        </p:xfrm>
        <a:graphic xmlns:a="http://schemas.openxmlformats.org/drawingml/2006/main">
          <a:graphicData uri="http://schemas.openxmlformats.org/drawingml/2006/table">
            <a:tbl>
              <a:tblPr/>
              <a:tblGrid>
                <a:gridCol w="3143250"/>
                <a:gridCol w="7677150"/>
              </a:tblGrid>
              <a:tr h="542925">
                <a:tc>
                  <a:txBody>
                    <a:bodyPr lIns="114300" tIns="114300" rIns="114300" bIns="114300"/>
                    <a:lstStyle/>
                    <a:p>
                      <a:r>
                        <a:rPr sz="1800" b="1">
                          <a:solidFill>
                            <a:srgbClr val="F5F2E9"/>
                          </a:solidFill>
                          <a:latin typeface="DejaVu Sans"/>
                          <a:ea typeface="DejaVu Sans"/>
                          <a:cs typeface="DejaVu Sans"/>
                        </a:rPr>
                        <a:t>Layer</a:t>
                      </a:r>
                    </a:p>
                  </a:txBody>
                  <a:tcPr marL="91440" marR="91440" marT="45720" marB="45720">
                    <a:lnL w="9525">
                      <a:solidFill>
                        <a:srgbClr val="D4DDD5"/>
                      </a:solidFill>
                      <a:prstDash val="solid"/>
                    </a:lnL>
                    <a:lnR w="9525">
                      <a:solidFill>
                        <a:srgbClr val="D4DDD5"/>
                      </a:solidFill>
                      <a:prstDash val="solid"/>
                    </a:lnR>
                    <a:lnT w="9525">
                      <a:solidFill>
                        <a:srgbClr val="D4DDD5"/>
                      </a:solidFill>
                      <a:prstDash val="solid"/>
                    </a:lnT>
                    <a:lnB w="9525">
                      <a:solidFill>
                        <a:srgbClr val="D4DDD5"/>
                      </a:solidFill>
                      <a:prstDash val="solid"/>
                    </a:lnB>
                    <a:solidFill>
                      <a:srgbClr val="112D32"/>
                    </a:solidFill>
                  </a:tcPr>
                </a:tc>
                <a:tc>
                  <a:txBody>
                    <a:bodyPr lIns="114300" tIns="114300" rIns="114300" bIns="114300"/>
                    <a:lstStyle/>
                    <a:p>
                      <a:r>
                        <a:rPr sz="1800" b="1">
                          <a:solidFill>
                            <a:srgbClr val="F5F2E9"/>
                          </a:solidFill>
                          <a:latin typeface="DejaVu Sans"/>
                          <a:ea typeface="DejaVu Sans"/>
                          <a:cs typeface="DejaVu Sans"/>
                        </a:rPr>
                        <a:t>Proposed implementation</a:t>
                      </a:r>
                    </a:p>
                  </a:txBody>
                  <a:tcPr marL="91440" marR="91440" marT="45720" marB="45720">
                    <a:lnR w="9525">
                      <a:solidFill>
                        <a:srgbClr val="D4DDD5"/>
                      </a:solidFill>
                      <a:prstDash val="solid"/>
                    </a:lnR>
                    <a:lnT w="9525">
                      <a:solidFill>
                        <a:srgbClr val="D4DDD5"/>
                      </a:solidFill>
                      <a:prstDash val="solid"/>
                    </a:lnT>
                    <a:lnB w="9525">
                      <a:solidFill>
                        <a:srgbClr val="D4DDD5"/>
                      </a:solidFill>
                      <a:prstDash val="solid"/>
                    </a:lnB>
                    <a:solidFill>
                      <a:srgbClr val="112D32"/>
                    </a:solidFill>
                  </a:tcPr>
                </a:tc>
              </a:tr>
              <a:tr h="542925">
                <a:tc>
                  <a:txBody>
                    <a:bodyPr lIns="114300" tIns="114300" rIns="114300" bIns="114300"/>
                    <a:lstStyle/>
                    <a:p>
                      <a:r>
                        <a:rPr sz="1800" b="0">
                          <a:solidFill>
                            <a:srgbClr val="112D32"/>
                          </a:solidFill>
                          <a:latin typeface="DejaVu Sans"/>
                          <a:ea typeface="DejaVu Sans"/>
                          <a:cs typeface="DejaVu Sans"/>
                        </a:rPr>
                        <a:t>Web and API</a:t>
                      </a:r>
                    </a:p>
                  </a:txBody>
                  <a:tcPr marL="91440" marR="91440" marT="45720" marB="45720">
                    <a:lnL w="9525">
                      <a:solidFill>
                        <a:srgbClr val="D4DDD5"/>
                      </a:solidFill>
                      <a:prstDash val="solid"/>
                    </a:lnL>
                    <a:lnR w="9525">
                      <a:solidFill>
                        <a:srgbClr val="D4DDD5"/>
                      </a:solidFill>
                      <a:prstDash val="solid"/>
                    </a:lnR>
                    <a:lnB w="9525">
                      <a:solidFill>
                        <a:srgbClr val="D4DDD5"/>
                      </a:solidFill>
                      <a:prstDash val="solid"/>
                    </a:lnB>
                    <a:solidFill>
                      <a:srgbClr val="FFFFFF"/>
                    </a:solidFill>
                  </a:tcPr>
                </a:tc>
                <a:tc>
                  <a:txBody>
                    <a:bodyPr lIns="114300" tIns="114300" rIns="114300" bIns="114300"/>
                    <a:lstStyle/>
                    <a:p>
                      <a:r>
                        <a:rPr sz="1800" b="0">
                          <a:solidFill>
                            <a:srgbClr val="112D32"/>
                          </a:solidFill>
                          <a:latin typeface="DejaVu Sans"/>
                          <a:ea typeface="DejaVu Sans"/>
                          <a:cs typeface="DejaVu Sans"/>
                        </a:rPr>
                        <a:t>Next.js, TypeScript, Tailwind</a:t>
                      </a:r>
                    </a:p>
                  </a:txBody>
                  <a:tcPr marL="91440" marR="91440" marT="45720" marB="45720">
                    <a:lnR w="9525">
                      <a:solidFill>
                        <a:srgbClr val="D4DDD5"/>
                      </a:solidFill>
                      <a:prstDash val="solid"/>
                    </a:lnR>
                    <a:lnB w="9525">
                      <a:solidFill>
                        <a:srgbClr val="D4DDD5"/>
                      </a:solidFill>
                      <a:prstDash val="solid"/>
                    </a:lnB>
                    <a:solidFill>
                      <a:srgbClr val="FFFFFF"/>
                    </a:solidFill>
                  </a:tcPr>
                </a:tc>
              </a:tr>
              <a:tr h="542925">
                <a:tc>
                  <a:txBody>
                    <a:bodyPr lIns="114300" tIns="114300" rIns="114300" bIns="114300"/>
                    <a:lstStyle/>
                    <a:p>
                      <a:r>
                        <a:rPr sz="1800" b="0">
                          <a:solidFill>
                            <a:srgbClr val="112D32"/>
                          </a:solidFill>
                          <a:latin typeface="DejaVu Sans"/>
                          <a:ea typeface="DejaVu Sans"/>
                          <a:cs typeface="DejaVu Sans"/>
                        </a:rPr>
                        <a:t>Data</a:t>
                      </a:r>
                    </a:p>
                  </a:txBody>
                  <a:tcPr marL="91440" marR="91440" marT="45720" marB="45720">
                    <a:lnL w="9525">
                      <a:solidFill>
                        <a:srgbClr val="D4DDD5"/>
                      </a:solidFill>
                      <a:prstDash val="solid"/>
                    </a:lnL>
                    <a:lnR w="9525">
                      <a:solidFill>
                        <a:srgbClr val="D4DDD5"/>
                      </a:solidFill>
                      <a:prstDash val="solid"/>
                    </a:lnR>
                    <a:lnB w="9525">
                      <a:solidFill>
                        <a:srgbClr val="D4DDD5"/>
                      </a:solidFill>
                      <a:prstDash val="solid"/>
                    </a:lnB>
                    <a:solidFill>
                      <a:srgbClr val="F5F2E9"/>
                    </a:solidFill>
                  </a:tcPr>
                </a:tc>
                <a:tc>
                  <a:txBody>
                    <a:bodyPr lIns="114300" tIns="114300" rIns="114300" bIns="114300"/>
                    <a:lstStyle/>
                    <a:p>
                      <a:r>
                        <a:rPr sz="1800" b="0">
                          <a:solidFill>
                            <a:srgbClr val="112D32"/>
                          </a:solidFill>
                          <a:latin typeface="DejaVu Sans"/>
                          <a:ea typeface="DejaVu Sans"/>
                          <a:cs typeface="DejaVu Sans"/>
                        </a:rPr>
                        <a:t>PostgreSQL with Prisma migrations</a:t>
                      </a:r>
                    </a:p>
                  </a:txBody>
                  <a:tcPr marL="91440" marR="91440" marT="45720" marB="45720">
                    <a:lnR w="9525">
                      <a:solidFill>
                        <a:srgbClr val="D4DDD5"/>
                      </a:solidFill>
                      <a:prstDash val="solid"/>
                    </a:lnR>
                    <a:lnB w="9525">
                      <a:solidFill>
                        <a:srgbClr val="D4DDD5"/>
                      </a:solidFill>
                      <a:prstDash val="solid"/>
                    </a:lnB>
                    <a:solidFill>
                      <a:srgbClr val="F5F2E9"/>
                    </a:solidFill>
                  </a:tcPr>
                </a:tc>
              </a:tr>
              <a:tr h="542925">
                <a:tc>
                  <a:txBody>
                    <a:bodyPr lIns="114300" tIns="114300" rIns="114300" bIns="114300"/>
                    <a:lstStyle/>
                    <a:p>
                      <a:r>
                        <a:rPr sz="1800" b="0">
                          <a:solidFill>
                            <a:srgbClr val="112D32"/>
                          </a:solidFill>
                          <a:latin typeface="DejaVu Sans"/>
                          <a:ea typeface="DejaVu Sans"/>
                          <a:cs typeface="DejaVu Sans"/>
                        </a:rPr>
                        <a:t>Background work</a:t>
                      </a:r>
                    </a:p>
                  </a:txBody>
                  <a:tcPr marL="91440" marR="91440" marT="45720" marB="45720">
                    <a:lnL w="9525">
                      <a:solidFill>
                        <a:srgbClr val="D4DDD5"/>
                      </a:solidFill>
                      <a:prstDash val="solid"/>
                    </a:lnL>
                    <a:lnR w="9525">
                      <a:solidFill>
                        <a:srgbClr val="D4DDD5"/>
                      </a:solidFill>
                      <a:prstDash val="solid"/>
                    </a:lnR>
                    <a:lnB w="9525">
                      <a:solidFill>
                        <a:srgbClr val="D4DDD5"/>
                      </a:solidFill>
                      <a:prstDash val="solid"/>
                    </a:lnB>
                    <a:solidFill>
                      <a:srgbClr val="FFFFFF"/>
                    </a:solidFill>
                  </a:tcPr>
                </a:tc>
                <a:tc>
                  <a:txBody>
                    <a:bodyPr lIns="114300" tIns="114300" rIns="114300" bIns="114300"/>
                    <a:lstStyle/>
                    <a:p>
                      <a:r>
                        <a:rPr sz="1800" b="0">
                          <a:solidFill>
                            <a:srgbClr val="112D32"/>
                          </a:solidFill>
                          <a:latin typeface="DejaVu Sans"/>
                          <a:ea typeface="DejaVu Sans"/>
                          <a:cs typeface="DejaVu Sans"/>
                        </a:rPr>
                        <a:t>Node worker, Redis and BullMQ</a:t>
                      </a:r>
                    </a:p>
                  </a:txBody>
                  <a:tcPr marL="91440" marR="91440" marT="45720" marB="45720">
                    <a:lnR w="9525">
                      <a:solidFill>
                        <a:srgbClr val="D4DDD5"/>
                      </a:solidFill>
                      <a:prstDash val="solid"/>
                    </a:lnR>
                    <a:lnB w="9525">
                      <a:solidFill>
                        <a:srgbClr val="D4DDD5"/>
                      </a:solidFill>
                      <a:prstDash val="solid"/>
                    </a:lnB>
                    <a:solidFill>
                      <a:srgbClr val="FFFFFF"/>
                    </a:solidFill>
                  </a:tcPr>
                </a:tc>
              </a:tr>
              <a:tr h="542925">
                <a:tc>
                  <a:txBody>
                    <a:bodyPr lIns="114300" tIns="114300" rIns="114300" bIns="114300"/>
                    <a:lstStyle/>
                    <a:p>
                      <a:r>
                        <a:rPr sz="1800" b="0">
                          <a:solidFill>
                            <a:srgbClr val="112D32"/>
                          </a:solidFill>
                          <a:latin typeface="DejaVu Sans"/>
                          <a:ea typeface="DejaVu Sans"/>
                          <a:cs typeface="DejaVu Sans"/>
                        </a:rPr>
                        <a:t>Communications</a:t>
                      </a:r>
                    </a:p>
                  </a:txBody>
                  <a:tcPr marL="91440" marR="91440" marT="45720" marB="45720">
                    <a:lnL w="9525">
                      <a:solidFill>
                        <a:srgbClr val="D4DDD5"/>
                      </a:solidFill>
                      <a:prstDash val="solid"/>
                    </a:lnL>
                    <a:lnR w="9525">
                      <a:solidFill>
                        <a:srgbClr val="D4DDD5"/>
                      </a:solidFill>
                      <a:prstDash val="solid"/>
                    </a:lnR>
                    <a:lnB w="9525">
                      <a:solidFill>
                        <a:srgbClr val="D4DDD5"/>
                      </a:solidFill>
                      <a:prstDash val="solid"/>
                    </a:lnB>
                    <a:solidFill>
                      <a:srgbClr val="F5F2E9"/>
                    </a:solidFill>
                  </a:tcPr>
                </a:tc>
                <a:tc>
                  <a:txBody>
                    <a:bodyPr lIns="114300" tIns="114300" rIns="114300" bIns="114300"/>
                    <a:lstStyle/>
                    <a:p>
                      <a:r>
                        <a:rPr sz="1800" b="0">
                          <a:solidFill>
                            <a:srgbClr val="112D32"/>
                          </a:solidFill>
                          <a:latin typeface="DejaVu Sans"/>
                          <a:ea typeface="DejaVu Sans"/>
                          <a:cs typeface="DejaVu Sans"/>
                        </a:rPr>
                        <a:t>Official WhatsApp, contracted SMS, approved voice</a:t>
                      </a:r>
                    </a:p>
                  </a:txBody>
                  <a:tcPr marL="91440" marR="91440" marT="45720" marB="45720">
                    <a:lnR w="9525">
                      <a:solidFill>
                        <a:srgbClr val="D4DDD5"/>
                      </a:solidFill>
                      <a:prstDash val="solid"/>
                    </a:lnR>
                    <a:lnB w="9525">
                      <a:solidFill>
                        <a:srgbClr val="D4DDD5"/>
                      </a:solidFill>
                      <a:prstDash val="solid"/>
                    </a:lnB>
                    <a:solidFill>
                      <a:srgbClr val="F5F2E9"/>
                    </a:solidFill>
                  </a:tcPr>
                </a:tc>
              </a:tr>
              <a:tr h="542925">
                <a:tc>
                  <a:txBody>
                    <a:bodyPr lIns="114300" tIns="114300" rIns="114300" bIns="114300"/>
                    <a:lstStyle/>
                    <a:p>
                      <a:r>
                        <a:rPr sz="1800" b="0">
                          <a:solidFill>
                            <a:srgbClr val="112D32"/>
                          </a:solidFill>
                          <a:latin typeface="DejaVu Sans"/>
                          <a:ea typeface="DejaVu Sans"/>
                          <a:cs typeface="DejaVu Sans"/>
                        </a:rPr>
                        <a:t>Operations</a:t>
                      </a:r>
                    </a:p>
                  </a:txBody>
                  <a:tcPr marL="91440" marR="91440" marT="45720" marB="45720">
                    <a:lnL w="9525">
                      <a:solidFill>
                        <a:srgbClr val="D4DDD5"/>
                      </a:solidFill>
                      <a:prstDash val="solid"/>
                    </a:lnL>
                    <a:lnR w="9525">
                      <a:solidFill>
                        <a:srgbClr val="D4DDD5"/>
                      </a:solidFill>
                      <a:prstDash val="solid"/>
                    </a:lnR>
                    <a:lnB w="9525">
                      <a:solidFill>
                        <a:srgbClr val="D4DDD5"/>
                      </a:solidFill>
                      <a:prstDash val="solid"/>
                    </a:lnB>
                    <a:solidFill>
                      <a:srgbClr val="FFFFFF"/>
                    </a:solidFill>
                  </a:tcPr>
                </a:tc>
                <a:tc>
                  <a:txBody>
                    <a:bodyPr lIns="114300" tIns="114300" rIns="114300" bIns="114300"/>
                    <a:lstStyle/>
                    <a:p>
                      <a:r>
                        <a:rPr sz="1800" b="0">
                          <a:solidFill>
                            <a:srgbClr val="112D32"/>
                          </a:solidFill>
                          <a:latin typeface="DejaVu Sans"/>
                          <a:ea typeface="DejaVu Sans"/>
                          <a:cs typeface="DejaVu Sans"/>
                        </a:rPr>
                        <a:t>Containers, CI, secrets, backups and monitoring</a:t>
                      </a:r>
                    </a:p>
                  </a:txBody>
                  <a:tcPr marL="91440" marR="91440" marT="45720" marB="45720">
                    <a:lnR w="9525">
                      <a:solidFill>
                        <a:srgbClr val="D4DDD5"/>
                      </a:solidFill>
                      <a:prstDash val="solid"/>
                    </a:lnR>
                    <a:lnB w="9525">
                      <a:solidFill>
                        <a:srgbClr val="D4DDD5"/>
                      </a:solidFill>
                      <a:prstDash val="solid"/>
                    </a:lnB>
                    <a:solidFill>
                      <a:srgbClr val="FFFFFF"/>
                    </a:solidFill>
                  </a:tcPr>
                </a:tc>
              </a:tr>
            </a:tbl>
          </a:graphicData>
        </a:graphic>
      </p:graphicFrame>
    </p:spTree>
    <p:extLst>
      <p:ext uri="{BB962C8B-B14F-4D97-AF65-F5344CB8AC3E}">
        <p14:creationId xmlns:p14="http://schemas.microsoft.com/office/powerpoint/2010/main" val="2053295654"/>
      </p:ext>
    </p:extLst>
  </p:cSld>
</p:sld>
</file>

<file path=ppt/slides/slide21.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F1EFA010-E376-4D6E-861F-07B6AD6429DD}"/>
              </a:ext>
            </a:extLst>
          </p:cNvPr>
          <p:cNvSpPr>
            <a:spLocks xmlns:a="http://schemas.openxmlformats.org/drawingml/2006/main" noGrp="1"/>
          </p:cNvSpPr>
          <p:nvPr/>
        </p:nvSpPr>
        <p:spPr>
          <a:xfrm xmlns:a="http://schemas.openxmlformats.org/drawingml/2006/main">
            <a:off x="685800" y="581025"/>
            <a:ext cx="108204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600" b="1">
                <a:solidFill>
                  <a:srgbClr val="112D32"/>
                </a:solidFill>
                <a:latin typeface="DejaVu Sans"/>
                <a:ea typeface="DejaVu Sans"/>
                <a:cs typeface="DejaVu Sans"/>
              </a:defRPr>
            </a:defPPr>
          </a:lstStyle>
          <a:p xmlns:a="http://schemas.openxmlformats.org/drawingml/2006/main">
            <a:pPr>
              <a:defRPr sz="3600" b="1">
                <a:solidFill>
                  <a:srgbClr val="112D32"/>
                </a:solidFill>
                <a:latin typeface="DejaVu Sans"/>
                <a:ea typeface="DejaVu Sans"/>
                <a:cs typeface="DejaVu Sans"/>
              </a:defRPr>
            </a:pPr>
            <a:r>
              <a:rPr sz="3600" b="1">
                <a:solidFill>
                  <a:srgbClr val="112D32"/>
                </a:solidFill>
                <a:latin typeface="DejaVu Sans"/>
                <a:ea typeface="DejaVu Sans"/>
                <a:cs typeface="DejaVu Sans"/>
              </a:rPr>
              <a:t>Appendix · Connectivity boundaries</a:t>
            </a:r>
          </a:p>
        </p:txBody>
      </p:sp>
      <p:sp>
        <p:nvSpPr>
          <p:cNvPr id="2" name="text-1">
            <a:extLst xmlns:a="http://schemas.openxmlformats.org/drawingml/2006/main">
              <a:ext uri="{FF2B5EF4-FFF2-40B4-BE49-F238E27FC236}">
                <a16:creationId xmlns:a16="http://schemas.microsoft.com/office/drawing/2014/main" id="{D70074FC-F4B8-482F-B4B7-41A6F7206153}"/>
              </a:ext>
            </a:extLst>
          </p:cNvPr>
          <p:cNvSpPr>
            <a:spLocks xmlns:a="http://schemas.openxmlformats.org/drawingml/2006/main" noGrp="1"/>
          </p:cNvSpPr>
          <p:nvPr/>
        </p:nvSpPr>
        <p:spPr>
          <a:xfrm xmlns:a="http://schemas.openxmlformats.org/drawingml/2006/main">
            <a:off x="704850" y="1619250"/>
            <a:ext cx="10668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5C6D6B"/>
                </a:solidFill>
                <a:latin typeface="DejaVu Sans"/>
                <a:ea typeface="DejaVu Sans"/>
                <a:cs typeface="DejaVu Sans"/>
              </a:defRPr>
            </a:defPPr>
          </a:lstStyle>
          <a:p xmlns:a="http://schemas.openxmlformats.org/drawingml/2006/main">
            <a:pPr>
              <a:defRPr sz="1725" b="0">
                <a:solidFill>
                  <a:srgbClr val="5C6D6B"/>
                </a:solidFill>
                <a:latin typeface="DejaVu Sans"/>
                <a:ea typeface="DejaVu Sans"/>
                <a:cs typeface="DejaVu Sans"/>
              </a:defRPr>
            </a:pPr>
            <a:r>
              <a:rPr sz="1725" b="0">
                <a:solidFill>
                  <a:srgbClr val="5C6D6B"/>
                </a:solidFill>
                <a:latin typeface="DejaVu Sans"/>
                <a:ea typeface="DejaVu Sans"/>
                <a:cs typeface="DejaVu Sans"/>
              </a:rPr>
              <a:t>Offline does not mean the same thing for every channel.</a:t>
            </a:r>
          </a:p>
        </p:txBody>
      </p:sp>
      <p:sp>
        <p:nvSpPr>
          <p:cNvPr id="3" name="text-2">
            <a:extLst xmlns:a="http://schemas.openxmlformats.org/drawingml/2006/main">
              <a:ext uri="{FF2B5EF4-FFF2-40B4-BE49-F238E27FC236}">
                <a16:creationId xmlns:a16="http://schemas.microsoft.com/office/drawing/2014/main" id="{473DDC96-653D-4493-8986-6626832096B8}"/>
              </a:ext>
            </a:extLst>
          </p:cNvPr>
          <p:cNvSpPr>
            <a:spLocks xmlns:a="http://schemas.openxmlformats.org/drawingml/2006/main" noGrp="1"/>
          </p:cNvSpPr>
          <p:nvPr/>
        </p:nvSpPr>
        <p:spPr>
          <a:xfrm xmlns:a="http://schemas.openxmlformats.org/drawingml/2006/main">
            <a:off x="10953750" y="6334125"/>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5C6D6B"/>
                </a:solidFill>
                <a:latin typeface="DejaVu Sans"/>
                <a:ea typeface="DejaVu Sans"/>
                <a:cs typeface="DejaVu Sans"/>
              </a:defRPr>
            </a:defPPr>
          </a:lstStyle>
          <a:p xmlns:a="http://schemas.openxmlformats.org/drawingml/2006/main">
            <a:pPr>
              <a:defRPr sz="1275" b="0">
                <a:solidFill>
                  <a:srgbClr val="5C6D6B"/>
                </a:solidFill>
                <a:latin typeface="DejaVu Sans"/>
                <a:ea typeface="DejaVu Sans"/>
                <a:cs typeface="DejaVu Sans"/>
              </a:defRPr>
            </a:pPr>
            <a:r>
              <a:rPr sz="1275" b="0">
                <a:solidFill>
                  <a:srgbClr val="5C6D6B"/>
                </a:solidFill>
                <a:latin typeface="DejaVu Sans"/>
                <a:ea typeface="DejaVu Sans"/>
                <a:cs typeface="DejaVu Sans"/>
              </a:rPr>
              <a:t>21</a:t>
            </a:r>
          </a:p>
        </p:txBody>
      </p:sp>
      <p:graphicFrame>
        <p:nvGraphicFramePr>
          <p:cNvPr id="4" name="">
            <a:extLst xmlns:a="http://schemas.openxmlformats.org/drawingml/2006/main">
              <a:ext uri="{FF2B5EF4-FFF2-40B4-BE49-F238E27FC236}">
                <a16:creationId xmlns:a16="http://schemas.microsoft.com/office/drawing/2014/main" id="{7B4875B7-EF21-4C7B-8CC4-6C1EF28A4E3E}"/>
              </a:ext>
            </a:extLst>
          </p:cNvPr>
          <p:cNvGraphicFramePr/>
          <p:nvPr/>
        </p:nvGraphicFramePr>
        <p:xfrm>
          <a:off xmlns:a="http://schemas.openxmlformats.org/drawingml/2006/main" x="685800" y="2362200"/>
          <a:ext xmlns:a="http://schemas.openxmlformats.org/drawingml/2006/main" cx="10820400" cy="2857500"/>
        </p:xfrm>
        <a:graphic xmlns:a="http://schemas.openxmlformats.org/drawingml/2006/main">
          <a:graphicData uri="http://schemas.openxmlformats.org/drawingml/2006/table">
            <a:tbl>
              <a:tblPr/>
              <a:tblGrid>
                <a:gridCol w="5191125"/>
                <a:gridCol w="5629275"/>
              </a:tblGrid>
              <a:tr h="571500">
                <a:tc>
                  <a:txBody>
                    <a:bodyPr lIns="114300" tIns="114300" rIns="114300" bIns="114300"/>
                    <a:lstStyle/>
                    <a:p>
                      <a:r>
                        <a:rPr sz="1800" b="1">
                          <a:solidFill>
                            <a:srgbClr val="F5F2E9"/>
                          </a:solidFill>
                          <a:latin typeface="DejaVu Sans"/>
                          <a:ea typeface="DejaVu Sans"/>
                          <a:cs typeface="DejaVu Sans"/>
                        </a:rPr>
                        <a:t>Owner condition</a:t>
                      </a:r>
                    </a:p>
                  </a:txBody>
                  <a:tcPr marL="91440" marR="91440" marT="45720" marB="45720">
                    <a:lnL w="9525">
                      <a:solidFill>
                        <a:srgbClr val="D4DDD5"/>
                      </a:solidFill>
                      <a:prstDash val="solid"/>
                    </a:lnL>
                    <a:lnR w="9525">
                      <a:solidFill>
                        <a:srgbClr val="D4DDD5"/>
                      </a:solidFill>
                      <a:prstDash val="solid"/>
                    </a:lnR>
                    <a:lnT w="9525">
                      <a:solidFill>
                        <a:srgbClr val="D4DDD5"/>
                      </a:solidFill>
                      <a:prstDash val="solid"/>
                    </a:lnT>
                    <a:lnB w="9525">
                      <a:solidFill>
                        <a:srgbClr val="D4DDD5"/>
                      </a:solidFill>
                      <a:prstDash val="solid"/>
                    </a:lnB>
                    <a:solidFill>
                      <a:srgbClr val="112D32"/>
                    </a:solidFill>
                  </a:tcPr>
                </a:tc>
                <a:tc>
                  <a:txBody>
                    <a:bodyPr lIns="114300" tIns="114300" rIns="114300" bIns="114300"/>
                    <a:lstStyle/>
                    <a:p>
                      <a:r>
                        <a:rPr sz="1800" b="1">
                          <a:solidFill>
                            <a:srgbClr val="F5F2E9"/>
                          </a:solidFill>
                          <a:latin typeface="DejaVu Sans"/>
                          <a:ea typeface="DejaVu Sans"/>
                          <a:cs typeface="DejaVu Sans"/>
                        </a:rPr>
                        <a:t>Possible response path</a:t>
                      </a:r>
                    </a:p>
                  </a:txBody>
                  <a:tcPr marL="91440" marR="91440" marT="45720" marB="45720">
                    <a:lnR w="9525">
                      <a:solidFill>
                        <a:srgbClr val="D4DDD5"/>
                      </a:solidFill>
                      <a:prstDash val="solid"/>
                    </a:lnR>
                    <a:lnT w="9525">
                      <a:solidFill>
                        <a:srgbClr val="D4DDD5"/>
                      </a:solidFill>
                      <a:prstDash val="solid"/>
                    </a:lnT>
                    <a:lnB w="9525">
                      <a:solidFill>
                        <a:srgbClr val="D4DDD5"/>
                      </a:solidFill>
                      <a:prstDash val="solid"/>
                    </a:lnB>
                    <a:solidFill>
                      <a:srgbClr val="112D32"/>
                    </a:solidFill>
                  </a:tcPr>
                </a:tc>
              </a:tr>
              <a:tr h="571500">
                <a:tc>
                  <a:txBody>
                    <a:bodyPr lIns="114300" tIns="114300" rIns="114300" bIns="114300"/>
                    <a:lstStyle/>
                    <a:p>
                      <a:r>
                        <a:rPr sz="1800" b="0">
                          <a:solidFill>
                            <a:srgbClr val="112D32"/>
                          </a:solidFill>
                          <a:latin typeface="DejaVu Sans"/>
                          <a:ea typeface="DejaVu Sans"/>
                          <a:cs typeface="DejaVu Sans"/>
                        </a:rPr>
                        <a:t>Internet + cellular available</a:t>
                      </a:r>
                    </a:p>
                  </a:txBody>
                  <a:tcPr marL="91440" marR="91440" marT="45720" marB="45720">
                    <a:lnL w="9525">
                      <a:solidFill>
                        <a:srgbClr val="D4DDD5"/>
                      </a:solidFill>
                      <a:prstDash val="solid"/>
                    </a:lnL>
                    <a:lnR w="9525">
                      <a:solidFill>
                        <a:srgbClr val="D4DDD5"/>
                      </a:solidFill>
                      <a:prstDash val="solid"/>
                    </a:lnR>
                    <a:lnB w="9525">
                      <a:solidFill>
                        <a:srgbClr val="D4DDD5"/>
                      </a:solidFill>
                      <a:prstDash val="solid"/>
                    </a:lnB>
                    <a:solidFill>
                      <a:srgbClr val="FFFFFF"/>
                    </a:solidFill>
                  </a:tcPr>
                </a:tc>
                <a:tc>
                  <a:txBody>
                    <a:bodyPr lIns="114300" tIns="114300" rIns="114300" bIns="114300"/>
                    <a:lstStyle/>
                    <a:p>
                      <a:r>
                        <a:rPr sz="1800" b="0">
                          <a:solidFill>
                            <a:srgbClr val="112D32"/>
                          </a:solidFill>
                          <a:latin typeface="DejaVu Sans"/>
                          <a:ea typeface="DejaVu Sans"/>
                          <a:cs typeface="DejaVu Sans"/>
                        </a:rPr>
                        <a:t>WhatsApp, SMS and later local call</a:t>
                      </a:r>
                    </a:p>
                  </a:txBody>
                  <a:tcPr marL="91440" marR="91440" marT="45720" marB="45720">
                    <a:lnR w="9525">
                      <a:solidFill>
                        <a:srgbClr val="D4DDD5"/>
                      </a:solidFill>
                      <a:prstDash val="solid"/>
                    </a:lnR>
                    <a:lnB w="9525">
                      <a:solidFill>
                        <a:srgbClr val="D4DDD5"/>
                      </a:solidFill>
                      <a:prstDash val="solid"/>
                    </a:lnB>
                    <a:solidFill>
                      <a:srgbClr val="FFFFFF"/>
                    </a:solidFill>
                  </a:tcPr>
                </a:tc>
              </a:tr>
              <a:tr h="571500">
                <a:tc>
                  <a:txBody>
                    <a:bodyPr lIns="114300" tIns="114300" rIns="114300" bIns="114300"/>
                    <a:lstStyle/>
                    <a:p>
                      <a:r>
                        <a:rPr sz="1800" b="0">
                          <a:solidFill>
                            <a:srgbClr val="112D32"/>
                          </a:solidFill>
                          <a:latin typeface="DejaVu Sans"/>
                          <a:ea typeface="DejaVu Sans"/>
                          <a:cs typeface="DejaVu Sans"/>
                        </a:rPr>
                        <a:t>Mobile data off, cellular available</a:t>
                      </a:r>
                    </a:p>
                  </a:txBody>
                  <a:tcPr marL="91440" marR="91440" marT="45720" marB="45720">
                    <a:lnL w="9525">
                      <a:solidFill>
                        <a:srgbClr val="D4DDD5"/>
                      </a:solidFill>
                      <a:prstDash val="solid"/>
                    </a:lnL>
                    <a:lnR w="9525">
                      <a:solidFill>
                        <a:srgbClr val="D4DDD5"/>
                      </a:solidFill>
                      <a:prstDash val="solid"/>
                    </a:lnR>
                    <a:lnB w="9525">
                      <a:solidFill>
                        <a:srgbClr val="D4DDD5"/>
                      </a:solidFill>
                      <a:prstDash val="solid"/>
                    </a:lnB>
                    <a:solidFill>
                      <a:srgbClr val="F5F2E9"/>
                    </a:solidFill>
                  </a:tcPr>
                </a:tc>
                <a:tc>
                  <a:txBody>
                    <a:bodyPr lIns="114300" tIns="114300" rIns="114300" bIns="114300"/>
                    <a:lstStyle/>
                    <a:p>
                      <a:r>
                        <a:rPr sz="1800" b="0">
                          <a:solidFill>
                            <a:srgbClr val="112D32"/>
                          </a:solidFill>
                          <a:latin typeface="DejaVu Sans"/>
                          <a:ea typeface="DejaVu Sans"/>
                          <a:cs typeface="DejaVu Sans"/>
                        </a:rPr>
                        <a:t>SMS reason in body and later local call</a:t>
                      </a:r>
                    </a:p>
                  </a:txBody>
                  <a:tcPr marL="91440" marR="91440" marT="45720" marB="45720">
                    <a:lnR w="9525">
                      <a:solidFill>
                        <a:srgbClr val="D4DDD5"/>
                      </a:solidFill>
                      <a:prstDash val="solid"/>
                    </a:lnR>
                    <a:lnB w="9525">
                      <a:solidFill>
                        <a:srgbClr val="D4DDD5"/>
                      </a:solidFill>
                      <a:prstDash val="solid"/>
                    </a:lnB>
                    <a:solidFill>
                      <a:srgbClr val="F5F2E9"/>
                    </a:solidFill>
                  </a:tcPr>
                </a:tc>
              </a:tr>
              <a:tr h="571500">
                <a:tc>
                  <a:txBody>
                    <a:bodyPr lIns="114300" tIns="114300" rIns="114300" bIns="114300"/>
                    <a:lstStyle/>
                    <a:p>
                      <a:r>
                        <a:rPr sz="1800" b="0">
                          <a:solidFill>
                            <a:srgbClr val="112D32"/>
                          </a:solidFill>
                          <a:latin typeface="DejaVu Sans"/>
                          <a:ea typeface="DejaVu Sans"/>
                          <a:cs typeface="DejaVu Sans"/>
                        </a:rPr>
                        <a:t>Phone off or no cellular coverage</a:t>
                      </a:r>
                    </a:p>
                  </a:txBody>
                  <a:tcPr marL="91440" marR="91440" marT="45720" marB="45720">
                    <a:lnL w="9525">
                      <a:solidFill>
                        <a:srgbClr val="D4DDD5"/>
                      </a:solidFill>
                      <a:prstDash val="solid"/>
                    </a:lnL>
                    <a:lnR w="9525">
                      <a:solidFill>
                        <a:srgbClr val="D4DDD5"/>
                      </a:solidFill>
                      <a:prstDash val="solid"/>
                    </a:lnR>
                    <a:lnB w="9525">
                      <a:solidFill>
                        <a:srgbClr val="D4DDD5"/>
                      </a:solidFill>
                      <a:prstDash val="solid"/>
                    </a:lnB>
                    <a:solidFill>
                      <a:srgbClr val="FFFFFF"/>
                    </a:solidFill>
                  </a:tcPr>
                </a:tc>
                <a:tc>
                  <a:txBody>
                    <a:bodyPr lIns="114300" tIns="114300" rIns="114300" bIns="114300"/>
                    <a:lstStyle/>
                    <a:p>
                      <a:r>
                        <a:rPr sz="1800" b="0">
                          <a:solidFill>
                            <a:srgbClr val="112D32"/>
                          </a:solidFill>
                          <a:latin typeface="DejaVu Sans"/>
                          <a:ea typeface="DejaVu Sans"/>
                          <a:cs typeface="DejaVu Sans"/>
                        </a:rPr>
                        <a:t>Consented backup or site assistance</a:t>
                      </a:r>
                    </a:p>
                  </a:txBody>
                  <a:tcPr marL="91440" marR="91440" marT="45720" marB="45720">
                    <a:lnR w="9525">
                      <a:solidFill>
                        <a:srgbClr val="D4DDD5"/>
                      </a:solidFill>
                      <a:prstDash val="solid"/>
                    </a:lnR>
                    <a:lnB w="9525">
                      <a:solidFill>
                        <a:srgbClr val="D4DDD5"/>
                      </a:solidFill>
                      <a:prstDash val="solid"/>
                    </a:lnB>
                    <a:solidFill>
                      <a:srgbClr val="FFFFFF"/>
                    </a:solidFill>
                  </a:tcPr>
                </a:tc>
              </a:tr>
              <a:tr h="571500">
                <a:tc>
                  <a:txBody>
                    <a:bodyPr lIns="114300" tIns="114300" rIns="114300" bIns="114300"/>
                    <a:lstStyle/>
                    <a:p>
                      <a:r>
                        <a:rPr sz="1800" b="0">
                          <a:solidFill>
                            <a:srgbClr val="112D32"/>
                          </a:solidFill>
                          <a:latin typeface="DejaVu Sans"/>
                          <a:ea typeface="DejaVu Sans"/>
                          <a:cs typeface="DejaVu Sans"/>
                        </a:rPr>
                        <a:t>Scanner also has no internet</a:t>
                      </a:r>
                    </a:p>
                  </a:txBody>
                  <a:tcPr marL="91440" marR="91440" marT="45720" marB="45720">
                    <a:lnL w="9525">
                      <a:solidFill>
                        <a:srgbClr val="D4DDD5"/>
                      </a:solidFill>
                      <a:prstDash val="solid"/>
                    </a:lnL>
                    <a:lnR w="9525">
                      <a:solidFill>
                        <a:srgbClr val="D4DDD5"/>
                      </a:solidFill>
                      <a:prstDash val="solid"/>
                    </a:lnR>
                    <a:lnB w="9525">
                      <a:solidFill>
                        <a:srgbClr val="D4DDD5"/>
                      </a:solidFill>
                      <a:prstDash val="solid"/>
                    </a:lnB>
                    <a:solidFill>
                      <a:srgbClr val="F5F2E9"/>
                    </a:solidFill>
                  </a:tcPr>
                </a:tc>
                <a:tc>
                  <a:txBody>
                    <a:bodyPr lIns="114300" tIns="114300" rIns="114300" bIns="114300"/>
                    <a:lstStyle/>
                    <a:p>
                      <a:r>
                        <a:rPr sz="1800" b="0">
                          <a:solidFill>
                            <a:srgbClr val="112D32"/>
                          </a:solidFill>
                          <a:latin typeface="DejaVu Sans"/>
                          <a:ea typeface="DejaVu Sans"/>
                          <a:cs typeface="DejaVu Sans"/>
                        </a:rPr>
                        <a:t>Web alert cannot submit</a:t>
                      </a:r>
                    </a:p>
                  </a:txBody>
                  <a:tcPr marL="91440" marR="91440" marT="45720" marB="45720">
                    <a:lnR w="9525">
                      <a:solidFill>
                        <a:srgbClr val="D4DDD5"/>
                      </a:solidFill>
                      <a:prstDash val="solid"/>
                    </a:lnR>
                    <a:lnB w="9525">
                      <a:solidFill>
                        <a:srgbClr val="D4DDD5"/>
                      </a:solidFill>
                      <a:prstDash val="solid"/>
                    </a:lnB>
                    <a:solidFill>
                      <a:srgbClr val="F5F2E9"/>
                    </a:solidFill>
                  </a:tcPr>
                </a:tc>
              </a:tr>
            </a:tbl>
          </a:graphicData>
        </a:graphic>
      </p:graphicFrame>
      <p:sp>
        <p:nvSpPr>
          <p:cNvPr id="5" name="text-3">
            <a:extLst xmlns:a="http://schemas.openxmlformats.org/drawingml/2006/main">
              <a:ext uri="{FF2B5EF4-FFF2-40B4-BE49-F238E27FC236}">
                <a16:creationId xmlns:a16="http://schemas.microsoft.com/office/drawing/2014/main" id="{86864F6A-E573-4B0B-A18F-8CEED678B689}"/>
              </a:ext>
            </a:extLst>
          </p:cNvPr>
          <p:cNvSpPr>
            <a:spLocks xmlns:a="http://schemas.openxmlformats.org/drawingml/2006/main" noGrp="1"/>
          </p:cNvSpPr>
          <p:nvPr/>
        </p:nvSpPr>
        <p:spPr>
          <a:xfrm xmlns:a="http://schemas.openxmlformats.org/drawingml/2006/main">
            <a:off x="704850" y="5886450"/>
            <a:ext cx="10382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5C6D6B"/>
                </a:solidFill>
                <a:latin typeface="DejaVu Sans"/>
                <a:ea typeface="DejaVu Sans"/>
                <a:cs typeface="DejaVu Sans"/>
              </a:defRPr>
            </a:defPPr>
          </a:lstStyle>
          <a:p xmlns:a="http://schemas.openxmlformats.org/drawingml/2006/main">
            <a:pPr>
              <a:defRPr sz="1275" b="0">
                <a:solidFill>
                  <a:srgbClr val="5C6D6B"/>
                </a:solidFill>
                <a:latin typeface="DejaVu Sans"/>
                <a:ea typeface="DejaVu Sans"/>
                <a:cs typeface="DejaVu Sans"/>
              </a:defRPr>
            </a:pPr>
            <a:r>
              <a:rPr sz="1275" b="0">
                <a:solidFill>
                  <a:srgbClr val="5C6D6B"/>
                </a:solidFill>
                <a:latin typeface="DejaVu Sans"/>
                <a:ea typeface="DejaVu Sans"/>
                <a:cs typeface="DejaVu Sans"/>
              </a:rPr>
              <a:t>No promise of guaranteed reachability or emergency dispatch.</a:t>
            </a:r>
          </a:p>
        </p:txBody>
      </p:sp>
    </p:spTree>
    <p:extLst>
      <p:ext uri="{BB962C8B-B14F-4D97-AF65-F5344CB8AC3E}">
        <p14:creationId xmlns:p14="http://schemas.microsoft.com/office/powerpoint/2010/main" val="1518024800"/>
      </p:ext>
    </p:extLst>
  </p:cSld>
</p:sld>
</file>

<file path=ppt/slides/slide22.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44E79204-866A-4652-8224-16A72625EA45}"/>
              </a:ext>
            </a:extLst>
          </p:cNvPr>
          <p:cNvSpPr>
            <a:spLocks xmlns:a="http://schemas.openxmlformats.org/drawingml/2006/main" noGrp="1"/>
          </p:cNvSpPr>
          <p:nvPr/>
        </p:nvSpPr>
        <p:spPr>
          <a:xfrm xmlns:a="http://schemas.openxmlformats.org/drawingml/2006/main">
            <a:off x="685800" y="581025"/>
            <a:ext cx="108204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600" b="1">
                <a:solidFill>
                  <a:srgbClr val="112D32"/>
                </a:solidFill>
                <a:latin typeface="DejaVu Sans"/>
                <a:ea typeface="DejaVu Sans"/>
                <a:cs typeface="DejaVu Sans"/>
              </a:defRPr>
            </a:defPPr>
          </a:lstStyle>
          <a:p xmlns:a="http://schemas.openxmlformats.org/drawingml/2006/main">
            <a:pPr>
              <a:defRPr sz="3600" b="1">
                <a:solidFill>
                  <a:srgbClr val="112D32"/>
                </a:solidFill>
                <a:latin typeface="DejaVu Sans"/>
                <a:ea typeface="DejaVu Sans"/>
                <a:cs typeface="DejaVu Sans"/>
              </a:defRPr>
            </a:pPr>
            <a:r>
              <a:rPr sz="3600" b="1">
                <a:solidFill>
                  <a:srgbClr val="112D32"/>
                </a:solidFill>
                <a:latin typeface="DejaVu Sans"/>
                <a:ea typeface="DejaVu Sans"/>
                <a:cs typeface="DejaVu Sans"/>
              </a:rPr>
              <a:t>Appendix · Privacy controls</a:t>
            </a:r>
          </a:p>
        </p:txBody>
      </p:sp>
      <p:sp>
        <p:nvSpPr>
          <p:cNvPr id="2" name="text-1">
            <a:extLst xmlns:a="http://schemas.openxmlformats.org/drawingml/2006/main">
              <a:ext uri="{FF2B5EF4-FFF2-40B4-BE49-F238E27FC236}">
                <a16:creationId xmlns:a16="http://schemas.microsoft.com/office/drawing/2014/main" id="{43847F77-3891-415A-BDFE-3263BE99D57F}"/>
              </a:ext>
            </a:extLst>
          </p:cNvPr>
          <p:cNvSpPr>
            <a:spLocks xmlns:a="http://schemas.openxmlformats.org/drawingml/2006/main" noGrp="1"/>
          </p:cNvSpPr>
          <p:nvPr/>
        </p:nvSpPr>
        <p:spPr>
          <a:xfrm xmlns:a="http://schemas.openxmlformats.org/drawingml/2006/main">
            <a:off x="704850" y="1619250"/>
            <a:ext cx="10668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5C6D6B"/>
                </a:solidFill>
                <a:latin typeface="DejaVu Sans"/>
                <a:ea typeface="DejaVu Sans"/>
                <a:cs typeface="DejaVu Sans"/>
              </a:defRPr>
            </a:defPPr>
          </a:lstStyle>
          <a:p xmlns:a="http://schemas.openxmlformats.org/drawingml/2006/main">
            <a:pPr>
              <a:defRPr sz="1725" b="0">
                <a:solidFill>
                  <a:srgbClr val="5C6D6B"/>
                </a:solidFill>
                <a:latin typeface="DejaVu Sans"/>
                <a:ea typeface="DejaVu Sans"/>
                <a:cs typeface="DejaVu Sans"/>
              </a:defRPr>
            </a:pPr>
            <a:r>
              <a:rPr sz="1725" b="0">
                <a:solidFill>
                  <a:srgbClr val="5C6D6B"/>
                </a:solidFill>
                <a:latin typeface="DejaVu Sans"/>
                <a:ea typeface="DejaVu Sans"/>
                <a:cs typeface="DejaVu Sans"/>
              </a:rPr>
              <a:t>The phone number stays out of the public interface.</a:t>
            </a:r>
          </a:p>
        </p:txBody>
      </p:sp>
      <p:sp>
        <p:nvSpPr>
          <p:cNvPr id="3" name="text-2">
            <a:extLst xmlns:a="http://schemas.openxmlformats.org/drawingml/2006/main">
              <a:ext uri="{FF2B5EF4-FFF2-40B4-BE49-F238E27FC236}">
                <a16:creationId xmlns:a16="http://schemas.microsoft.com/office/drawing/2014/main" id="{10C63DB8-4336-4583-A96D-7C49BFCA67E7}"/>
              </a:ext>
            </a:extLst>
          </p:cNvPr>
          <p:cNvSpPr>
            <a:spLocks xmlns:a="http://schemas.openxmlformats.org/drawingml/2006/main" noGrp="1"/>
          </p:cNvSpPr>
          <p:nvPr/>
        </p:nvSpPr>
        <p:spPr>
          <a:xfrm xmlns:a="http://schemas.openxmlformats.org/drawingml/2006/main">
            <a:off x="10953750" y="6334125"/>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5C6D6B"/>
                </a:solidFill>
                <a:latin typeface="DejaVu Sans"/>
                <a:ea typeface="DejaVu Sans"/>
                <a:cs typeface="DejaVu Sans"/>
              </a:defRPr>
            </a:defPPr>
          </a:lstStyle>
          <a:p xmlns:a="http://schemas.openxmlformats.org/drawingml/2006/main">
            <a:pPr>
              <a:defRPr sz="1275" b="0">
                <a:solidFill>
                  <a:srgbClr val="5C6D6B"/>
                </a:solidFill>
                <a:latin typeface="DejaVu Sans"/>
                <a:ea typeface="DejaVu Sans"/>
                <a:cs typeface="DejaVu Sans"/>
              </a:defRPr>
            </a:pPr>
            <a:r>
              <a:rPr sz="1275" b="0">
                <a:solidFill>
                  <a:srgbClr val="5C6D6B"/>
                </a:solidFill>
                <a:latin typeface="DejaVu Sans"/>
                <a:ea typeface="DejaVu Sans"/>
                <a:cs typeface="DejaVu Sans"/>
              </a:rPr>
              <a:t>22</a:t>
            </a:r>
          </a:p>
        </p:txBody>
      </p:sp>
      <p:sp>
        <p:nvSpPr>
          <p:cNvPr id="4" name="text-3">
            <a:extLst xmlns:a="http://schemas.openxmlformats.org/drawingml/2006/main">
              <a:ext uri="{FF2B5EF4-FFF2-40B4-BE49-F238E27FC236}">
                <a16:creationId xmlns:a16="http://schemas.microsoft.com/office/drawing/2014/main" id="{5E292589-FBE1-4FFE-9768-4FFD97203AD4}"/>
              </a:ext>
            </a:extLst>
          </p:cNvPr>
          <p:cNvSpPr>
            <a:spLocks xmlns:a="http://schemas.openxmlformats.org/drawingml/2006/main" noGrp="1"/>
          </p:cNvSpPr>
          <p:nvPr/>
        </p:nvSpPr>
        <p:spPr>
          <a:xfrm xmlns:a="http://schemas.openxmlformats.org/drawingml/2006/main">
            <a:off x="704850" y="2524125"/>
            <a:ext cx="3143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1">
                <a:solidFill>
                  <a:srgbClr val="00796E"/>
                </a:solidFill>
                <a:latin typeface="DejaVu Sans"/>
                <a:ea typeface="DejaVu Sans"/>
                <a:cs typeface="DejaVu Sans"/>
              </a:defRPr>
            </a:defPPr>
          </a:lstStyle>
          <a:p xmlns:a="http://schemas.openxmlformats.org/drawingml/2006/main">
            <a:pPr>
              <a:defRPr sz="2250" b="1">
                <a:solidFill>
                  <a:srgbClr val="00796E"/>
                </a:solidFill>
                <a:latin typeface="DejaVu Sans"/>
                <a:ea typeface="DejaVu Sans"/>
                <a:cs typeface="DejaVu Sans"/>
              </a:defRPr>
            </a:pPr>
            <a:r>
              <a:rPr sz="2250" b="1">
                <a:solidFill>
                  <a:srgbClr val="00796E"/>
                </a:solidFill>
                <a:latin typeface="DejaVu Sans"/>
                <a:ea typeface="DejaVu Sans"/>
                <a:cs typeface="DejaVu Sans"/>
              </a:rPr>
              <a:t>Public access</a:t>
            </a:r>
          </a:p>
        </p:txBody>
      </p:sp>
      <p:sp>
        <p:nvSpPr>
          <p:cNvPr id="5" name="text-4">
            <a:extLst xmlns:a="http://schemas.openxmlformats.org/drawingml/2006/main">
              <a:ext uri="{FF2B5EF4-FFF2-40B4-BE49-F238E27FC236}">
                <a16:creationId xmlns:a16="http://schemas.microsoft.com/office/drawing/2014/main" id="{847F31F6-C814-45AB-BAA0-941832706165}"/>
              </a:ext>
            </a:extLst>
          </p:cNvPr>
          <p:cNvSpPr>
            <a:spLocks xmlns:a="http://schemas.openxmlformats.org/drawingml/2006/main" noGrp="1"/>
          </p:cNvSpPr>
          <p:nvPr/>
        </p:nvSpPr>
        <p:spPr>
          <a:xfrm xmlns:a="http://schemas.openxmlformats.org/drawingml/2006/main">
            <a:off x="4133850" y="2524125"/>
            <a:ext cx="7239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112D32"/>
                </a:solidFill>
                <a:latin typeface="DejaVu Sans"/>
                <a:ea typeface="DejaVu Sans"/>
                <a:cs typeface="DejaVu Sans"/>
              </a:defRPr>
            </a:defPPr>
          </a:lstStyle>
          <a:p xmlns:a="http://schemas.openxmlformats.org/drawingml/2006/main">
            <a:pPr>
              <a:defRPr sz="2025" b="0">
                <a:solidFill>
                  <a:srgbClr val="112D32"/>
                </a:solidFill>
                <a:latin typeface="DejaVu Sans"/>
                <a:ea typeface="DejaVu Sans"/>
                <a:cs typeface="DejaVu Sans"/>
              </a:defRPr>
            </a:pPr>
            <a:r>
              <a:rPr sz="2025" b="0">
                <a:solidFill>
                  <a:srgbClr val="112D32"/>
                </a:solidFill>
                <a:latin typeface="DejaVu Sans"/>
                <a:ea typeface="DejaVu Sans"/>
                <a:cs typeface="DejaVu Sans"/>
              </a:rPr>
              <a:t>Random token, minimal response and no owner contact links.</a:t>
            </a:r>
          </a:p>
        </p:txBody>
      </p:sp>
      <p:sp>
        <p:nvSpPr>
          <p:cNvPr id="6" name="text-5">
            <a:extLst xmlns:a="http://schemas.openxmlformats.org/drawingml/2006/main">
              <a:ext uri="{FF2B5EF4-FFF2-40B4-BE49-F238E27FC236}">
                <a16:creationId xmlns:a16="http://schemas.microsoft.com/office/drawing/2014/main" id="{A28D530D-E5CD-4F19-9C9F-F1918D2C6811}"/>
              </a:ext>
            </a:extLst>
          </p:cNvPr>
          <p:cNvSpPr>
            <a:spLocks xmlns:a="http://schemas.openxmlformats.org/drawingml/2006/main" noGrp="1"/>
          </p:cNvSpPr>
          <p:nvPr/>
        </p:nvSpPr>
        <p:spPr>
          <a:xfrm xmlns:a="http://schemas.openxmlformats.org/drawingml/2006/main">
            <a:off x="704850" y="3714750"/>
            <a:ext cx="3143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1">
                <a:solidFill>
                  <a:srgbClr val="00796E"/>
                </a:solidFill>
                <a:latin typeface="DejaVu Sans"/>
                <a:ea typeface="DejaVu Sans"/>
                <a:cs typeface="DejaVu Sans"/>
              </a:defRPr>
            </a:defPPr>
          </a:lstStyle>
          <a:p xmlns:a="http://schemas.openxmlformats.org/drawingml/2006/main">
            <a:pPr>
              <a:defRPr sz="2250" b="1">
                <a:solidFill>
                  <a:srgbClr val="00796E"/>
                </a:solidFill>
                <a:latin typeface="DejaVu Sans"/>
                <a:ea typeface="DejaVu Sans"/>
                <a:cs typeface="DejaVu Sans"/>
              </a:defRPr>
            </a:pPr>
            <a:r>
              <a:rPr sz="2250" b="1">
                <a:solidFill>
                  <a:srgbClr val="00796E"/>
                </a:solidFill>
                <a:latin typeface="DejaVu Sans"/>
                <a:ea typeface="DejaVu Sans"/>
                <a:cs typeface="DejaVu Sans"/>
              </a:rPr>
              <a:t>Ownership</a:t>
            </a:r>
          </a:p>
        </p:txBody>
      </p:sp>
      <p:sp>
        <p:nvSpPr>
          <p:cNvPr id="7" name="text-6">
            <a:extLst xmlns:a="http://schemas.openxmlformats.org/drawingml/2006/main">
              <a:ext uri="{FF2B5EF4-FFF2-40B4-BE49-F238E27FC236}">
                <a16:creationId xmlns:a16="http://schemas.microsoft.com/office/drawing/2014/main" id="{DC5B2890-1A40-4212-A722-003013A95C60}"/>
              </a:ext>
            </a:extLst>
          </p:cNvPr>
          <p:cNvSpPr>
            <a:spLocks xmlns:a="http://schemas.openxmlformats.org/drawingml/2006/main" noGrp="1"/>
          </p:cNvSpPr>
          <p:nvPr/>
        </p:nvSpPr>
        <p:spPr>
          <a:xfrm xmlns:a="http://schemas.openxmlformats.org/drawingml/2006/main">
            <a:off x="4133850" y="3714750"/>
            <a:ext cx="7239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112D32"/>
                </a:solidFill>
                <a:latin typeface="DejaVu Sans"/>
                <a:ea typeface="DejaVu Sans"/>
                <a:cs typeface="DejaVu Sans"/>
              </a:defRPr>
            </a:defPPr>
          </a:lstStyle>
          <a:p xmlns:a="http://schemas.openxmlformats.org/drawingml/2006/main">
            <a:pPr>
              <a:defRPr sz="2025" b="0">
                <a:solidFill>
                  <a:srgbClr val="112D32"/>
                </a:solidFill>
                <a:latin typeface="DejaVu Sans"/>
                <a:ea typeface="DejaVu Sans"/>
                <a:cs typeface="DejaVu Sans"/>
              </a:defRPr>
            </a:pPr>
            <a:r>
              <a:rPr sz="2025" b="0">
                <a:solidFill>
                  <a:srgbClr val="112D32"/>
                </a:solidFill>
                <a:latin typeface="DejaVu Sans"/>
                <a:ea typeface="DejaVu Sans"/>
                <a:cs typeface="DejaVu Sans"/>
              </a:rPr>
              <a:t>Separate sealed claim secret plus verified contact.</a:t>
            </a:r>
          </a:p>
        </p:txBody>
      </p:sp>
      <p:sp>
        <p:nvSpPr>
          <p:cNvPr id="8" name="text-7">
            <a:extLst xmlns:a="http://schemas.openxmlformats.org/drawingml/2006/main">
              <a:ext uri="{FF2B5EF4-FFF2-40B4-BE49-F238E27FC236}">
                <a16:creationId xmlns:a16="http://schemas.microsoft.com/office/drawing/2014/main" id="{E32BB015-50DB-4261-8931-EC4EB254D9E3}"/>
              </a:ext>
            </a:extLst>
          </p:cNvPr>
          <p:cNvSpPr>
            <a:spLocks xmlns:a="http://schemas.openxmlformats.org/drawingml/2006/main" noGrp="1"/>
          </p:cNvSpPr>
          <p:nvPr/>
        </p:nvSpPr>
        <p:spPr>
          <a:xfrm xmlns:a="http://schemas.openxmlformats.org/drawingml/2006/main">
            <a:off x="704850" y="4905375"/>
            <a:ext cx="3143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1">
                <a:solidFill>
                  <a:srgbClr val="00796E"/>
                </a:solidFill>
                <a:latin typeface="DejaVu Sans"/>
                <a:ea typeface="DejaVu Sans"/>
                <a:cs typeface="DejaVu Sans"/>
              </a:defRPr>
            </a:defPPr>
          </a:lstStyle>
          <a:p xmlns:a="http://schemas.openxmlformats.org/drawingml/2006/main">
            <a:pPr>
              <a:defRPr sz="2250" b="1">
                <a:solidFill>
                  <a:srgbClr val="00796E"/>
                </a:solidFill>
                <a:latin typeface="DejaVu Sans"/>
                <a:ea typeface="DejaVu Sans"/>
                <a:cs typeface="DejaVu Sans"/>
              </a:defRPr>
            </a:pPr>
            <a:r>
              <a:rPr sz="2250" b="1">
                <a:solidFill>
                  <a:srgbClr val="00796E"/>
                </a:solidFill>
                <a:latin typeface="DejaVu Sans"/>
                <a:ea typeface="DejaVu Sans"/>
                <a:cs typeface="DejaVu Sans"/>
              </a:rPr>
              <a:t>Operations</a:t>
            </a:r>
          </a:p>
        </p:txBody>
      </p:sp>
      <p:sp>
        <p:nvSpPr>
          <p:cNvPr id="9" name="text-8">
            <a:extLst xmlns:a="http://schemas.openxmlformats.org/drawingml/2006/main">
              <a:ext uri="{FF2B5EF4-FFF2-40B4-BE49-F238E27FC236}">
                <a16:creationId xmlns:a16="http://schemas.microsoft.com/office/drawing/2014/main" id="{D646535D-231E-4EE7-8914-D218CA4A5BC8}"/>
              </a:ext>
            </a:extLst>
          </p:cNvPr>
          <p:cNvSpPr>
            <a:spLocks xmlns:a="http://schemas.openxmlformats.org/drawingml/2006/main" noGrp="1"/>
          </p:cNvSpPr>
          <p:nvPr/>
        </p:nvSpPr>
        <p:spPr>
          <a:xfrm xmlns:a="http://schemas.openxmlformats.org/drawingml/2006/main">
            <a:off x="4133850" y="4905375"/>
            <a:ext cx="7239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112D32"/>
                </a:solidFill>
                <a:latin typeface="DejaVu Sans"/>
                <a:ea typeface="DejaVu Sans"/>
                <a:cs typeface="DejaVu Sans"/>
              </a:defRPr>
            </a:defPPr>
          </a:lstStyle>
          <a:p xmlns:a="http://schemas.openxmlformats.org/drawingml/2006/main">
            <a:pPr>
              <a:defRPr sz="2025" b="0">
                <a:solidFill>
                  <a:srgbClr val="112D32"/>
                </a:solidFill>
                <a:latin typeface="DejaVu Sans"/>
                <a:ea typeface="DejaVu Sans"/>
                <a:cs typeface="DejaVu Sans"/>
              </a:defRPr>
            </a:pPr>
            <a:r>
              <a:rPr sz="2025" b="0">
                <a:solidFill>
                  <a:srgbClr val="112D32"/>
                </a:solidFill>
                <a:latin typeface="DejaVu Sans"/>
                <a:ea typeface="DejaVu Sans"/>
                <a:cs typeface="DejaVu Sans"/>
              </a:rPr>
              <a:t>Consent, role checks, audit, rate limits and retention.</a:t>
            </a:r>
          </a:p>
        </p:txBody>
      </p:sp>
    </p:spTree>
    <p:extLst>
      <p:ext uri="{BB962C8B-B14F-4D97-AF65-F5344CB8AC3E}">
        <p14:creationId xmlns:p14="http://schemas.microsoft.com/office/powerpoint/2010/main" val="1198090190"/>
      </p:ext>
    </p:extLst>
  </p:cSld>
</p:sld>
</file>

<file path=ppt/slides/slide23.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9DA8D9F3-EF7E-402D-B3F8-D675C03C5A95}"/>
              </a:ext>
            </a:extLst>
          </p:cNvPr>
          <p:cNvSpPr>
            <a:spLocks xmlns:a="http://schemas.openxmlformats.org/drawingml/2006/main" noGrp="1"/>
          </p:cNvSpPr>
          <p:nvPr/>
        </p:nvSpPr>
        <p:spPr>
          <a:xfrm xmlns:a="http://schemas.openxmlformats.org/drawingml/2006/main">
            <a:off x="685800" y="581025"/>
            <a:ext cx="108204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600" b="1">
                <a:solidFill>
                  <a:srgbClr val="112D32"/>
                </a:solidFill>
                <a:latin typeface="DejaVu Sans"/>
                <a:ea typeface="DejaVu Sans"/>
                <a:cs typeface="DejaVu Sans"/>
              </a:defRPr>
            </a:defPPr>
          </a:lstStyle>
          <a:p xmlns:a="http://schemas.openxmlformats.org/drawingml/2006/main">
            <a:pPr>
              <a:defRPr sz="3600" b="1">
                <a:solidFill>
                  <a:srgbClr val="112D32"/>
                </a:solidFill>
                <a:latin typeface="DejaVu Sans"/>
                <a:ea typeface="DejaVu Sans"/>
                <a:cs typeface="DejaVu Sans"/>
              </a:defRPr>
            </a:pPr>
            <a:r>
              <a:rPr sz="3600" b="1">
                <a:solidFill>
                  <a:srgbClr val="112D32"/>
                </a:solidFill>
                <a:latin typeface="DejaVu Sans"/>
                <a:ea typeface="DejaVu Sans"/>
                <a:cs typeface="DejaVu Sans"/>
              </a:rPr>
              <a:t>Appendix · Physical tag and maps</a:t>
            </a:r>
          </a:p>
        </p:txBody>
      </p:sp>
      <p:sp>
        <p:nvSpPr>
          <p:cNvPr id="2" name="text-1">
            <a:extLst xmlns:a="http://schemas.openxmlformats.org/drawingml/2006/main">
              <a:ext uri="{FF2B5EF4-FFF2-40B4-BE49-F238E27FC236}">
                <a16:creationId xmlns:a16="http://schemas.microsoft.com/office/drawing/2014/main" id="{F42D6FAA-52ED-4099-8B85-309A0B11178F}"/>
              </a:ext>
            </a:extLst>
          </p:cNvPr>
          <p:cNvSpPr>
            <a:spLocks xmlns:a="http://schemas.openxmlformats.org/drawingml/2006/main" noGrp="1"/>
          </p:cNvSpPr>
          <p:nvPr/>
        </p:nvSpPr>
        <p:spPr>
          <a:xfrm xmlns:a="http://schemas.openxmlformats.org/drawingml/2006/main">
            <a:off x="704850" y="1619250"/>
            <a:ext cx="10668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5C6D6B"/>
                </a:solidFill>
                <a:latin typeface="DejaVu Sans"/>
                <a:ea typeface="DejaVu Sans"/>
                <a:cs typeface="DejaVu Sans"/>
              </a:defRPr>
            </a:defPPr>
          </a:lstStyle>
          <a:p xmlns:a="http://schemas.openxmlformats.org/drawingml/2006/main">
            <a:pPr>
              <a:defRPr sz="1725" b="0">
                <a:solidFill>
                  <a:srgbClr val="5C6D6B"/>
                </a:solidFill>
                <a:latin typeface="DejaVu Sans"/>
                <a:ea typeface="DejaVu Sans"/>
                <a:cs typeface="DejaVu Sans"/>
              </a:defRPr>
            </a:pPr>
            <a:r>
              <a:rPr sz="1725" b="0">
                <a:solidFill>
                  <a:srgbClr val="5C6D6B"/>
                </a:solidFill>
                <a:latin typeface="DejaVu Sans"/>
                <a:ea typeface="DejaVu Sans"/>
                <a:cs typeface="DejaVu Sans"/>
              </a:rPr>
              <a:t>A sticker is a contact entry point, not a GPS tracker.</a:t>
            </a:r>
          </a:p>
        </p:txBody>
      </p:sp>
      <p:sp>
        <p:nvSpPr>
          <p:cNvPr id="3" name="text-2">
            <a:extLst xmlns:a="http://schemas.openxmlformats.org/drawingml/2006/main">
              <a:ext uri="{FF2B5EF4-FFF2-40B4-BE49-F238E27FC236}">
                <a16:creationId xmlns:a16="http://schemas.microsoft.com/office/drawing/2014/main" id="{7A64380C-9978-48F1-8E24-885B551445FB}"/>
              </a:ext>
            </a:extLst>
          </p:cNvPr>
          <p:cNvSpPr>
            <a:spLocks xmlns:a="http://schemas.openxmlformats.org/drawingml/2006/main" noGrp="1"/>
          </p:cNvSpPr>
          <p:nvPr/>
        </p:nvSpPr>
        <p:spPr>
          <a:xfrm xmlns:a="http://schemas.openxmlformats.org/drawingml/2006/main">
            <a:off x="10953750" y="6334125"/>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5C6D6B"/>
                </a:solidFill>
                <a:latin typeface="DejaVu Sans"/>
                <a:ea typeface="DejaVu Sans"/>
                <a:cs typeface="DejaVu Sans"/>
              </a:defRPr>
            </a:defPPr>
          </a:lstStyle>
          <a:p xmlns:a="http://schemas.openxmlformats.org/drawingml/2006/main">
            <a:pPr>
              <a:defRPr sz="1275" b="0">
                <a:solidFill>
                  <a:srgbClr val="5C6D6B"/>
                </a:solidFill>
                <a:latin typeface="DejaVu Sans"/>
                <a:ea typeface="DejaVu Sans"/>
                <a:cs typeface="DejaVu Sans"/>
              </a:defRPr>
            </a:pPr>
            <a:r>
              <a:rPr sz="1275" b="0">
                <a:solidFill>
                  <a:srgbClr val="5C6D6B"/>
                </a:solidFill>
                <a:latin typeface="DejaVu Sans"/>
                <a:ea typeface="DejaVu Sans"/>
                <a:cs typeface="DejaVu Sans"/>
              </a:rPr>
              <a:t>23</a:t>
            </a:r>
          </a:p>
        </p:txBody>
      </p:sp>
      <p:sp>
        <p:nvSpPr>
          <p:cNvPr id="4" name="text-3">
            <a:extLst xmlns:a="http://schemas.openxmlformats.org/drawingml/2006/main">
              <a:ext uri="{FF2B5EF4-FFF2-40B4-BE49-F238E27FC236}">
                <a16:creationId xmlns:a16="http://schemas.microsoft.com/office/drawing/2014/main" id="{8617102A-02F6-4CA2-A814-AFDB9CED2998}"/>
              </a:ext>
            </a:extLst>
          </p:cNvPr>
          <p:cNvSpPr>
            <a:spLocks xmlns:a="http://schemas.openxmlformats.org/drawingml/2006/main" noGrp="1"/>
          </p:cNvSpPr>
          <p:nvPr/>
        </p:nvSpPr>
        <p:spPr>
          <a:xfrm xmlns:a="http://schemas.openxmlformats.org/drawingml/2006/main">
            <a:off x="704850" y="2524125"/>
            <a:ext cx="3143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1">
                <a:solidFill>
                  <a:srgbClr val="00796E"/>
                </a:solidFill>
                <a:latin typeface="DejaVu Sans"/>
                <a:ea typeface="DejaVu Sans"/>
                <a:cs typeface="DejaVu Sans"/>
              </a:defRPr>
            </a:defPPr>
          </a:lstStyle>
          <a:p xmlns:a="http://schemas.openxmlformats.org/drawingml/2006/main">
            <a:pPr>
              <a:defRPr sz="2250" b="1">
                <a:solidFill>
                  <a:srgbClr val="00796E"/>
                </a:solidFill>
                <a:latin typeface="DejaVu Sans"/>
                <a:ea typeface="DejaVu Sans"/>
                <a:cs typeface="DejaVu Sans"/>
              </a:defRPr>
            </a:pPr>
            <a:r>
              <a:rPr sz="2250" b="1">
                <a:solidFill>
                  <a:srgbClr val="00796E"/>
                </a:solidFill>
                <a:latin typeface="DejaVu Sans"/>
                <a:ea typeface="DejaVu Sans"/>
                <a:cs typeface="DejaVu Sans"/>
              </a:rPr>
              <a:t>Sticker</a:t>
            </a:r>
          </a:p>
        </p:txBody>
      </p:sp>
      <p:sp>
        <p:nvSpPr>
          <p:cNvPr id="5" name="text-4">
            <a:extLst xmlns:a="http://schemas.openxmlformats.org/drawingml/2006/main">
              <a:ext uri="{FF2B5EF4-FFF2-40B4-BE49-F238E27FC236}">
                <a16:creationId xmlns:a16="http://schemas.microsoft.com/office/drawing/2014/main" id="{8E61A30D-326D-4059-9112-289D1DBC8604}"/>
              </a:ext>
            </a:extLst>
          </p:cNvPr>
          <p:cNvSpPr>
            <a:spLocks xmlns:a="http://schemas.openxmlformats.org/drawingml/2006/main" noGrp="1"/>
          </p:cNvSpPr>
          <p:nvPr/>
        </p:nvSpPr>
        <p:spPr>
          <a:xfrm xmlns:a="http://schemas.openxmlformats.org/drawingml/2006/main">
            <a:off x="4133850" y="2524125"/>
            <a:ext cx="7239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112D32"/>
                </a:solidFill>
                <a:latin typeface="DejaVu Sans"/>
                <a:ea typeface="DejaVu Sans"/>
                <a:cs typeface="DejaVu Sans"/>
              </a:defRPr>
            </a:defPPr>
          </a:lstStyle>
          <a:p xmlns:a="http://schemas.openxmlformats.org/drawingml/2006/main">
            <a:pPr>
              <a:defRPr sz="2025" b="0">
                <a:solidFill>
                  <a:srgbClr val="112D32"/>
                </a:solidFill>
                <a:latin typeface="DejaVu Sans"/>
                <a:ea typeface="DejaVu Sans"/>
                <a:cs typeface="DejaVu Sans"/>
              </a:defRPr>
            </a:pPr>
            <a:r>
              <a:rPr sz="2025" b="0">
                <a:solidFill>
                  <a:srgbClr val="112D32"/>
                </a:solidFill>
                <a:latin typeface="DejaVu Sans"/>
                <a:ea typeface="DejaVu Sans"/>
                <a:cs typeface="DejaVu Sans"/>
              </a:rPr>
              <a:t>Inside-glass sample, readable official domain and sealed claim.</a:t>
            </a:r>
          </a:p>
        </p:txBody>
      </p:sp>
      <p:sp>
        <p:nvSpPr>
          <p:cNvPr id="6" name="text-5">
            <a:extLst xmlns:a="http://schemas.openxmlformats.org/drawingml/2006/main">
              <a:ext uri="{FF2B5EF4-FFF2-40B4-BE49-F238E27FC236}">
                <a16:creationId xmlns:a16="http://schemas.microsoft.com/office/drawing/2014/main" id="{34E9B4A3-933F-47F8-87E3-128AB6F9BEB2}"/>
              </a:ext>
            </a:extLst>
          </p:cNvPr>
          <p:cNvSpPr>
            <a:spLocks xmlns:a="http://schemas.openxmlformats.org/drawingml/2006/main" noGrp="1"/>
          </p:cNvSpPr>
          <p:nvPr/>
        </p:nvSpPr>
        <p:spPr>
          <a:xfrm xmlns:a="http://schemas.openxmlformats.org/drawingml/2006/main">
            <a:off x="704850" y="3714750"/>
            <a:ext cx="3143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1">
                <a:solidFill>
                  <a:srgbClr val="00796E"/>
                </a:solidFill>
                <a:latin typeface="DejaVu Sans"/>
                <a:ea typeface="DejaVu Sans"/>
                <a:cs typeface="DejaVu Sans"/>
              </a:defRPr>
            </a:defPPr>
          </a:lstStyle>
          <a:p xmlns:a="http://schemas.openxmlformats.org/drawingml/2006/main">
            <a:pPr>
              <a:defRPr sz="2250" b="1">
                <a:solidFill>
                  <a:srgbClr val="00796E"/>
                </a:solidFill>
                <a:latin typeface="DejaVu Sans"/>
                <a:ea typeface="DejaVu Sans"/>
                <a:cs typeface="DejaVu Sans"/>
              </a:defRPr>
            </a:pPr>
            <a:r>
              <a:rPr sz="2250" b="1">
                <a:solidFill>
                  <a:srgbClr val="00796E"/>
                </a:solidFill>
                <a:latin typeface="DejaVu Sans"/>
                <a:ea typeface="DejaVu Sans"/>
                <a:cs typeface="DejaVu Sans"/>
              </a:rPr>
              <a:t>Quality</a:t>
            </a:r>
          </a:p>
        </p:txBody>
      </p:sp>
      <p:sp>
        <p:nvSpPr>
          <p:cNvPr id="7" name="text-6">
            <a:extLst xmlns:a="http://schemas.openxmlformats.org/drawingml/2006/main">
              <a:ext uri="{FF2B5EF4-FFF2-40B4-BE49-F238E27FC236}">
                <a16:creationId xmlns:a16="http://schemas.microsoft.com/office/drawing/2014/main" id="{98C7A82E-6B9F-4113-91FF-DBE8699C06A6}"/>
              </a:ext>
            </a:extLst>
          </p:cNvPr>
          <p:cNvSpPr>
            <a:spLocks xmlns:a="http://schemas.openxmlformats.org/drawingml/2006/main" noGrp="1"/>
          </p:cNvSpPr>
          <p:nvPr/>
        </p:nvSpPr>
        <p:spPr>
          <a:xfrm xmlns:a="http://schemas.openxmlformats.org/drawingml/2006/main">
            <a:off x="4133850" y="3714750"/>
            <a:ext cx="7239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112D32"/>
                </a:solidFill>
                <a:latin typeface="DejaVu Sans"/>
                <a:ea typeface="DejaVu Sans"/>
                <a:cs typeface="DejaVu Sans"/>
              </a:defRPr>
            </a:defPPr>
          </a:lstStyle>
          <a:p xmlns:a="http://schemas.openxmlformats.org/drawingml/2006/main">
            <a:pPr>
              <a:defRPr sz="2025" b="0">
                <a:solidFill>
                  <a:srgbClr val="112D32"/>
                </a:solidFill>
                <a:latin typeface="DejaVu Sans"/>
                <a:ea typeface="DejaVu Sans"/>
                <a:cs typeface="DejaVu Sans"/>
              </a:defRPr>
            </a:pPr>
            <a:r>
              <a:rPr sz="2025" b="0">
                <a:solidFill>
                  <a:srgbClr val="112D32"/>
                </a:solidFill>
                <a:latin typeface="DejaVu Sans"/>
                <a:ea typeface="DejaVu Sans"/>
                <a:cs typeface="DejaVu Sans"/>
              </a:rPr>
              <a:t>Test actual printed codes through glass before bulk production.</a:t>
            </a:r>
          </a:p>
        </p:txBody>
      </p:sp>
      <p:sp>
        <p:nvSpPr>
          <p:cNvPr id="8" name="text-7">
            <a:extLst xmlns:a="http://schemas.openxmlformats.org/drawingml/2006/main">
              <a:ext uri="{FF2B5EF4-FFF2-40B4-BE49-F238E27FC236}">
                <a16:creationId xmlns:a16="http://schemas.microsoft.com/office/drawing/2014/main" id="{E32A0518-70C2-4B33-B4B9-F53AB0C163D2}"/>
              </a:ext>
            </a:extLst>
          </p:cNvPr>
          <p:cNvSpPr>
            <a:spLocks xmlns:a="http://schemas.openxmlformats.org/drawingml/2006/main" noGrp="1"/>
          </p:cNvSpPr>
          <p:nvPr/>
        </p:nvSpPr>
        <p:spPr>
          <a:xfrm xmlns:a="http://schemas.openxmlformats.org/drawingml/2006/main">
            <a:off x="704850" y="4905375"/>
            <a:ext cx="3143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1">
                <a:solidFill>
                  <a:srgbClr val="00796E"/>
                </a:solidFill>
                <a:latin typeface="DejaVu Sans"/>
                <a:ea typeface="DejaVu Sans"/>
                <a:cs typeface="DejaVu Sans"/>
              </a:defRPr>
            </a:defPPr>
          </a:lstStyle>
          <a:p xmlns:a="http://schemas.openxmlformats.org/drawingml/2006/main">
            <a:pPr>
              <a:defRPr sz="2250" b="1">
                <a:solidFill>
                  <a:srgbClr val="00796E"/>
                </a:solidFill>
                <a:latin typeface="DejaVu Sans"/>
                <a:ea typeface="DejaVu Sans"/>
                <a:cs typeface="DejaVu Sans"/>
              </a:defRPr>
            </a:pPr>
            <a:r>
              <a:rPr sz="2250" b="1">
                <a:solidFill>
                  <a:srgbClr val="00796E"/>
                </a:solidFill>
                <a:latin typeface="DejaVu Sans"/>
                <a:ea typeface="DejaVu Sans"/>
                <a:cs typeface="DejaVu Sans"/>
              </a:rPr>
              <a:t>Location</a:t>
            </a:r>
          </a:p>
        </p:txBody>
      </p:sp>
      <p:sp>
        <p:nvSpPr>
          <p:cNvPr id="9" name="text-8">
            <a:extLst xmlns:a="http://schemas.openxmlformats.org/drawingml/2006/main">
              <a:ext uri="{FF2B5EF4-FFF2-40B4-BE49-F238E27FC236}">
                <a16:creationId xmlns:a16="http://schemas.microsoft.com/office/drawing/2014/main" id="{6D908EF9-2A51-4375-A97E-9E1C39B82581}"/>
              </a:ext>
            </a:extLst>
          </p:cNvPr>
          <p:cNvSpPr>
            <a:spLocks xmlns:a="http://schemas.openxmlformats.org/drawingml/2006/main" noGrp="1"/>
          </p:cNvSpPr>
          <p:nvPr/>
        </p:nvSpPr>
        <p:spPr>
          <a:xfrm xmlns:a="http://schemas.openxmlformats.org/drawingml/2006/main">
            <a:off x="4133850" y="4905375"/>
            <a:ext cx="7239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112D32"/>
                </a:solidFill>
                <a:latin typeface="DejaVu Sans"/>
                <a:ea typeface="DejaVu Sans"/>
                <a:cs typeface="DejaVu Sans"/>
              </a:defRPr>
            </a:defPPr>
          </a:lstStyle>
          <a:p xmlns:a="http://schemas.openxmlformats.org/drawingml/2006/main">
            <a:pPr>
              <a:defRPr sz="2025" b="0">
                <a:solidFill>
                  <a:srgbClr val="112D32"/>
                </a:solidFill>
                <a:latin typeface="DejaVu Sans"/>
                <a:ea typeface="DejaVu Sans"/>
                <a:cs typeface="DejaVu Sans"/>
              </a:defRPr>
            </a:pPr>
            <a:r>
              <a:rPr sz="2025" b="0">
                <a:solidFill>
                  <a:srgbClr val="112D32"/>
                </a:solidFill>
                <a:latin typeface="DejaVu Sans"/>
                <a:ea typeface="DejaVu Sans"/>
                <a:cs typeface="DejaVu Sans"/>
              </a:rPr>
              <a:t>Optional incident context with short retention. No live tracking.</a:t>
            </a:r>
          </a:p>
        </p:txBody>
      </p:sp>
    </p:spTree>
    <p:extLst>
      <p:ext uri="{BB962C8B-B14F-4D97-AF65-F5344CB8AC3E}">
        <p14:creationId xmlns:p14="http://schemas.microsoft.com/office/powerpoint/2010/main" val="952941643"/>
      </p:ext>
    </p:extLst>
  </p:cSld>
</p:sld>
</file>

<file path=ppt/slides/slide24.xml><?xml version="1.0" encoding="utf-8"?>
<p:sld xmlns:p="http://schemas.openxmlformats.org/presentationml/2006/main">
  <p:cSld>
    <p:bg>
      <p:bgPr>
        <a:solidFill xmlns:a="http://schemas.openxmlformats.org/drawingml/2006/main">
          <a:srgbClr val="112D32"/>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15661782-DBE5-4447-BE08-262061FEC344}"/>
              </a:ext>
            </a:extLst>
          </p:cNvPr>
          <p:cNvSpPr>
            <a:spLocks xmlns:a="http://schemas.openxmlformats.org/drawingml/2006/main" noGrp="1"/>
          </p:cNvSpPr>
          <p:nvPr/>
        </p:nvSpPr>
        <p:spPr>
          <a:xfrm xmlns:a="http://schemas.openxmlformats.org/drawingml/2006/main">
            <a:off x="685800" y="581025"/>
            <a:ext cx="108204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600" b="1">
                <a:solidFill>
                  <a:srgbClr val="F5F2E9"/>
                </a:solidFill>
                <a:latin typeface="DejaVu Sans"/>
                <a:ea typeface="DejaVu Sans"/>
                <a:cs typeface="DejaVu Sans"/>
              </a:defRPr>
            </a:defPPr>
          </a:lstStyle>
          <a:p xmlns:a="http://schemas.openxmlformats.org/drawingml/2006/main">
            <a:pPr>
              <a:defRPr sz="3600" b="1">
                <a:solidFill>
                  <a:srgbClr val="F5F2E9"/>
                </a:solidFill>
                <a:latin typeface="DejaVu Sans"/>
                <a:ea typeface="DejaVu Sans"/>
                <a:cs typeface="DejaVu Sans"/>
              </a:defRPr>
            </a:pPr>
            <a:r>
              <a:rPr sz="3600" b="1">
                <a:solidFill>
                  <a:srgbClr val="F5F2E9"/>
                </a:solidFill>
                <a:latin typeface="DejaVu Sans"/>
                <a:ea typeface="DejaVu Sans"/>
                <a:cs typeface="DejaVu Sans"/>
              </a:rPr>
              <a:t>Appendix · Release gates</a:t>
            </a:r>
          </a:p>
        </p:txBody>
      </p:sp>
      <p:sp>
        <p:nvSpPr>
          <p:cNvPr id="2" name="text-1">
            <a:extLst xmlns:a="http://schemas.openxmlformats.org/drawingml/2006/main">
              <a:ext uri="{FF2B5EF4-FFF2-40B4-BE49-F238E27FC236}">
                <a16:creationId xmlns:a16="http://schemas.microsoft.com/office/drawing/2014/main" id="{34D41A71-2476-40A3-B3C5-6B715B94A9D6}"/>
              </a:ext>
            </a:extLst>
          </p:cNvPr>
          <p:cNvSpPr>
            <a:spLocks xmlns:a="http://schemas.openxmlformats.org/drawingml/2006/main" noGrp="1"/>
          </p:cNvSpPr>
          <p:nvPr/>
        </p:nvSpPr>
        <p:spPr>
          <a:xfrm xmlns:a="http://schemas.openxmlformats.org/drawingml/2006/main">
            <a:off x="704850" y="1619250"/>
            <a:ext cx="10668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B9F3D4"/>
                </a:solidFill>
                <a:latin typeface="DejaVu Sans"/>
                <a:ea typeface="DejaVu Sans"/>
                <a:cs typeface="DejaVu Sans"/>
              </a:defRPr>
            </a:defPPr>
          </a:lstStyle>
          <a:p xmlns:a="http://schemas.openxmlformats.org/drawingml/2006/main">
            <a:pPr>
              <a:defRPr sz="1725" b="0">
                <a:solidFill>
                  <a:srgbClr val="B9F3D4"/>
                </a:solidFill>
                <a:latin typeface="DejaVu Sans"/>
                <a:ea typeface="DejaVu Sans"/>
                <a:cs typeface="DejaVu Sans"/>
              </a:defRPr>
            </a:pPr>
            <a:r>
              <a:rPr sz="1725" b="0">
                <a:solidFill>
                  <a:srgbClr val="B9F3D4"/>
                </a:solidFill>
                <a:latin typeface="DejaVu Sans"/>
                <a:ea typeface="DejaVu Sans"/>
                <a:cs typeface="DejaVu Sans"/>
              </a:rPr>
              <a:t>A demonstration and a live service require different evidence.</a:t>
            </a:r>
          </a:p>
        </p:txBody>
      </p:sp>
      <p:sp>
        <p:nvSpPr>
          <p:cNvPr id="3" name="text-2">
            <a:extLst xmlns:a="http://schemas.openxmlformats.org/drawingml/2006/main">
              <a:ext uri="{FF2B5EF4-FFF2-40B4-BE49-F238E27FC236}">
                <a16:creationId xmlns:a16="http://schemas.microsoft.com/office/drawing/2014/main" id="{4D50D6B6-2252-4E26-85EA-DD33CF055E58}"/>
              </a:ext>
            </a:extLst>
          </p:cNvPr>
          <p:cNvSpPr>
            <a:spLocks xmlns:a="http://schemas.openxmlformats.org/drawingml/2006/main" noGrp="1"/>
          </p:cNvSpPr>
          <p:nvPr/>
        </p:nvSpPr>
        <p:spPr>
          <a:xfrm xmlns:a="http://schemas.openxmlformats.org/drawingml/2006/main">
            <a:off x="10953750" y="6334125"/>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B9F3D4"/>
                </a:solidFill>
                <a:latin typeface="DejaVu Sans"/>
                <a:ea typeface="DejaVu Sans"/>
                <a:cs typeface="DejaVu Sans"/>
              </a:defRPr>
            </a:defPPr>
          </a:lstStyle>
          <a:p xmlns:a="http://schemas.openxmlformats.org/drawingml/2006/main">
            <a:pPr>
              <a:defRPr sz="1275" b="0">
                <a:solidFill>
                  <a:srgbClr val="B9F3D4"/>
                </a:solidFill>
                <a:latin typeface="DejaVu Sans"/>
                <a:ea typeface="DejaVu Sans"/>
                <a:cs typeface="DejaVu Sans"/>
              </a:defRPr>
            </a:pPr>
            <a:r>
              <a:rPr sz="1275" b="0">
                <a:solidFill>
                  <a:srgbClr val="B9F3D4"/>
                </a:solidFill>
                <a:latin typeface="DejaVu Sans"/>
                <a:ea typeface="DejaVu Sans"/>
                <a:cs typeface="DejaVu Sans"/>
              </a:rPr>
              <a:t>24</a:t>
            </a:r>
          </a:p>
        </p:txBody>
      </p:sp>
      <p:sp>
        <p:nvSpPr>
          <p:cNvPr id="4" name="text-3">
            <a:extLst xmlns:a="http://schemas.openxmlformats.org/drawingml/2006/main">
              <a:ext uri="{FF2B5EF4-FFF2-40B4-BE49-F238E27FC236}">
                <a16:creationId xmlns:a16="http://schemas.microsoft.com/office/drawing/2014/main" id="{3737BFDC-4452-4990-A1DB-F8F334FE609F}"/>
              </a:ext>
            </a:extLst>
          </p:cNvPr>
          <p:cNvSpPr>
            <a:spLocks xmlns:a="http://schemas.openxmlformats.org/drawingml/2006/main" noGrp="1"/>
          </p:cNvSpPr>
          <p:nvPr/>
        </p:nvSpPr>
        <p:spPr>
          <a:xfrm xmlns:a="http://schemas.openxmlformats.org/drawingml/2006/main">
            <a:off x="704850" y="2524125"/>
            <a:ext cx="3143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1">
                <a:solidFill>
                  <a:srgbClr val="B9F3D4"/>
                </a:solidFill>
                <a:latin typeface="DejaVu Sans"/>
                <a:ea typeface="DejaVu Sans"/>
                <a:cs typeface="DejaVu Sans"/>
              </a:defRPr>
            </a:defPPr>
          </a:lstStyle>
          <a:p xmlns:a="http://schemas.openxmlformats.org/drawingml/2006/main">
            <a:pPr>
              <a:defRPr sz="2250" b="1">
                <a:solidFill>
                  <a:srgbClr val="B9F3D4"/>
                </a:solidFill>
                <a:latin typeface="DejaVu Sans"/>
                <a:ea typeface="DejaVu Sans"/>
                <a:cs typeface="DejaVu Sans"/>
              </a:defRPr>
            </a:pPr>
            <a:r>
              <a:rPr sz="2250" b="1">
                <a:solidFill>
                  <a:srgbClr val="B9F3D4"/>
                </a:solidFill>
                <a:latin typeface="DejaVu Sans"/>
                <a:ea typeface="DejaVu Sans"/>
                <a:cs typeface="DejaVu Sans"/>
              </a:rPr>
              <a:t>Demo</a:t>
            </a:r>
          </a:p>
        </p:txBody>
      </p:sp>
      <p:sp>
        <p:nvSpPr>
          <p:cNvPr id="5" name="text-4">
            <a:extLst xmlns:a="http://schemas.openxmlformats.org/drawingml/2006/main">
              <a:ext uri="{FF2B5EF4-FFF2-40B4-BE49-F238E27FC236}">
                <a16:creationId xmlns:a16="http://schemas.microsoft.com/office/drawing/2014/main" id="{B8E72B68-062E-46BF-93F2-5C13FB668965}"/>
              </a:ext>
            </a:extLst>
          </p:cNvPr>
          <p:cNvSpPr>
            <a:spLocks xmlns:a="http://schemas.openxmlformats.org/drawingml/2006/main" noGrp="1"/>
          </p:cNvSpPr>
          <p:nvPr/>
        </p:nvSpPr>
        <p:spPr>
          <a:xfrm xmlns:a="http://schemas.openxmlformats.org/drawingml/2006/main">
            <a:off x="4133850" y="2524125"/>
            <a:ext cx="7239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F5F2E9"/>
                </a:solidFill>
                <a:latin typeface="DejaVu Sans"/>
                <a:ea typeface="DejaVu Sans"/>
                <a:cs typeface="DejaVu Sans"/>
              </a:defRPr>
            </a:defPPr>
          </a:lstStyle>
          <a:p xmlns:a="http://schemas.openxmlformats.org/drawingml/2006/main">
            <a:pPr>
              <a:defRPr sz="2025" b="0">
                <a:solidFill>
                  <a:srgbClr val="F5F2E9"/>
                </a:solidFill>
                <a:latin typeface="DejaVu Sans"/>
                <a:ea typeface="DejaVu Sans"/>
                <a:cs typeface="DejaVu Sans"/>
              </a:defRPr>
            </a:pPr>
            <a:r>
              <a:rPr sz="2025" b="0">
                <a:solidFill>
                  <a:srgbClr val="F5F2E9"/>
                </a:solidFill>
                <a:latin typeface="DejaVu Sans"/>
                <a:ea typeface="DejaVu Sans"/>
                <a:cs typeface="DejaVu Sans"/>
              </a:rPr>
              <a:t>Safe end-to-end flow. Any simulation visibly labeled.</a:t>
            </a:r>
          </a:p>
        </p:txBody>
      </p:sp>
      <p:sp>
        <p:nvSpPr>
          <p:cNvPr id="6" name="text-5">
            <a:extLst xmlns:a="http://schemas.openxmlformats.org/drawingml/2006/main">
              <a:ext uri="{FF2B5EF4-FFF2-40B4-BE49-F238E27FC236}">
                <a16:creationId xmlns:a16="http://schemas.microsoft.com/office/drawing/2014/main" id="{7AE522EB-0114-440D-BF54-831134A41F82}"/>
              </a:ext>
            </a:extLst>
          </p:cNvPr>
          <p:cNvSpPr>
            <a:spLocks xmlns:a="http://schemas.openxmlformats.org/drawingml/2006/main" noGrp="1"/>
          </p:cNvSpPr>
          <p:nvPr/>
        </p:nvSpPr>
        <p:spPr>
          <a:xfrm xmlns:a="http://schemas.openxmlformats.org/drawingml/2006/main">
            <a:off x="704850" y="3714750"/>
            <a:ext cx="3143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1">
                <a:solidFill>
                  <a:srgbClr val="B9F3D4"/>
                </a:solidFill>
                <a:latin typeface="DejaVu Sans"/>
                <a:ea typeface="DejaVu Sans"/>
                <a:cs typeface="DejaVu Sans"/>
              </a:defRPr>
            </a:defPPr>
          </a:lstStyle>
          <a:p xmlns:a="http://schemas.openxmlformats.org/drawingml/2006/main">
            <a:pPr>
              <a:defRPr sz="2250" b="1">
                <a:solidFill>
                  <a:srgbClr val="B9F3D4"/>
                </a:solidFill>
                <a:latin typeface="DejaVu Sans"/>
                <a:ea typeface="DejaVu Sans"/>
                <a:cs typeface="DejaVu Sans"/>
              </a:defRPr>
            </a:pPr>
            <a:r>
              <a:rPr sz="2250" b="1">
                <a:solidFill>
                  <a:srgbClr val="B9F3D4"/>
                </a:solidFill>
                <a:latin typeface="DejaVu Sans"/>
                <a:ea typeface="DejaVu Sans"/>
                <a:cs typeface="DejaVu Sans"/>
              </a:rPr>
              <a:t>Phase A pilot</a:t>
            </a:r>
          </a:p>
        </p:txBody>
      </p:sp>
      <p:sp>
        <p:nvSpPr>
          <p:cNvPr id="7" name="text-6">
            <a:extLst xmlns:a="http://schemas.openxmlformats.org/drawingml/2006/main">
              <a:ext uri="{FF2B5EF4-FFF2-40B4-BE49-F238E27FC236}">
                <a16:creationId xmlns:a16="http://schemas.microsoft.com/office/drawing/2014/main" id="{9CDA538C-0459-4AD6-8C59-A81DB7BB889A}"/>
              </a:ext>
            </a:extLst>
          </p:cNvPr>
          <p:cNvSpPr>
            <a:spLocks xmlns:a="http://schemas.openxmlformats.org/drawingml/2006/main" noGrp="1"/>
          </p:cNvSpPr>
          <p:nvPr/>
        </p:nvSpPr>
        <p:spPr>
          <a:xfrm xmlns:a="http://schemas.openxmlformats.org/drawingml/2006/main">
            <a:off x="4133850" y="3714750"/>
            <a:ext cx="7239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F5F2E9"/>
                </a:solidFill>
                <a:latin typeface="DejaVu Sans"/>
                <a:ea typeface="DejaVu Sans"/>
                <a:cs typeface="DejaVu Sans"/>
              </a:defRPr>
            </a:defPPr>
          </a:lstStyle>
          <a:p xmlns:a="http://schemas.openxmlformats.org/drawingml/2006/main">
            <a:pPr>
              <a:defRPr sz="2025" b="0">
                <a:solidFill>
                  <a:srgbClr val="F5F2E9"/>
                </a:solidFill>
                <a:latin typeface="DejaVu Sans"/>
                <a:ea typeface="DejaVu Sans"/>
                <a:cs typeface="DejaVu Sans"/>
              </a:defRPr>
            </a:pPr>
            <a:r>
              <a:rPr sz="2025" b="0">
                <a:solidFill>
                  <a:srgbClr val="F5F2E9"/>
                </a:solidFill>
                <a:latin typeface="DejaVu Sans"/>
                <a:ea typeface="DejaVu Sans"/>
                <a:cs typeface="DejaVu Sans"/>
              </a:rPr>
              <a:t>Approved routes, offline-owner test, privacy and restore checks.</a:t>
            </a:r>
          </a:p>
        </p:txBody>
      </p:sp>
      <p:sp>
        <p:nvSpPr>
          <p:cNvPr id="8" name="text-7">
            <a:extLst xmlns:a="http://schemas.openxmlformats.org/drawingml/2006/main">
              <a:ext uri="{FF2B5EF4-FFF2-40B4-BE49-F238E27FC236}">
                <a16:creationId xmlns:a16="http://schemas.microsoft.com/office/drawing/2014/main" id="{D25B7F03-88C2-4ADC-8586-15E22EE6DEBE}"/>
              </a:ext>
            </a:extLst>
          </p:cNvPr>
          <p:cNvSpPr>
            <a:spLocks xmlns:a="http://schemas.openxmlformats.org/drawingml/2006/main" noGrp="1"/>
          </p:cNvSpPr>
          <p:nvPr/>
        </p:nvSpPr>
        <p:spPr>
          <a:xfrm xmlns:a="http://schemas.openxmlformats.org/drawingml/2006/main">
            <a:off x="704850" y="4905375"/>
            <a:ext cx="3143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1">
                <a:solidFill>
                  <a:srgbClr val="B9F3D4"/>
                </a:solidFill>
                <a:latin typeface="DejaVu Sans"/>
                <a:ea typeface="DejaVu Sans"/>
                <a:cs typeface="DejaVu Sans"/>
              </a:defRPr>
            </a:defPPr>
          </a:lstStyle>
          <a:p xmlns:a="http://schemas.openxmlformats.org/drawingml/2006/main">
            <a:pPr>
              <a:defRPr sz="2250" b="1">
                <a:solidFill>
                  <a:srgbClr val="B9F3D4"/>
                </a:solidFill>
                <a:latin typeface="DejaVu Sans"/>
                <a:ea typeface="DejaVu Sans"/>
                <a:cs typeface="DejaVu Sans"/>
              </a:defRPr>
            </a:pPr>
            <a:r>
              <a:rPr sz="2250" b="1">
                <a:solidFill>
                  <a:srgbClr val="B9F3D4"/>
                </a:solidFill>
                <a:latin typeface="DejaVu Sans"/>
                <a:ea typeface="DejaVu Sans"/>
                <a:cs typeface="DejaVu Sans"/>
              </a:rPr>
              <a:t>Phase B pilot</a:t>
            </a:r>
          </a:p>
        </p:txBody>
      </p:sp>
      <p:sp>
        <p:nvSpPr>
          <p:cNvPr id="9" name="text-8">
            <a:extLst xmlns:a="http://schemas.openxmlformats.org/drawingml/2006/main">
              <a:ext uri="{FF2B5EF4-FFF2-40B4-BE49-F238E27FC236}">
                <a16:creationId xmlns:a16="http://schemas.microsoft.com/office/drawing/2014/main" id="{C64F778B-4224-461D-9002-DD21887CA376}"/>
              </a:ext>
            </a:extLst>
          </p:cNvPr>
          <p:cNvSpPr>
            <a:spLocks xmlns:a="http://schemas.openxmlformats.org/drawingml/2006/main" noGrp="1"/>
          </p:cNvSpPr>
          <p:nvPr/>
        </p:nvSpPr>
        <p:spPr>
          <a:xfrm xmlns:a="http://schemas.openxmlformats.org/drawingml/2006/main">
            <a:off x="4133850" y="4905375"/>
            <a:ext cx="7239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F5F2E9"/>
                </a:solidFill>
                <a:latin typeface="DejaVu Sans"/>
                <a:ea typeface="DejaVu Sans"/>
                <a:cs typeface="DejaVu Sans"/>
              </a:defRPr>
            </a:defPPr>
          </a:lstStyle>
          <a:p xmlns:a="http://schemas.openxmlformats.org/drawingml/2006/main">
            <a:pPr>
              <a:defRPr sz="2025" b="0">
                <a:solidFill>
                  <a:srgbClr val="F5F2E9"/>
                </a:solidFill>
                <a:latin typeface="DejaVu Sans"/>
                <a:ea typeface="DejaVu Sans"/>
                <a:cs typeface="DejaVu Sans"/>
              </a:defRPr>
            </a:pPr>
            <a:r>
              <a:rPr sz="2025" b="0">
                <a:solidFill>
                  <a:srgbClr val="F5F2E9"/>
                </a:solidFill>
                <a:latin typeface="DejaVu Sans"/>
                <a:ea typeface="DejaVu Sans"/>
                <a:cs typeface="DejaVu Sans"/>
              </a:rPr>
              <a:t>Carrier permission, real handset masking and cost controls.</a:t>
            </a:r>
          </a:p>
        </p:txBody>
      </p:sp>
    </p:spTree>
    <p:extLst>
      <p:ext uri="{BB962C8B-B14F-4D97-AF65-F5344CB8AC3E}">
        <p14:creationId xmlns:p14="http://schemas.microsoft.com/office/powerpoint/2010/main" val="139400226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2026-10-15T10:25:59.5400000Z</dcterms:created>
  <dcterms:modified xsi:type="dcterms:W3CDTF">2026-10-15T10:25:59.5400000Z</dcterms:modified>
</coreProperties>
</file>